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1" r:id="rId2"/>
    <p:sldId id="2575" r:id="rId3"/>
    <p:sldId id="2576" r:id="rId4"/>
    <p:sldId id="2577" r:id="rId5"/>
    <p:sldId id="2578" r:id="rId6"/>
    <p:sldId id="2567" r:id="rId7"/>
    <p:sldId id="2580" r:id="rId8"/>
    <p:sldId id="2569" r:id="rId9"/>
    <p:sldId id="2570" r:id="rId10"/>
    <p:sldId id="2571" r:id="rId11"/>
    <p:sldId id="2572" r:id="rId12"/>
    <p:sldId id="2573" r:id="rId13"/>
    <p:sldId id="25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kSmart: Pametno rješenje za privatni parking u urbanim sredinama" id="{95963474-14E3-48AD-9A49-3F1DBFBA2EE9}">
          <p14:sldIdLst>
            <p14:sldId id="2581"/>
            <p14:sldId id="2575"/>
            <p14:sldId id="2576"/>
            <p14:sldId id="2577"/>
            <p14:sldId id="2578"/>
            <p14:sldId id="2567"/>
            <p14:sldId id="2580"/>
            <p14:sldId id="2569"/>
            <p14:sldId id="2570"/>
            <p14:sldId id="2571"/>
            <p14:sldId id="2572"/>
            <p14:sldId id="2573"/>
            <p14:sldId id="2579"/>
          </p14:sldIdLst>
        </p14:section>
        <p14:section name="Zaključak" id="{6B6734CF-6559-49DF-8E51-5BB17DCF1BB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>
        <p:scale>
          <a:sx n="60" d="100"/>
          <a:sy n="60" d="100"/>
        </p:scale>
        <p:origin x="-110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9D393D-FA1A-434B-B85D-034C4FB09D9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888FB1-3954-43AC-8E83-DC76E839C1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 err="1"/>
            <a:t>Pametno</a:t>
          </a:r>
          <a:r>
            <a:rPr lang="en-US" b="0" i="0" dirty="0"/>
            <a:t> </a:t>
          </a:r>
          <a:r>
            <a:rPr lang="en-US" b="0" i="0" dirty="0" err="1"/>
            <a:t>rješenje</a:t>
          </a:r>
          <a:r>
            <a:rPr lang="en-US" b="0" i="0" dirty="0"/>
            <a:t> za </a:t>
          </a:r>
          <a:r>
            <a:rPr lang="en-US" b="0" i="0" dirty="0" err="1"/>
            <a:t>parkiranje</a:t>
          </a:r>
          <a:endParaRPr lang="en-US" dirty="0"/>
        </a:p>
      </dgm:t>
    </dgm:pt>
    <dgm:pt modelId="{967B62F3-60D9-436A-8521-805DD37088C5}" type="parTrans" cxnId="{25F4360D-5831-4417-A11E-8CD5B1051F36}">
      <dgm:prSet/>
      <dgm:spPr/>
      <dgm:t>
        <a:bodyPr/>
        <a:lstStyle/>
        <a:p>
          <a:endParaRPr lang="en-US"/>
        </a:p>
      </dgm:t>
    </dgm:pt>
    <dgm:pt modelId="{D79F1DFB-08D6-43DB-87F8-E9DB24CDA9D4}" type="sibTrans" cxnId="{25F4360D-5831-4417-A11E-8CD5B1051F3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2C143AD-C4A3-42EF-BA99-C9E7D89F1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ParkSmart</a:t>
          </a:r>
          <a:r>
            <a:rPr lang="en-US" b="0" i="0" dirty="0"/>
            <a:t> </a:t>
          </a:r>
          <a:r>
            <a:rPr lang="en-US" b="0" i="0" dirty="0" err="1"/>
            <a:t>koristi</a:t>
          </a:r>
          <a:r>
            <a:rPr lang="en-US" b="0" i="0" dirty="0"/>
            <a:t> </a:t>
          </a:r>
          <a:r>
            <a:rPr lang="en-US" b="0" i="0" dirty="0" err="1"/>
            <a:t>inovativne</a:t>
          </a:r>
          <a:r>
            <a:rPr lang="en-US" b="0" i="0" dirty="0"/>
            <a:t> </a:t>
          </a:r>
          <a:r>
            <a:rPr lang="en-US" b="0" i="0" dirty="0" err="1"/>
            <a:t>tehnologije</a:t>
          </a:r>
          <a:r>
            <a:rPr lang="en-US" b="0" i="0" dirty="0"/>
            <a:t> </a:t>
          </a:r>
          <a:r>
            <a:rPr lang="en-US" b="0" i="0" dirty="0" err="1"/>
            <a:t>kako</a:t>
          </a:r>
          <a:r>
            <a:rPr lang="en-US" b="0" i="0" dirty="0"/>
            <a:t> bi </a:t>
          </a:r>
          <a:r>
            <a:rPr lang="en-US" b="0" i="0" dirty="0" err="1"/>
            <a:t>olakšao</a:t>
          </a:r>
          <a:r>
            <a:rPr lang="en-US" b="0" i="0" dirty="0"/>
            <a:t> </a:t>
          </a:r>
          <a:r>
            <a:rPr lang="en-US" b="0" i="0" dirty="0" err="1"/>
            <a:t>pronalaženje</a:t>
          </a:r>
          <a:r>
            <a:rPr lang="en-US" b="0" i="0" dirty="0"/>
            <a:t> </a:t>
          </a:r>
          <a:r>
            <a:rPr lang="en-US" b="0" i="0" dirty="0" err="1"/>
            <a:t>parkirnog</a:t>
          </a:r>
          <a:r>
            <a:rPr lang="en-US" b="0" i="0" dirty="0"/>
            <a:t> </a:t>
          </a:r>
          <a:r>
            <a:rPr lang="en-US" b="0" i="0" dirty="0" err="1"/>
            <a:t>mjesta</a:t>
          </a:r>
          <a:r>
            <a:rPr lang="en-US" b="0" i="0" dirty="0"/>
            <a:t> u </a:t>
          </a:r>
          <a:r>
            <a:rPr lang="en-US" b="0" i="0" dirty="0" err="1"/>
            <a:t>gradu</a:t>
          </a:r>
          <a:r>
            <a:rPr lang="en-US" b="0" i="0" dirty="0"/>
            <a:t>.</a:t>
          </a:r>
          <a:endParaRPr lang="en-US" dirty="0"/>
        </a:p>
      </dgm:t>
    </dgm:pt>
    <dgm:pt modelId="{1270D4FA-C14A-4766-9C25-95CAB89B4B30}" type="parTrans" cxnId="{917BD594-061E-40C6-859B-8936231B87D2}">
      <dgm:prSet/>
      <dgm:spPr/>
      <dgm:t>
        <a:bodyPr/>
        <a:lstStyle/>
        <a:p>
          <a:endParaRPr lang="en-US"/>
        </a:p>
      </dgm:t>
    </dgm:pt>
    <dgm:pt modelId="{5A64B28F-5E5D-4CF8-91FC-DF906E2F3E68}" type="sibTrans" cxnId="{917BD594-061E-40C6-859B-8936231B87D2}">
      <dgm:prSet/>
      <dgm:spPr/>
      <dgm:t>
        <a:bodyPr/>
        <a:lstStyle/>
        <a:p>
          <a:endParaRPr lang="en-US"/>
        </a:p>
      </dgm:t>
    </dgm:pt>
    <dgm:pt modelId="{927C8564-9057-4413-9240-BE7E1D263F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 err="1"/>
            <a:t>Održivi</a:t>
          </a:r>
          <a:r>
            <a:rPr lang="en-US" b="0" i="0" dirty="0"/>
            <a:t> </a:t>
          </a:r>
          <a:r>
            <a:rPr lang="en-US" b="0" i="0" dirty="0" err="1"/>
            <a:t>pristup</a:t>
          </a:r>
          <a:endParaRPr lang="en-US" dirty="0"/>
        </a:p>
      </dgm:t>
    </dgm:pt>
    <dgm:pt modelId="{81FCC07E-9E2E-41EB-9FCE-817310F89CE7}" type="parTrans" cxnId="{F4BDBC7D-6157-4E4F-ACE1-1F240DC0C66C}">
      <dgm:prSet/>
      <dgm:spPr/>
      <dgm:t>
        <a:bodyPr/>
        <a:lstStyle/>
        <a:p>
          <a:endParaRPr lang="en-US"/>
        </a:p>
      </dgm:t>
    </dgm:pt>
    <dgm:pt modelId="{5B81B10F-0A94-4718-8D29-8003D26D4A07}" type="sibTrans" cxnId="{F4BDBC7D-6157-4E4F-ACE1-1F240DC0C66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4DD72293-7000-4B3A-A0BF-F814409EA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Projekat</a:t>
          </a:r>
          <a:r>
            <a:rPr lang="en-US" b="0" i="0" dirty="0"/>
            <a:t> </a:t>
          </a:r>
          <a:r>
            <a:rPr lang="en-US" b="0" i="0" dirty="0" err="1"/>
            <a:t>doprinosi</a:t>
          </a:r>
          <a:r>
            <a:rPr lang="en-US" b="0" i="0" dirty="0"/>
            <a:t> </a:t>
          </a:r>
          <a:r>
            <a:rPr lang="en-US" b="0" i="0" dirty="0" err="1"/>
            <a:t>zdravijem</a:t>
          </a:r>
          <a:r>
            <a:rPr lang="en-US" b="0" i="0" dirty="0"/>
            <a:t> </a:t>
          </a:r>
          <a:r>
            <a:rPr lang="en-US" b="0" i="0" dirty="0" err="1"/>
            <a:t>gradskom</a:t>
          </a:r>
          <a:r>
            <a:rPr lang="en-US" b="0" i="0" dirty="0"/>
            <a:t> </a:t>
          </a:r>
          <a:r>
            <a:rPr lang="en-US" b="0" i="0" dirty="0" err="1"/>
            <a:t>okruženju</a:t>
          </a:r>
          <a:r>
            <a:rPr lang="en-US" b="0" i="0" dirty="0"/>
            <a:t> </a:t>
          </a:r>
          <a:r>
            <a:rPr lang="en-US" b="0" i="0" dirty="0" err="1"/>
            <a:t>smanjenjem</a:t>
          </a:r>
          <a:r>
            <a:rPr lang="en-US" b="0" i="0" dirty="0"/>
            <a:t> </a:t>
          </a:r>
          <a:r>
            <a:rPr lang="en-US" b="0" i="0" dirty="0" err="1"/>
            <a:t>vremena</a:t>
          </a:r>
          <a:r>
            <a:rPr lang="en-US" b="0" i="0" dirty="0"/>
            <a:t> </a:t>
          </a:r>
          <a:r>
            <a:rPr lang="en-US" b="0" i="0" dirty="0" err="1"/>
            <a:t>traženja</a:t>
          </a:r>
          <a:r>
            <a:rPr lang="en-US" b="0" i="0" dirty="0"/>
            <a:t> </a:t>
          </a:r>
          <a:r>
            <a:rPr lang="en-US" b="0" i="0" dirty="0" err="1"/>
            <a:t>parkinga</a:t>
          </a:r>
          <a:r>
            <a:rPr lang="en-US" b="0" i="0" dirty="0"/>
            <a:t> </a:t>
          </a:r>
          <a:r>
            <a:rPr lang="en-US" b="0" i="0" dirty="0" err="1"/>
            <a:t>i</a:t>
          </a:r>
          <a:r>
            <a:rPr lang="en-US" b="0" i="0" dirty="0"/>
            <a:t> </a:t>
          </a:r>
          <a:r>
            <a:rPr lang="en-US" b="0" i="0" dirty="0" err="1"/>
            <a:t>zagađenja</a:t>
          </a:r>
          <a:r>
            <a:rPr lang="en-US" b="0" i="0" dirty="0"/>
            <a:t>.</a:t>
          </a:r>
          <a:endParaRPr lang="en-US" dirty="0"/>
        </a:p>
      </dgm:t>
    </dgm:pt>
    <dgm:pt modelId="{AC1CE5C2-B69E-42ED-9230-765F971903AD}" type="parTrans" cxnId="{89A6DC36-144B-412F-9328-8FEFDB8D421F}">
      <dgm:prSet/>
      <dgm:spPr/>
      <dgm:t>
        <a:bodyPr/>
        <a:lstStyle/>
        <a:p>
          <a:endParaRPr lang="en-US"/>
        </a:p>
      </dgm:t>
    </dgm:pt>
    <dgm:pt modelId="{2CCF137A-25BF-4F7D-8035-2186BBA06A66}" type="sibTrans" cxnId="{89A6DC36-144B-412F-9328-8FEFDB8D421F}">
      <dgm:prSet/>
      <dgm:spPr/>
      <dgm:t>
        <a:bodyPr/>
        <a:lstStyle/>
        <a:p>
          <a:endParaRPr lang="en-US"/>
        </a:p>
      </dgm:t>
    </dgm:pt>
    <dgm:pt modelId="{6E6CAD17-2199-4C58-851E-E3A98C7F264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 err="1"/>
            <a:t>Svijetla</a:t>
          </a:r>
          <a:r>
            <a:rPr lang="en-US" b="0" i="0" dirty="0"/>
            <a:t> </a:t>
          </a:r>
          <a:r>
            <a:rPr lang="en-US" b="0" i="0" dirty="0" err="1"/>
            <a:t>budućnost</a:t>
          </a:r>
          <a:endParaRPr lang="en-US" dirty="0"/>
        </a:p>
      </dgm:t>
    </dgm:pt>
    <dgm:pt modelId="{53543DC7-0056-4CC7-9AC7-2836EB81AB33}" type="parTrans" cxnId="{12C49368-8E89-47C9-A6E9-9489B40712A6}">
      <dgm:prSet/>
      <dgm:spPr/>
      <dgm:t>
        <a:bodyPr/>
        <a:lstStyle/>
        <a:p>
          <a:endParaRPr lang="en-US"/>
        </a:p>
      </dgm:t>
    </dgm:pt>
    <dgm:pt modelId="{E804F8C6-1D95-4BBF-B2E5-A02CB4053F52}" type="sibTrans" cxnId="{12C49368-8E89-47C9-A6E9-9489B40712A6}">
      <dgm:prSet/>
      <dgm:spPr/>
      <dgm:t>
        <a:bodyPr/>
        <a:lstStyle/>
        <a:p>
          <a:endParaRPr lang="en-US"/>
        </a:p>
      </dgm:t>
    </dgm:pt>
    <dgm:pt modelId="{FB759329-E79D-44D4-8374-188B16BFB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Predani</a:t>
          </a:r>
          <a:r>
            <a:rPr lang="en-US" b="0" i="0" dirty="0"/>
            <a:t> </a:t>
          </a:r>
          <a:r>
            <a:rPr lang="en-US" b="0" i="0" dirty="0" err="1"/>
            <a:t>tim</a:t>
          </a:r>
          <a:r>
            <a:rPr lang="en-US" b="0" i="0" dirty="0"/>
            <a:t> </a:t>
          </a:r>
          <a:r>
            <a:rPr lang="en-US" b="0" i="0" dirty="0" err="1"/>
            <a:t>i</a:t>
          </a:r>
          <a:r>
            <a:rPr lang="en-US" b="0" i="0" dirty="0"/>
            <a:t> </a:t>
          </a:r>
          <a:r>
            <a:rPr lang="en-US" b="0" i="0" dirty="0" err="1"/>
            <a:t>inovacije</a:t>
          </a:r>
          <a:r>
            <a:rPr lang="en-US" b="0" i="0" dirty="0"/>
            <a:t> </a:t>
          </a:r>
          <a:r>
            <a:rPr lang="en-US" b="0" i="0" dirty="0" err="1"/>
            <a:t>vode</a:t>
          </a:r>
          <a:r>
            <a:rPr lang="en-US" b="0" i="0" dirty="0"/>
            <a:t> ka </a:t>
          </a:r>
          <a:r>
            <a:rPr lang="en-US" b="0" i="0" dirty="0" err="1"/>
            <a:t>jednostavnijem</a:t>
          </a:r>
          <a:r>
            <a:rPr lang="en-US" b="0" i="0" dirty="0"/>
            <a:t> </a:t>
          </a:r>
          <a:r>
            <a:rPr lang="en-US" b="0" i="0" dirty="0" err="1"/>
            <a:t>i</a:t>
          </a:r>
          <a:r>
            <a:rPr lang="en-US" b="0" i="0" dirty="0"/>
            <a:t> </a:t>
          </a:r>
          <a:r>
            <a:rPr lang="en-US" b="0" i="0" dirty="0" err="1"/>
            <a:t>efikasnijem</a:t>
          </a:r>
          <a:r>
            <a:rPr lang="en-US" b="0" i="0" dirty="0"/>
            <a:t> </a:t>
          </a:r>
          <a:r>
            <a:rPr lang="en-US" b="0" i="0" dirty="0" err="1"/>
            <a:t>parkiranju</a:t>
          </a:r>
          <a:r>
            <a:rPr lang="en-US" b="0" i="0" dirty="0"/>
            <a:t> za </a:t>
          </a:r>
          <a:r>
            <a:rPr lang="en-US" b="0" i="0" dirty="0" err="1"/>
            <a:t>sve</a:t>
          </a:r>
          <a:r>
            <a:rPr lang="en-US" b="0" i="0" dirty="0"/>
            <a:t> </a:t>
          </a:r>
          <a:r>
            <a:rPr lang="en-US" b="0" i="0" dirty="0" err="1"/>
            <a:t>korisnike</a:t>
          </a:r>
          <a:r>
            <a:rPr lang="en-US" b="0" i="0" dirty="0"/>
            <a:t>.</a:t>
          </a:r>
          <a:endParaRPr lang="en-US" dirty="0"/>
        </a:p>
      </dgm:t>
    </dgm:pt>
    <dgm:pt modelId="{89C2715F-521C-4817-BE08-967C5E5AC7E7}" type="parTrans" cxnId="{8E6A4BEE-4986-4E9A-8BDE-02310006A3C1}">
      <dgm:prSet/>
      <dgm:spPr/>
      <dgm:t>
        <a:bodyPr/>
        <a:lstStyle/>
        <a:p>
          <a:endParaRPr lang="en-US"/>
        </a:p>
      </dgm:t>
    </dgm:pt>
    <dgm:pt modelId="{AD9178ED-F0B6-4A68-AC45-3A0038BA60F9}" type="sibTrans" cxnId="{8E6A4BEE-4986-4E9A-8BDE-02310006A3C1}">
      <dgm:prSet/>
      <dgm:spPr/>
      <dgm:t>
        <a:bodyPr/>
        <a:lstStyle/>
        <a:p>
          <a:endParaRPr lang="en-US"/>
        </a:p>
      </dgm:t>
    </dgm:pt>
    <dgm:pt modelId="{CEBF336A-4591-4848-AF2C-B27335F77F0C}" type="pres">
      <dgm:prSet presAssocID="{FD9D393D-FA1A-434B-B85D-034C4FB09D93}" presName="Name0" presStyleCnt="0">
        <dgm:presLayoutVars>
          <dgm:dir/>
          <dgm:resizeHandles val="exact"/>
        </dgm:presLayoutVars>
      </dgm:prSet>
      <dgm:spPr/>
    </dgm:pt>
    <dgm:pt modelId="{153902A5-CDEA-4444-9D4B-56DA80E520FE}" type="pres">
      <dgm:prSet presAssocID="{71888FB1-3954-43AC-8E83-DC76E839C140}" presName="compNode" presStyleCnt="0"/>
      <dgm:spPr/>
    </dgm:pt>
    <dgm:pt modelId="{3EF11070-F2B4-4641-9F8F-C64E48651C2B}" type="pres">
      <dgm:prSet presAssocID="{71888FB1-3954-43AC-8E83-DC76E839C140}" presName="pictRect" presStyleLbl="revTx" presStyleIdx="0" presStyleCnt="6">
        <dgm:presLayoutVars>
          <dgm:chMax val="0"/>
          <dgm:bulletEnabled/>
        </dgm:presLayoutVars>
      </dgm:prSet>
      <dgm:spPr/>
    </dgm:pt>
    <dgm:pt modelId="{83055AEC-6C6D-44B0-9DD0-20B3BE85D913}" type="pres">
      <dgm:prSet presAssocID="{71888FB1-3954-43AC-8E83-DC76E839C140}" presName="textRect" presStyleLbl="revTx" presStyleIdx="1" presStyleCnt="6">
        <dgm:presLayoutVars>
          <dgm:bulletEnabled/>
        </dgm:presLayoutVars>
      </dgm:prSet>
      <dgm:spPr/>
    </dgm:pt>
    <dgm:pt modelId="{34A40FB2-4F85-4CFA-B2F1-797758BAD0B3}" type="pres">
      <dgm:prSet presAssocID="{D79F1DFB-08D6-43DB-87F8-E9DB24CDA9D4}" presName="sibTrans" presStyleLbl="sibTrans2D1" presStyleIdx="0" presStyleCnt="0"/>
      <dgm:spPr/>
    </dgm:pt>
    <dgm:pt modelId="{A9429F67-CD45-4795-A2C3-FDAAAC0114B2}" type="pres">
      <dgm:prSet presAssocID="{927C8564-9057-4413-9240-BE7E1D263F5C}" presName="compNode" presStyleCnt="0"/>
      <dgm:spPr/>
    </dgm:pt>
    <dgm:pt modelId="{587B47C9-1B35-43EC-BEF8-A3C61EC588DC}" type="pres">
      <dgm:prSet presAssocID="{927C8564-9057-4413-9240-BE7E1D263F5C}" presName="pictRect" presStyleLbl="revTx" presStyleIdx="2" presStyleCnt="6">
        <dgm:presLayoutVars>
          <dgm:chMax val="0"/>
          <dgm:bulletEnabled/>
        </dgm:presLayoutVars>
      </dgm:prSet>
      <dgm:spPr/>
    </dgm:pt>
    <dgm:pt modelId="{9FADAB1D-5BB9-43D7-AD38-86A95952D59E}" type="pres">
      <dgm:prSet presAssocID="{927C8564-9057-4413-9240-BE7E1D263F5C}" presName="textRect" presStyleLbl="revTx" presStyleIdx="3" presStyleCnt="6">
        <dgm:presLayoutVars>
          <dgm:bulletEnabled/>
        </dgm:presLayoutVars>
      </dgm:prSet>
      <dgm:spPr/>
    </dgm:pt>
    <dgm:pt modelId="{175B0805-9C18-4857-BAC7-1338E233FDA9}" type="pres">
      <dgm:prSet presAssocID="{5B81B10F-0A94-4718-8D29-8003D26D4A07}" presName="sibTrans" presStyleLbl="sibTrans2D1" presStyleIdx="0" presStyleCnt="0"/>
      <dgm:spPr/>
    </dgm:pt>
    <dgm:pt modelId="{C16BCD27-0033-4E0F-9762-8A8C8B5B33F5}" type="pres">
      <dgm:prSet presAssocID="{6E6CAD17-2199-4C58-851E-E3A98C7F264B}" presName="compNode" presStyleCnt="0"/>
      <dgm:spPr/>
    </dgm:pt>
    <dgm:pt modelId="{E477B459-2874-4DD8-985C-5A85E271EA8F}" type="pres">
      <dgm:prSet presAssocID="{6E6CAD17-2199-4C58-851E-E3A98C7F264B}" presName="pictRect" presStyleLbl="revTx" presStyleIdx="4" presStyleCnt="6">
        <dgm:presLayoutVars>
          <dgm:chMax val="0"/>
          <dgm:bulletEnabled/>
        </dgm:presLayoutVars>
      </dgm:prSet>
      <dgm:spPr/>
    </dgm:pt>
    <dgm:pt modelId="{9400846F-070B-4C71-AAE6-8590EBDE9258}" type="pres">
      <dgm:prSet presAssocID="{6E6CAD17-2199-4C58-851E-E3A98C7F264B}" presName="textRect" presStyleLbl="revTx" presStyleIdx="5" presStyleCnt="6">
        <dgm:presLayoutVars>
          <dgm:bulletEnabled/>
        </dgm:presLayoutVars>
      </dgm:prSet>
      <dgm:spPr/>
    </dgm:pt>
  </dgm:ptLst>
  <dgm:cxnLst>
    <dgm:cxn modelId="{25F4360D-5831-4417-A11E-8CD5B1051F36}" srcId="{FD9D393D-FA1A-434B-B85D-034C4FB09D93}" destId="{71888FB1-3954-43AC-8E83-DC76E839C140}" srcOrd="0" destOrd="0" parTransId="{967B62F3-60D9-436A-8521-805DD37088C5}" sibTransId="{D79F1DFB-08D6-43DB-87F8-E9DB24CDA9D4}"/>
    <dgm:cxn modelId="{5E2B6417-6942-4764-8686-BE5EF826BDD0}" type="presOf" srcId="{4DD72293-7000-4B3A-A0BF-F814409EAA47}" destId="{9FADAB1D-5BB9-43D7-AD38-86A95952D59E}" srcOrd="0" destOrd="0" presId="urn:microsoft.com/office/officeart/2024/3/layout/hArchList1"/>
    <dgm:cxn modelId="{86D02B36-450B-42C2-B665-8FA5763C18F8}" type="presOf" srcId="{FB759329-E79D-44D4-8374-188B16BFBD39}" destId="{9400846F-070B-4C71-AAE6-8590EBDE9258}" srcOrd="0" destOrd="0" presId="urn:microsoft.com/office/officeart/2024/3/layout/hArchList1"/>
    <dgm:cxn modelId="{89A6DC36-144B-412F-9328-8FEFDB8D421F}" srcId="{927C8564-9057-4413-9240-BE7E1D263F5C}" destId="{4DD72293-7000-4B3A-A0BF-F814409EAA47}" srcOrd="0" destOrd="0" parTransId="{AC1CE5C2-B69E-42ED-9230-765F971903AD}" sibTransId="{2CCF137A-25BF-4F7D-8035-2186BBA06A66}"/>
    <dgm:cxn modelId="{609D473D-4B9B-4122-A45D-8CB0E2260BDD}" type="presOf" srcId="{5B81B10F-0A94-4718-8D29-8003D26D4A07}" destId="{175B0805-9C18-4857-BAC7-1338E233FDA9}" srcOrd="0" destOrd="0" presId="urn:microsoft.com/office/officeart/2024/3/layout/hArchList1"/>
    <dgm:cxn modelId="{12C49368-8E89-47C9-A6E9-9489B40712A6}" srcId="{FD9D393D-FA1A-434B-B85D-034C4FB09D93}" destId="{6E6CAD17-2199-4C58-851E-E3A98C7F264B}" srcOrd="2" destOrd="0" parTransId="{53543DC7-0056-4CC7-9AC7-2836EB81AB33}" sibTransId="{E804F8C6-1D95-4BBF-B2E5-A02CB4053F52}"/>
    <dgm:cxn modelId="{F4BDBC7D-6157-4E4F-ACE1-1F240DC0C66C}" srcId="{FD9D393D-FA1A-434B-B85D-034C4FB09D93}" destId="{927C8564-9057-4413-9240-BE7E1D263F5C}" srcOrd="1" destOrd="0" parTransId="{81FCC07E-9E2E-41EB-9FCE-817310F89CE7}" sibTransId="{5B81B10F-0A94-4718-8D29-8003D26D4A07}"/>
    <dgm:cxn modelId="{49350C80-6E3F-4D3B-BC0A-692F066AD778}" type="presOf" srcId="{B2C143AD-C4A3-42EF-BA99-C9E7D89F18A7}" destId="{83055AEC-6C6D-44B0-9DD0-20B3BE85D913}" srcOrd="0" destOrd="0" presId="urn:microsoft.com/office/officeart/2024/3/layout/hArchList1"/>
    <dgm:cxn modelId="{917BD594-061E-40C6-859B-8936231B87D2}" srcId="{71888FB1-3954-43AC-8E83-DC76E839C140}" destId="{B2C143AD-C4A3-42EF-BA99-C9E7D89F18A7}" srcOrd="0" destOrd="0" parTransId="{1270D4FA-C14A-4766-9C25-95CAB89B4B30}" sibTransId="{5A64B28F-5E5D-4CF8-91FC-DF906E2F3E68}"/>
    <dgm:cxn modelId="{DF19BECC-99B0-4085-A195-27F5A71FCFC9}" type="presOf" srcId="{D79F1DFB-08D6-43DB-87F8-E9DB24CDA9D4}" destId="{34A40FB2-4F85-4CFA-B2F1-797758BAD0B3}" srcOrd="0" destOrd="0" presId="urn:microsoft.com/office/officeart/2024/3/layout/hArchList1"/>
    <dgm:cxn modelId="{62E8A1D9-135A-424F-AEB0-0282DE8A716D}" type="presOf" srcId="{71888FB1-3954-43AC-8E83-DC76E839C140}" destId="{3EF11070-F2B4-4641-9F8F-C64E48651C2B}" srcOrd="0" destOrd="0" presId="urn:microsoft.com/office/officeart/2024/3/layout/hArchList1"/>
    <dgm:cxn modelId="{32FF04DA-F8D9-45E6-A948-56B90C502E24}" type="presOf" srcId="{6E6CAD17-2199-4C58-851E-E3A98C7F264B}" destId="{E477B459-2874-4DD8-985C-5A85E271EA8F}" srcOrd="0" destOrd="0" presId="urn:microsoft.com/office/officeart/2024/3/layout/hArchList1"/>
    <dgm:cxn modelId="{B2FFECDE-EDA2-4991-B6A7-ED3F1AE3C036}" type="presOf" srcId="{FD9D393D-FA1A-434B-B85D-034C4FB09D93}" destId="{CEBF336A-4591-4848-AF2C-B27335F77F0C}" srcOrd="0" destOrd="0" presId="urn:microsoft.com/office/officeart/2024/3/layout/hArchList1"/>
    <dgm:cxn modelId="{8E6A4BEE-4986-4E9A-8BDE-02310006A3C1}" srcId="{6E6CAD17-2199-4C58-851E-E3A98C7F264B}" destId="{FB759329-E79D-44D4-8374-188B16BFBD39}" srcOrd="0" destOrd="0" parTransId="{89C2715F-521C-4817-BE08-967C5E5AC7E7}" sibTransId="{AD9178ED-F0B6-4A68-AC45-3A0038BA60F9}"/>
    <dgm:cxn modelId="{AA2A78F1-5063-4FE8-8D60-5667C58B7527}" type="presOf" srcId="{927C8564-9057-4413-9240-BE7E1D263F5C}" destId="{587B47C9-1B35-43EC-BEF8-A3C61EC588DC}" srcOrd="0" destOrd="0" presId="urn:microsoft.com/office/officeart/2024/3/layout/hArchList1"/>
    <dgm:cxn modelId="{858A5C3D-165D-47E2-A589-B053B322FCA8}" type="presParOf" srcId="{CEBF336A-4591-4848-AF2C-B27335F77F0C}" destId="{153902A5-CDEA-4444-9D4B-56DA80E520FE}" srcOrd="0" destOrd="0" presId="urn:microsoft.com/office/officeart/2024/3/layout/hArchList1"/>
    <dgm:cxn modelId="{4FEB315A-B9B9-463D-A790-A303771354A4}" type="presParOf" srcId="{153902A5-CDEA-4444-9D4B-56DA80E520FE}" destId="{3EF11070-F2B4-4641-9F8F-C64E48651C2B}" srcOrd="0" destOrd="0" presId="urn:microsoft.com/office/officeart/2024/3/layout/hArchList1"/>
    <dgm:cxn modelId="{DBE0C41A-D7A8-4A3A-9C7C-79255AF9EDEB}" type="presParOf" srcId="{153902A5-CDEA-4444-9D4B-56DA80E520FE}" destId="{83055AEC-6C6D-44B0-9DD0-20B3BE85D913}" srcOrd="1" destOrd="0" presId="urn:microsoft.com/office/officeart/2024/3/layout/hArchList1"/>
    <dgm:cxn modelId="{DA27BFA5-7A6C-463B-AD27-77DAB00C69C7}" type="presParOf" srcId="{CEBF336A-4591-4848-AF2C-B27335F77F0C}" destId="{34A40FB2-4F85-4CFA-B2F1-797758BAD0B3}" srcOrd="1" destOrd="0" presId="urn:microsoft.com/office/officeart/2024/3/layout/hArchList1"/>
    <dgm:cxn modelId="{24EB6DC1-387F-4415-BD68-401B79F9D9AE}" type="presParOf" srcId="{CEBF336A-4591-4848-AF2C-B27335F77F0C}" destId="{A9429F67-CD45-4795-A2C3-FDAAAC0114B2}" srcOrd="2" destOrd="0" presId="urn:microsoft.com/office/officeart/2024/3/layout/hArchList1"/>
    <dgm:cxn modelId="{07F6C597-8A7B-4E89-97D6-A03C72239D4B}" type="presParOf" srcId="{A9429F67-CD45-4795-A2C3-FDAAAC0114B2}" destId="{587B47C9-1B35-43EC-BEF8-A3C61EC588DC}" srcOrd="0" destOrd="0" presId="urn:microsoft.com/office/officeart/2024/3/layout/hArchList1"/>
    <dgm:cxn modelId="{35CC4AEC-8A81-418F-804A-116C71136945}" type="presParOf" srcId="{A9429F67-CD45-4795-A2C3-FDAAAC0114B2}" destId="{9FADAB1D-5BB9-43D7-AD38-86A95952D59E}" srcOrd="1" destOrd="0" presId="urn:microsoft.com/office/officeart/2024/3/layout/hArchList1"/>
    <dgm:cxn modelId="{AC426498-5A52-4E5C-A95B-A03E0C7DE439}" type="presParOf" srcId="{CEBF336A-4591-4848-AF2C-B27335F77F0C}" destId="{175B0805-9C18-4857-BAC7-1338E233FDA9}" srcOrd="3" destOrd="0" presId="urn:microsoft.com/office/officeart/2024/3/layout/hArchList1"/>
    <dgm:cxn modelId="{A350D000-D4EA-437A-8941-AF85C64751CD}" type="presParOf" srcId="{CEBF336A-4591-4848-AF2C-B27335F77F0C}" destId="{C16BCD27-0033-4E0F-9762-8A8C8B5B33F5}" srcOrd="4" destOrd="0" presId="urn:microsoft.com/office/officeart/2024/3/layout/hArchList1"/>
    <dgm:cxn modelId="{9E7D8A7D-A141-451E-BB1A-69E98D598502}" type="presParOf" srcId="{C16BCD27-0033-4E0F-9762-8A8C8B5B33F5}" destId="{E477B459-2874-4DD8-985C-5A85E271EA8F}" srcOrd="0" destOrd="0" presId="urn:microsoft.com/office/officeart/2024/3/layout/hArchList1"/>
    <dgm:cxn modelId="{090AA306-686E-4E7F-BD8E-001E231794E3}" type="presParOf" srcId="{C16BCD27-0033-4E0F-9762-8A8C8B5B33F5}" destId="{9400846F-070B-4C71-AAE6-8590EBDE925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11070-F2B4-4641-9F8F-C64E48651C2B}">
      <dsp:nvSpPr>
        <dsp:cNvPr id="0" name=""/>
        <dsp:cNvSpPr/>
      </dsp:nvSpPr>
      <dsp:spPr>
        <a:xfrm>
          <a:off x="0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 dirty="0" err="1"/>
            <a:t>Pametno</a:t>
          </a:r>
          <a:r>
            <a:rPr lang="en-US" sz="1800" b="0" i="0" kern="1200" dirty="0"/>
            <a:t> </a:t>
          </a:r>
          <a:r>
            <a:rPr lang="en-US" sz="1800" b="0" i="0" kern="1200" dirty="0" err="1"/>
            <a:t>rješenje</a:t>
          </a:r>
          <a:r>
            <a:rPr lang="en-US" sz="1800" b="0" i="0" kern="1200" dirty="0"/>
            <a:t> za </a:t>
          </a:r>
          <a:r>
            <a:rPr lang="en-US" sz="1800" b="0" i="0" kern="1200" dirty="0" err="1"/>
            <a:t>parkiranje</a:t>
          </a:r>
          <a:endParaRPr lang="en-US" sz="1800" kern="1200" dirty="0"/>
        </a:p>
      </dsp:txBody>
      <dsp:txXfrm>
        <a:off x="0" y="0"/>
        <a:ext cx="3428999" cy="342899"/>
      </dsp:txXfrm>
    </dsp:sp>
    <dsp:sp modelId="{83055AEC-6C6D-44B0-9DD0-20B3BE85D913}">
      <dsp:nvSpPr>
        <dsp:cNvPr id="0" name=""/>
        <dsp:cNvSpPr/>
      </dsp:nvSpPr>
      <dsp:spPr>
        <a:xfrm>
          <a:off x="0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ParkSmart</a:t>
          </a:r>
          <a:r>
            <a:rPr lang="en-US" sz="1400" b="0" i="0" kern="1200" dirty="0"/>
            <a:t> </a:t>
          </a:r>
          <a:r>
            <a:rPr lang="en-US" sz="1400" b="0" i="0" kern="1200" dirty="0" err="1"/>
            <a:t>koristi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inovativne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tehnologije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kako</a:t>
          </a:r>
          <a:r>
            <a:rPr lang="en-US" sz="1400" b="0" i="0" kern="1200" dirty="0"/>
            <a:t> bi </a:t>
          </a:r>
          <a:r>
            <a:rPr lang="en-US" sz="1400" b="0" i="0" kern="1200" dirty="0" err="1"/>
            <a:t>olakšao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pronalaženje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parkirnog</a:t>
          </a:r>
          <a:r>
            <a:rPr lang="en-US" sz="1400" b="0" i="0" kern="1200" dirty="0"/>
            <a:t> </a:t>
          </a:r>
          <a:r>
            <a:rPr lang="en-US" sz="1400" b="0" i="0" kern="1200" dirty="0" err="1"/>
            <a:t>mjesta</a:t>
          </a:r>
          <a:r>
            <a:rPr lang="en-US" sz="1400" b="0" i="0" kern="1200" dirty="0"/>
            <a:t> u </a:t>
          </a:r>
          <a:r>
            <a:rPr lang="en-US" sz="1400" b="0" i="0" kern="1200" dirty="0" err="1"/>
            <a:t>gradu</a:t>
          </a:r>
          <a:r>
            <a:rPr lang="en-US" sz="1400" b="0" i="0" kern="1200" dirty="0"/>
            <a:t>.</a:t>
          </a:r>
          <a:endParaRPr lang="en-US" sz="1400" kern="1200" dirty="0"/>
        </a:p>
      </dsp:txBody>
      <dsp:txXfrm>
        <a:off x="0" y="342899"/>
        <a:ext cx="3428999" cy="2340290"/>
      </dsp:txXfrm>
    </dsp:sp>
    <dsp:sp modelId="{587B47C9-1B35-43EC-BEF8-A3C61EC588DC}">
      <dsp:nvSpPr>
        <dsp:cNvPr id="0" name=""/>
        <dsp:cNvSpPr/>
      </dsp:nvSpPr>
      <dsp:spPr>
        <a:xfrm>
          <a:off x="3771899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 dirty="0" err="1"/>
            <a:t>Održivi</a:t>
          </a:r>
          <a:r>
            <a:rPr lang="en-US" sz="1800" b="0" i="0" kern="1200" dirty="0"/>
            <a:t> </a:t>
          </a:r>
          <a:r>
            <a:rPr lang="en-US" sz="1800" b="0" i="0" kern="1200" dirty="0" err="1"/>
            <a:t>pristup</a:t>
          </a:r>
          <a:endParaRPr lang="en-US" sz="1800" kern="1200" dirty="0"/>
        </a:p>
      </dsp:txBody>
      <dsp:txXfrm>
        <a:off x="3771899" y="0"/>
        <a:ext cx="3428999" cy="342899"/>
      </dsp:txXfrm>
    </dsp:sp>
    <dsp:sp modelId="{9FADAB1D-5BB9-43D7-AD38-86A95952D59E}">
      <dsp:nvSpPr>
        <dsp:cNvPr id="0" name=""/>
        <dsp:cNvSpPr/>
      </dsp:nvSpPr>
      <dsp:spPr>
        <a:xfrm>
          <a:off x="3771899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Projekat</a:t>
          </a:r>
          <a:r>
            <a:rPr lang="en-US" sz="1400" b="0" i="0" kern="1200" dirty="0"/>
            <a:t> </a:t>
          </a:r>
          <a:r>
            <a:rPr lang="en-US" sz="1400" b="0" i="0" kern="1200" dirty="0" err="1"/>
            <a:t>doprinosi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zdravijem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gradskom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okruženju</a:t>
          </a:r>
          <a:r>
            <a:rPr lang="en-US" sz="1400" b="0" i="0" kern="1200" dirty="0"/>
            <a:t> </a:t>
          </a:r>
          <a:r>
            <a:rPr lang="en-US" sz="1400" b="0" i="0" kern="1200" dirty="0" err="1"/>
            <a:t>smanjenjem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vremena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traženja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parkinga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zagađenja</a:t>
          </a:r>
          <a:r>
            <a:rPr lang="en-US" sz="1400" b="0" i="0" kern="1200" dirty="0"/>
            <a:t>.</a:t>
          </a:r>
          <a:endParaRPr lang="en-US" sz="1400" kern="1200" dirty="0"/>
        </a:p>
      </dsp:txBody>
      <dsp:txXfrm>
        <a:off x="3771899" y="342899"/>
        <a:ext cx="3428999" cy="2340290"/>
      </dsp:txXfrm>
    </dsp:sp>
    <dsp:sp modelId="{E477B459-2874-4DD8-985C-5A85E271EA8F}">
      <dsp:nvSpPr>
        <dsp:cNvPr id="0" name=""/>
        <dsp:cNvSpPr/>
      </dsp:nvSpPr>
      <dsp:spPr>
        <a:xfrm>
          <a:off x="7543800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 dirty="0" err="1"/>
            <a:t>Svijetla</a:t>
          </a:r>
          <a:r>
            <a:rPr lang="en-US" sz="1800" b="0" i="0" kern="1200" dirty="0"/>
            <a:t> </a:t>
          </a:r>
          <a:r>
            <a:rPr lang="en-US" sz="1800" b="0" i="0" kern="1200" dirty="0" err="1"/>
            <a:t>budućnost</a:t>
          </a:r>
          <a:endParaRPr lang="en-US" sz="1800" kern="1200" dirty="0"/>
        </a:p>
      </dsp:txBody>
      <dsp:txXfrm>
        <a:off x="7543800" y="0"/>
        <a:ext cx="3428999" cy="342899"/>
      </dsp:txXfrm>
    </dsp:sp>
    <dsp:sp modelId="{9400846F-070B-4C71-AAE6-8590EBDE9258}">
      <dsp:nvSpPr>
        <dsp:cNvPr id="0" name=""/>
        <dsp:cNvSpPr/>
      </dsp:nvSpPr>
      <dsp:spPr>
        <a:xfrm>
          <a:off x="7543800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Predani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tim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inovacije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vode</a:t>
          </a:r>
          <a:r>
            <a:rPr lang="en-US" sz="1400" b="0" i="0" kern="1200" dirty="0"/>
            <a:t> ka </a:t>
          </a:r>
          <a:r>
            <a:rPr lang="en-US" sz="1400" b="0" i="0" kern="1200" dirty="0" err="1"/>
            <a:t>jednostavnijem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i</a:t>
          </a:r>
          <a:r>
            <a:rPr lang="en-US" sz="1400" b="0" i="0" kern="1200" dirty="0"/>
            <a:t> </a:t>
          </a:r>
          <a:r>
            <a:rPr lang="en-US" sz="1400" b="0" i="0" kern="1200" dirty="0" err="1"/>
            <a:t>efikasnijem</a:t>
          </a:r>
          <a:r>
            <a:rPr lang="en-US" sz="1400" b="0" i="0" kern="1200" dirty="0"/>
            <a:t> </a:t>
          </a:r>
          <a:r>
            <a:rPr lang="en-US" sz="1400" b="0" i="0" kern="1200" dirty="0" err="1"/>
            <a:t>parkiranju</a:t>
          </a:r>
          <a:r>
            <a:rPr lang="en-US" sz="1400" b="0" i="0" kern="1200" dirty="0"/>
            <a:t> za </a:t>
          </a:r>
          <a:r>
            <a:rPr lang="en-US" sz="1400" b="0" i="0" kern="1200" dirty="0" err="1"/>
            <a:t>sve</a:t>
          </a:r>
          <a:r>
            <a:rPr lang="en-US" sz="1400" b="0" i="0" kern="1200" dirty="0"/>
            <a:t> </a:t>
          </a:r>
          <a:r>
            <a:rPr lang="en-US" sz="1400" b="0" i="0" kern="1200" dirty="0" err="1"/>
            <a:t>korisnike</a:t>
          </a:r>
          <a:r>
            <a:rPr lang="en-US" sz="1400" b="0" i="0" kern="1200" dirty="0"/>
            <a:t>.</a:t>
          </a:r>
          <a:endParaRPr lang="en-US" sz="1400" kern="1200" dirty="0"/>
        </a:p>
      </dsp:txBody>
      <dsp:txXfrm>
        <a:off x="7543800" y="342899"/>
        <a:ext cx="3428999" cy="2340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Čuvar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A4610-F80F-4F40-A07E-783D7321767C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4" name="Čuvar mesta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Čuvar mesta za napomen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6ABB3-D4D2-4271-9197-B68AB5D3E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0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  <a:r>
              <a:rPr lang="en-US" dirty="0" err="1"/>
              <a:t>Predstavljamo</a:t>
            </a:r>
            <a:r>
              <a:rPr lang="en-US" dirty="0"/>
              <a:t> </a:t>
            </a:r>
            <a:r>
              <a:rPr lang="en-US" dirty="0" err="1"/>
              <a:t>ParkSmart</a:t>
            </a:r>
            <a:r>
              <a:rPr lang="en-US" dirty="0"/>
              <a:t> – </a:t>
            </a:r>
            <a:r>
              <a:rPr lang="en-US" dirty="0" err="1"/>
              <a:t>inovativnu</a:t>
            </a:r>
            <a:r>
              <a:rPr lang="en-US" dirty="0"/>
              <a:t> web </a:t>
            </a:r>
            <a:r>
              <a:rPr lang="en-US" dirty="0" err="1"/>
              <a:t>platformu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rješava</a:t>
            </a:r>
            <a:r>
              <a:rPr lang="en-US" dirty="0"/>
              <a:t> problem </a:t>
            </a:r>
            <a:r>
              <a:rPr lang="en-US" dirty="0" err="1"/>
              <a:t>nedostatka</a:t>
            </a:r>
            <a:r>
              <a:rPr lang="en-US" dirty="0"/>
              <a:t> parking </a:t>
            </a:r>
            <a:r>
              <a:rPr lang="en-US" dirty="0" err="1"/>
              <a:t>mjesta</a:t>
            </a:r>
            <a:r>
              <a:rPr lang="en-US" dirty="0"/>
              <a:t> u </a:t>
            </a:r>
            <a:r>
              <a:rPr lang="en-US" dirty="0" err="1"/>
              <a:t>urbanim</a:t>
            </a:r>
            <a:r>
              <a:rPr lang="en-US" dirty="0"/>
              <a:t> </a:t>
            </a:r>
            <a:r>
              <a:rPr lang="en-US" dirty="0" err="1"/>
              <a:t>sredinama</a:t>
            </a:r>
            <a:r>
              <a:rPr lang="en-US" dirty="0"/>
              <a:t>, </a:t>
            </a:r>
            <a:r>
              <a:rPr lang="en-US" dirty="0" err="1"/>
              <a:t>počevši</a:t>
            </a:r>
            <a:r>
              <a:rPr lang="en-US" dirty="0"/>
              <a:t> s pilot </a:t>
            </a:r>
            <a:r>
              <a:rPr lang="en-US" dirty="0" err="1"/>
              <a:t>projektom</a:t>
            </a:r>
            <a:r>
              <a:rPr lang="en-US" dirty="0"/>
              <a:t> u </a:t>
            </a:r>
            <a:r>
              <a:rPr lang="en-US" dirty="0" err="1"/>
              <a:t>Novom</a:t>
            </a:r>
            <a:r>
              <a:rPr lang="en-US" dirty="0"/>
              <a:t> Sadu. Ova </a:t>
            </a:r>
            <a:r>
              <a:rPr lang="en-US" dirty="0" err="1"/>
              <a:t>prezentacija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našu</a:t>
            </a:r>
            <a:r>
              <a:rPr lang="en-US" dirty="0"/>
              <a:t> </a:t>
            </a:r>
            <a:r>
              <a:rPr lang="en-US" dirty="0" err="1"/>
              <a:t>viziju</a:t>
            </a:r>
            <a:r>
              <a:rPr lang="en-US" dirty="0"/>
              <a:t>, </a:t>
            </a:r>
            <a:r>
              <a:rPr lang="en-US" dirty="0" err="1"/>
              <a:t>poslovni</a:t>
            </a:r>
            <a:r>
              <a:rPr lang="en-US" dirty="0"/>
              <a:t> model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strategiju</a:t>
            </a:r>
            <a:r>
              <a:rPr lang="en-US" dirty="0"/>
              <a:t> rasta.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27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U urbanim sredinama vozači često gube vrijeme tražeći slobodno parking mjesto, što povećava troškove, frustraciju i emisiju štetnih plinova. Parking prostori su često neefikasno iskorišteni, posebno privatni.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04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Naša platforma omogućuje vlasnicima da unajme svoja slobodna parking mjesta vozačima putem jednostavne web aplikacije, s opcijom rezervacije u realnom vremenu ili unaprijed, čime se maksimizira iskorištenost prostora i olakšava promet.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09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  <a:r>
              <a:rPr lang="en-US" dirty="0" err="1"/>
              <a:t>Početni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je Novi Sad s </a:t>
            </a:r>
            <a:r>
              <a:rPr lang="en-US" dirty="0" err="1"/>
              <a:t>ciljnim</a:t>
            </a:r>
            <a:r>
              <a:rPr lang="en-US" dirty="0"/>
              <a:t> </a:t>
            </a:r>
            <a:r>
              <a:rPr lang="en-US" dirty="0" err="1"/>
              <a:t>skupinama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, </a:t>
            </a:r>
            <a:r>
              <a:rPr lang="en-US" dirty="0" err="1"/>
              <a:t>zaposleni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turisti</a:t>
            </a:r>
            <a:r>
              <a:rPr lang="en-US" dirty="0"/>
              <a:t>. </a:t>
            </a:r>
            <a:r>
              <a:rPr lang="en-US" dirty="0" err="1"/>
              <a:t>Planiramo</a:t>
            </a:r>
            <a:r>
              <a:rPr lang="en-US" dirty="0"/>
              <a:t> </a:t>
            </a:r>
            <a:r>
              <a:rPr lang="en-US" dirty="0" err="1"/>
              <a:t>širiti</a:t>
            </a:r>
            <a:r>
              <a:rPr lang="en-US" dirty="0"/>
              <a:t> </a:t>
            </a:r>
            <a:r>
              <a:rPr lang="en-US" dirty="0" err="1"/>
              <a:t>platformu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urbane </a:t>
            </a:r>
            <a:r>
              <a:rPr lang="en-US" dirty="0" err="1"/>
              <a:t>sredine</a:t>
            </a:r>
            <a:r>
              <a:rPr lang="en-US" dirty="0"/>
              <a:t> u </a:t>
            </a:r>
            <a:r>
              <a:rPr lang="en-US" dirty="0" err="1"/>
              <a:t>regiji</a:t>
            </a:r>
            <a:r>
              <a:rPr lang="en-US" dirty="0"/>
              <a:t>, </a:t>
            </a:r>
            <a:r>
              <a:rPr lang="en-US" dirty="0" err="1"/>
              <a:t>prilagođavajući</a:t>
            </a:r>
            <a:r>
              <a:rPr lang="en-US" dirty="0"/>
              <a:t> </a:t>
            </a:r>
            <a:r>
              <a:rPr lang="en-US" dirty="0" err="1"/>
              <a:t>ponudu</a:t>
            </a:r>
            <a:r>
              <a:rPr lang="en-US" dirty="0"/>
              <a:t> </a:t>
            </a:r>
            <a:r>
              <a:rPr lang="en-US" dirty="0" err="1"/>
              <a:t>lokalnim</a:t>
            </a:r>
            <a:r>
              <a:rPr lang="en-US" dirty="0"/>
              <a:t> </a:t>
            </a:r>
            <a:r>
              <a:rPr lang="en-US" dirty="0" err="1"/>
              <a:t>potrebama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trendovima</a:t>
            </a:r>
            <a:r>
              <a:rPr lang="en-US" dirty="0"/>
              <a:t>.
Izvor </a:t>
            </a:r>
            <a:r>
              <a:rPr lang="en-US" dirty="0" err="1"/>
              <a:t>slike</a:t>
            </a:r>
            <a:r>
              <a:rPr lang="en-US" dirty="0"/>
              <a:t>: </a:t>
            </a:r>
            <a:r>
              <a:rPr lang="en-US" dirty="0" err="1"/>
              <a:t>biblioteka</a:t>
            </a:r>
            <a:r>
              <a:rPr lang="en-US" dirty="0"/>
              <a:t> </a:t>
            </a:r>
            <a:r>
              <a:rPr lang="en-US" dirty="0" err="1"/>
              <a:t>sadržaja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32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Platforma će ostvarivati prihode kroz proviziju od svake transakcije, nuditi premium usluge poput rezervacije na zahtjev i dodatne pogodnosti za vlasnike parking mjesta, potičući dugoročnu suradnju i kvalitetu usluge.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6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Microsoft 365 biblioteka sadržaja
Marketinška strategija obuhvata digitalne kampanje na društvenim mrežama i Google oglasima, kao i lokalnu promociju putem plakata i banera u blizini fakulteta i poslovnih zona. Poseban akcenat stavljen je na partnerstva sa univerzitetima i kompanijama, kao i referral program koji nagrađuje korisnike za preporuke.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58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biblioteka sadržaja okruženja Microsoft 365
Početna ulaganja
Razvoj aplikacije, marketing, pravne i administrativne usluge, serveri → 12.000–15.000 €
Prihodi (1. godina – pilot sa 1000 korisnika)
Provizija po transakciji: ~ 45.000 €
Premium opcije i partnerstva: ~ 15.000 €
Reklame i dodatni prihodi: ~ 2.000 €
👉 Ukupno: ~ 60.000 €
Troškovi (1. godina)
Tim (5–6 članova), marketing, serveri, održavanje → 25.000–30.000 €
Bilans (1. godina)
✅ Pozitivan: +30.000 €
Projekcija (3. godina)
Korisnici: 3000+
Prihodi: 120.000–150.000 €
Troškovi: 40.000–50.000 €
Neto rezultat: +70.000–100.000 €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29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Microsoft 365 biblioteka sadržaja
Tehnički rizici uključuju sigurnost podataka i stabilnost aplikacije. Tržišni rizici obuhvataju sporu prihvaćenost korisnika i jaku konkurenciju. Pravni rizici se odnose na regulativu pri korišćenju privatnih površina, dok finansijski rizici podrazumevaju mogućnost premašivanja planiranih troškova marketinga i razvoja.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82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Microsoft 365 biblioteka sadržaja
CEO / Founder vodi viziju, partnerstva i strategiju. CTO upravlja razvojem aplikacije, bira tehnologije i koordinira developere. Backend developer radi na bazi podataka, API-ju i integraciji plaćanja. Frontend/Mobile developer razvija korisnički interfejs za web i mobilnu aplikaciju. Marketing menadžer je zadužen za promociju i digitalne kampanje, dok korisnička podrška pruža pomoć korisnicima.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72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biblioteka sadržaja okruženja Microsoft 365
• Analiza zahtjeva i planiranje – definisanje funkcionalnosti i tehničkih zahtjeva. • Dizajn korisničkog interfejsa – prototipovi i makete u Figma alatu. • Razvoj backend i frontend dijela – implementacija glavnih funkcionalnosti. • Integracija plaćanja i sigurnosnih mehanizama – kartice, SMS, PayPal. • Testiranje i kontrola kvaliteta – unit, integration, system i acceptance testovi. • Lansiranje pilot verzije – početak u Novom Sadu. • Prikupljanje feedback-a i unapređenja – stalni proces. (Ostavi prostor za malu sliku iz Excel-a u donjem desnom uglu.)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9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Izvor slike: Microsoft 365 biblioteka sadržaja
Strategija testiranja obuhvata kombinaciju manuelnog i automatizovanog pristupa. Sprovode se različiti tipovi testova kao što su unit, integration, system, acceptance, security i performance. Koriste se alati poput Postman-a za API, Selenium-a za UI testove i JMeter-a za testiranje performansi. Tokom pilot faze, korisnici iz Novog Sada učestvuju u acceptance testiranju.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6ABB3-D4D2-4271-9197-B68AB5D3EC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58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Cilj nam je postati vodeća platforma za dijeljenje privatnih parking mjesta u regiji, doprinoseći smanjenju prometnih gužvi i zagađenja, te promovirati održiv i pametan urbani život.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51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ParkSmart predstavlja pametno, održivo i praktično rješenje za probleme urbane parkiranja. S našim inovativnim pristupom i predanim timom, pred nama je svijetla budućnost u kojoj će svatko lako pronaći parking i doprinijeti zdravijem gradskom okruženju.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0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EA5D59-5512-467D-834D-D04827A6AF83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2362D5-E350-46C5-8BB1-F9E806A91933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5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276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BFE899EF-3666-4EAB-A626-E7AA02E66CC1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47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020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9EEDB3-BC19-4021-830F-B822E1DE9789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4DD65C-314F-4399-90A8-B6DFCAF21BE4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29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8874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76FC08D9-20DE-421C-BE4E-310427BB699B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7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FC08D9-20DE-421C-BE4E-310427BB699B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72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F1AC263-88EE-42CC-B640-B12BA856CF71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22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68A32F6A-E7E2-4607-B207-B787B539B854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73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467FC12-63BB-4A63-9424-BFBF8E1D71D9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3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9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80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892AD61-D199-4B74-B80B-2001400510FA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54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00D9374-B0AF-43C5-90A8-C409C7D54B55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BB6888-43ED-4D3A-B8DA-89EF29644561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14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27C7479B-2077-4468-85E0-F9294B46DEAE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32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28E9021D-675F-4984-8FE0-04DA4F4E22F1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6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A7F72289-EB8A-47CA-A283-A769C9E761BF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730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435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06-Oct-25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090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5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8117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1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25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86C921-50A5-4289-8B96-30101E64A548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830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948B66-4D7B-4FF2-9F42-B85226272225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67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D1D18D0-7308-42C5-B784-8892F327ABD3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3554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78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6C46EC71-0129-40A3-85CE-244216EACC39}" type="datetime1">
              <a:rPr lang="en-US" smtClean="0"/>
              <a:t>06-Oct-25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28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700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CC8FB4D-92F2-4C28-8BFC-2AE0229C3E9A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55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B708C30-1428-4C16-AD49-DE42CFEA37BF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027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50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DF09C0-6535-4055-81CC-988E059C8EEC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80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85187EE-7BBC-405E-B3F5-9C3E88970356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01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7A35BA-41D5-4E87-94C2-E365E2A3656B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9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A4345C7-9F39-4767-92C9-EBF29396D0A9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4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891D2-C712-4357-A4F9-7362E459A272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8257922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525586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2BF1DD-1BF4-406D-9906-B4846BCC8D55}" type="datetime1">
              <a:rPr lang="en-US" smtClean="0"/>
              <a:pPr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3400921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0A52C9-A7D6-4EB8-8F3D-1519181DDC1D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605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E9CE581-A048-42A8-B14C-488A3338D2F0}" type="datetime1">
              <a:rPr lang="en-US" smtClean="0"/>
              <a:t>06-Oct-25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8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37B15FB-E45F-4977-9C40-BB6531CE6EA6}" type="datetime1">
              <a:rPr lang="en-US" smtClean="0"/>
              <a:t>06-Oct-25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574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8922BC5-E711-4A36-A80E-0A418F83672D}" type="datetime1">
              <a:rPr lang="en-US" smtClean="0"/>
              <a:t>06-Oct-25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306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1D94988-488B-40CC-9623-27A54F95F7B4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122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A3C7011-18F0-49E4-85C9-3E22BE44E3EB}" type="datetime1">
              <a:rPr lang="en-US" smtClean="0"/>
              <a:t>06-Oct-25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264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B1E6060-C53E-4F28-8D83-0C4FB26C4A3F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20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D3D1E3E-5DD4-4BAD-A138-1254BF94C224}" type="datetime1">
              <a:rPr lang="en-US" smtClean="0"/>
              <a:t>06-Oct-25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75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DF4F7BB-A1DF-4BD2-8D5B-CA9EB40127CE}" type="datetime1">
              <a:rPr lang="en-US" smtClean="0"/>
              <a:pPr/>
              <a:t>06-Oct-25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0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slov 2">
            <a:extLst>
              <a:ext uri="{FF2B5EF4-FFF2-40B4-BE49-F238E27FC236}">
                <a16:creationId xmlns:a16="http://schemas.microsoft.com/office/drawing/2014/main" id="{A4AFDCCE-E2C2-4C92-74E9-54CA1F1A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4821936"/>
            <a:ext cx="10483927" cy="816864"/>
          </a:xfrm>
        </p:spPr>
        <p:txBody>
          <a:bodyPr>
            <a:normAutofit/>
          </a:bodyPr>
          <a:lstStyle/>
          <a:p>
            <a:r>
              <a:rPr lang="pl-PL" dirty="0"/>
              <a:t>Pametno rješenje za privatni parking u urbanim sredinam</a:t>
            </a:r>
            <a:r>
              <a:rPr lang="en-US" dirty="0"/>
              <a:t>a</a:t>
            </a:r>
          </a:p>
        </p:txBody>
      </p:sp>
      <p:sp>
        <p:nvSpPr>
          <p:cNvPr id="4" name="Podnaslov 2">
            <a:extLst>
              <a:ext uri="{FF2B5EF4-FFF2-40B4-BE49-F238E27FC236}">
                <a16:creationId xmlns:a16="http://schemas.microsoft.com/office/drawing/2014/main" id="{0A99CC13-2D58-9E26-E947-8293661B2D0E}"/>
              </a:ext>
            </a:extLst>
          </p:cNvPr>
          <p:cNvSpPr txBox="1">
            <a:spLocks/>
          </p:cNvSpPr>
          <p:nvPr/>
        </p:nvSpPr>
        <p:spPr>
          <a:xfrm>
            <a:off x="612644" y="5748661"/>
            <a:ext cx="10483927" cy="81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Pilot </a:t>
            </a:r>
            <a:r>
              <a:rPr lang="en-US" dirty="0" err="1"/>
              <a:t>projekat</a:t>
            </a:r>
            <a:r>
              <a:rPr lang="en-US" dirty="0"/>
              <a:t>: Beograd</a:t>
            </a:r>
            <a:br>
              <a:rPr lang="en-US" dirty="0"/>
            </a:br>
            <a:r>
              <a:rPr lang="en-US" dirty="0"/>
              <a:t>Autor: Radoslav Mastilović – Tim </a:t>
            </a:r>
            <a:r>
              <a:rPr lang="en-US" dirty="0" err="1"/>
              <a:t>ParkSmart</a:t>
            </a:r>
            <a:endParaRPr lang="en-US" dirty="0"/>
          </a:p>
        </p:txBody>
      </p:sp>
      <p:sp>
        <p:nvSpPr>
          <p:cNvPr id="6" name="Okvir za tekst 5">
            <a:extLst>
              <a:ext uri="{FF2B5EF4-FFF2-40B4-BE49-F238E27FC236}">
                <a16:creationId xmlns:a16="http://schemas.microsoft.com/office/drawing/2014/main" id="{4DA99F29-04BE-1299-BDFA-9C1877DDD66F}"/>
              </a:ext>
            </a:extLst>
          </p:cNvPr>
          <p:cNvSpPr txBox="1"/>
          <p:nvPr/>
        </p:nvSpPr>
        <p:spPr>
          <a:xfrm>
            <a:off x="616565" y="2253344"/>
            <a:ext cx="10958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PARKSMART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8141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  <p:bldP spid="4" grpId="0" build="p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75A7D03-D06B-22E5-A50E-BADCD954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rmAutofit/>
          </a:bodyPr>
          <a:lstStyle/>
          <a:p>
            <a:r>
              <a:rPr lang="en-US" sz="2600" dirty="0"/>
              <a:t>Problem: </a:t>
            </a:r>
            <a:r>
              <a:rPr lang="pl-PL" sz="2800" dirty="0"/>
              <a:t>Nedostatak parkinga u urbanim sredinama</a:t>
            </a:r>
            <a:endParaRPr lang="en-US" sz="2600" dirty="0"/>
          </a:p>
        </p:txBody>
      </p:sp>
      <p:pic>
        <p:nvPicPr>
          <p:cNvPr id="5" name="Čuvar mesta za sadržaj 4" descr="Zračna linija automobila na parkiralištu">
            <a:extLst>
              <a:ext uri="{FF2B5EF4-FFF2-40B4-BE49-F238E27FC236}">
                <a16:creationId xmlns:a16="http://schemas.microsoft.com/office/drawing/2014/main" id="{52286454-C443-4F29-8D5C-502EFE3C86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136" r="25990"/>
          <a:stretch>
            <a:fillRect/>
          </a:stretch>
        </p:blipFill>
        <p:spPr>
          <a:xfrm>
            <a:off x="20" y="1"/>
            <a:ext cx="4560434" cy="685800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56C80A11-801E-73D2-C3DC-EE6582FCD988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80729" y="2743204"/>
            <a:ext cx="6395573" cy="34289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Gubitak</a:t>
            </a:r>
            <a:r>
              <a:rPr lang="en-US" b="1" dirty="0"/>
              <a:t> </a:t>
            </a:r>
            <a:r>
              <a:rPr lang="en-US" b="1" dirty="0" err="1"/>
              <a:t>vremena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novca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 err="1"/>
              <a:t>Vozači</a:t>
            </a:r>
            <a:r>
              <a:rPr lang="en-US" dirty="0"/>
              <a:t> u </a:t>
            </a:r>
            <a:r>
              <a:rPr lang="en-US" dirty="0" err="1"/>
              <a:t>gradovima</a:t>
            </a:r>
            <a:r>
              <a:rPr lang="en-US" dirty="0"/>
              <a:t> </a:t>
            </a:r>
            <a:r>
              <a:rPr lang="en-US" dirty="0" err="1"/>
              <a:t>troše</a:t>
            </a:r>
            <a:r>
              <a:rPr lang="en-US" dirty="0"/>
              <a:t> </a:t>
            </a:r>
            <a:r>
              <a:rPr lang="en-US" dirty="0" err="1"/>
              <a:t>puno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(15 </a:t>
            </a:r>
            <a:r>
              <a:rPr lang="en-US" dirty="0" err="1"/>
              <a:t>minuta</a:t>
            </a:r>
            <a:r>
              <a:rPr lang="en-US" dirty="0"/>
              <a:t> u </a:t>
            </a:r>
            <a:r>
              <a:rPr lang="en-US" dirty="0" err="1"/>
              <a:t>prosjeku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novca</a:t>
            </a:r>
            <a:r>
              <a:rPr lang="en-US" dirty="0"/>
              <a:t> </a:t>
            </a:r>
            <a:r>
              <a:rPr lang="en-US" dirty="0" err="1"/>
              <a:t>tražeći</a:t>
            </a:r>
            <a:r>
              <a:rPr lang="en-US" dirty="0"/>
              <a:t> </a:t>
            </a:r>
            <a:r>
              <a:rPr lang="en-US" dirty="0" err="1"/>
              <a:t>slobodno</a:t>
            </a:r>
            <a:r>
              <a:rPr lang="en-US" dirty="0"/>
              <a:t> parking </a:t>
            </a:r>
            <a:r>
              <a:rPr lang="en-US" dirty="0" err="1"/>
              <a:t>mjesto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povećava</a:t>
            </a:r>
            <a:r>
              <a:rPr lang="sr-Latn-RS" dirty="0"/>
              <a:t> </a:t>
            </a:r>
            <a:r>
              <a:rPr lang="en-US" dirty="0" err="1"/>
              <a:t>saobra</a:t>
            </a:r>
            <a:r>
              <a:rPr lang="sr-Latn-RS" dirty="0" err="1"/>
              <a:t>ćajne</a:t>
            </a:r>
            <a:r>
              <a:rPr lang="sr-Latn-RS" dirty="0"/>
              <a:t> gužve,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troškove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Neefikasna</a:t>
            </a:r>
            <a:r>
              <a:rPr lang="en-US" b="1" dirty="0"/>
              <a:t> </a:t>
            </a:r>
            <a:r>
              <a:rPr lang="en-US" b="1" dirty="0" err="1"/>
              <a:t>iskorištenost</a:t>
            </a:r>
            <a:r>
              <a:rPr lang="en-US" b="1" dirty="0"/>
              <a:t> </a:t>
            </a:r>
            <a:r>
              <a:rPr lang="en-US" b="1" dirty="0" err="1"/>
              <a:t>prostora</a:t>
            </a:r>
            <a:endParaRPr lang="en-US" b="1" dirty="0"/>
          </a:p>
          <a:p>
            <a:pPr marL="0" lvl="1"/>
            <a:r>
              <a:rPr lang="en-US" dirty="0" err="1"/>
              <a:t>Mnogi</a:t>
            </a:r>
            <a:r>
              <a:rPr lang="en-US" dirty="0"/>
              <a:t> </a:t>
            </a:r>
            <a:r>
              <a:rPr lang="en-US" dirty="0" err="1"/>
              <a:t>privatni</a:t>
            </a:r>
            <a:r>
              <a:rPr lang="en-US" dirty="0"/>
              <a:t> parking </a:t>
            </a:r>
            <a:r>
              <a:rPr lang="en-US" dirty="0" err="1"/>
              <a:t>prostori</a:t>
            </a:r>
            <a:r>
              <a:rPr lang="en-US" dirty="0"/>
              <a:t> </a:t>
            </a:r>
            <a:r>
              <a:rPr lang="en-US" dirty="0" err="1"/>
              <a:t>ostaju</a:t>
            </a:r>
            <a:r>
              <a:rPr lang="en-US" dirty="0"/>
              <a:t> </a:t>
            </a:r>
            <a:r>
              <a:rPr lang="en-US" dirty="0" err="1"/>
              <a:t>prazni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neiskorišteni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javni</a:t>
            </a:r>
            <a:r>
              <a:rPr lang="en-US" dirty="0"/>
              <a:t> </a:t>
            </a:r>
            <a:r>
              <a:rPr lang="en-US" dirty="0" err="1"/>
              <a:t>kapaciteti</a:t>
            </a:r>
            <a:r>
              <a:rPr lang="en-US" dirty="0"/>
              <a:t> </a:t>
            </a:r>
            <a:r>
              <a:rPr lang="en-US" dirty="0" err="1"/>
              <a:t>preopterećeni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nedovoljni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Povećane</a:t>
            </a:r>
            <a:r>
              <a:rPr lang="en-US" b="1" dirty="0"/>
              <a:t> </a:t>
            </a:r>
            <a:r>
              <a:rPr lang="en-US" b="1" dirty="0" err="1"/>
              <a:t>emisije</a:t>
            </a:r>
            <a:r>
              <a:rPr lang="en-US" b="1" dirty="0"/>
              <a:t> CO2</a:t>
            </a:r>
          </a:p>
          <a:p>
            <a:pPr marL="0" lvl="1"/>
            <a:r>
              <a:rPr lang="en-US" dirty="0" err="1"/>
              <a:t>Traženje</a:t>
            </a:r>
            <a:r>
              <a:rPr lang="en-US" dirty="0"/>
              <a:t> parking </a:t>
            </a:r>
            <a:r>
              <a:rPr lang="en-US" dirty="0" err="1"/>
              <a:t>mjesta</a:t>
            </a:r>
            <a:r>
              <a:rPr lang="en-US" dirty="0"/>
              <a:t> </a:t>
            </a:r>
            <a:r>
              <a:rPr lang="en-US" dirty="0" err="1"/>
              <a:t>povećava</a:t>
            </a:r>
            <a:r>
              <a:rPr lang="en-US" dirty="0"/>
              <a:t> </a:t>
            </a:r>
            <a:r>
              <a:rPr lang="en-US" dirty="0" err="1"/>
              <a:t>emisiju</a:t>
            </a:r>
            <a:r>
              <a:rPr lang="en-US" dirty="0"/>
              <a:t> CO2, </a:t>
            </a:r>
            <a:r>
              <a:rPr lang="pt-BR" dirty="0"/>
              <a:t>što negativno utiče na životnu sredinu i kvalitet vazduha u gradovima.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087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EB4EA4-DF4E-2192-335D-1D53FD28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rmAutofit/>
          </a:bodyPr>
          <a:lstStyle/>
          <a:p>
            <a:r>
              <a:rPr lang="en-US" sz="2200" dirty="0" err="1"/>
              <a:t>Rješenje</a:t>
            </a:r>
            <a:r>
              <a:rPr lang="en-US" sz="2200" dirty="0"/>
              <a:t>: </a:t>
            </a:r>
            <a:r>
              <a:rPr lang="en-US" sz="2400" dirty="0"/>
              <a:t>Web </a:t>
            </a:r>
            <a:r>
              <a:rPr lang="en-US" sz="2400" dirty="0" err="1"/>
              <a:t>platforma</a:t>
            </a:r>
            <a:r>
              <a:rPr lang="en-US" sz="2400" dirty="0"/>
              <a:t> za </a:t>
            </a:r>
            <a:r>
              <a:rPr lang="en-US" sz="2400" dirty="0" err="1"/>
              <a:t>dijeljenje</a:t>
            </a:r>
            <a:r>
              <a:rPr lang="en-US" sz="2400" dirty="0"/>
              <a:t> </a:t>
            </a:r>
            <a:r>
              <a:rPr lang="en-US" sz="2400" dirty="0" err="1"/>
              <a:t>privatnih</a:t>
            </a:r>
            <a:r>
              <a:rPr lang="en-US" sz="2400" dirty="0"/>
              <a:t> parking </a:t>
            </a:r>
            <a:r>
              <a:rPr lang="en-US" sz="2400" dirty="0" err="1"/>
              <a:t>mjesta</a:t>
            </a:r>
            <a:endParaRPr lang="en-US" sz="2200" dirty="0"/>
          </a:p>
        </p:txBody>
      </p:sp>
      <p:pic>
        <p:nvPicPr>
          <p:cNvPr id="5" name="Čuvar mesta za sadržaj 4" descr="Pametni telefon s ikonom automobila">
            <a:extLst>
              <a:ext uri="{FF2B5EF4-FFF2-40B4-BE49-F238E27FC236}">
                <a16:creationId xmlns:a16="http://schemas.microsoft.com/office/drawing/2014/main" id="{F98DAE6F-85BF-4594-B3C8-DF9CBE34C5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49" r="23734" b="-2"/>
          <a:stretch>
            <a:fillRect/>
          </a:stretch>
        </p:blipFill>
        <p:spPr>
          <a:xfrm>
            <a:off x="20" y="1"/>
            <a:ext cx="4560434" cy="685800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9253C647-EB32-101A-BD4B-0DD0895447E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80729" y="2743204"/>
            <a:ext cx="6395573" cy="34289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Povezivanje</a:t>
            </a:r>
            <a:r>
              <a:rPr lang="en-US" b="1" dirty="0"/>
              <a:t> </a:t>
            </a:r>
            <a:r>
              <a:rPr lang="en-US" b="1" dirty="0" err="1"/>
              <a:t>vlasnika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vozača</a:t>
            </a:r>
            <a:endParaRPr lang="en-US" b="1" dirty="0"/>
          </a:p>
          <a:p>
            <a:pPr marL="0" lvl="1"/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direktnu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vlasnika</a:t>
            </a:r>
            <a:r>
              <a:rPr lang="en-US" dirty="0"/>
              <a:t> </a:t>
            </a:r>
            <a:r>
              <a:rPr lang="en-US" dirty="0" err="1"/>
              <a:t>slobodnih</a:t>
            </a:r>
            <a:r>
              <a:rPr lang="en-US" dirty="0"/>
              <a:t> parking </a:t>
            </a:r>
            <a:r>
              <a:rPr lang="en-US" dirty="0" err="1"/>
              <a:t>mjesta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vozača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 je </a:t>
            </a:r>
            <a:r>
              <a:rPr lang="en-US" dirty="0" err="1"/>
              <a:t>potreban</a:t>
            </a:r>
            <a:r>
              <a:rPr lang="en-US" dirty="0"/>
              <a:t> </a:t>
            </a:r>
            <a:r>
              <a:rPr lang="en-US" dirty="0" err="1"/>
              <a:t>prostor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Rezervacija</a:t>
            </a:r>
            <a:r>
              <a:rPr lang="en-US" b="1" dirty="0"/>
              <a:t> </a:t>
            </a:r>
            <a:r>
              <a:rPr lang="en-US" b="1" dirty="0" err="1"/>
              <a:t>parkiranja</a:t>
            </a:r>
            <a:endParaRPr lang="en-US" b="1" dirty="0"/>
          </a:p>
          <a:p>
            <a:pPr marL="0" lvl="1"/>
            <a:r>
              <a:rPr lang="en-US" dirty="0" err="1"/>
              <a:t>Korisnici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rezervisati</a:t>
            </a:r>
            <a:r>
              <a:rPr lang="en-US" dirty="0"/>
              <a:t> parking </a:t>
            </a:r>
            <a:r>
              <a:rPr lang="en-US" dirty="0" err="1"/>
              <a:t>unaprijed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jednostavnog</a:t>
            </a:r>
            <a:r>
              <a:rPr lang="en-US" dirty="0"/>
              <a:t> </a:t>
            </a:r>
            <a:r>
              <a:rPr lang="en-US" dirty="0" err="1"/>
              <a:t>interfejsa</a:t>
            </a:r>
            <a:r>
              <a:rPr lang="en-US" dirty="0"/>
              <a:t>.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Maksimalna</a:t>
            </a:r>
            <a:r>
              <a:rPr lang="en-US" b="1" dirty="0"/>
              <a:t> </a:t>
            </a:r>
            <a:r>
              <a:rPr lang="en-US" b="1" dirty="0" err="1"/>
              <a:t>iskorištenost</a:t>
            </a:r>
            <a:r>
              <a:rPr lang="en-US" b="1" dirty="0"/>
              <a:t> </a:t>
            </a:r>
            <a:r>
              <a:rPr lang="en-US" b="1" dirty="0" err="1"/>
              <a:t>prostora</a:t>
            </a:r>
            <a:endParaRPr lang="en-US" b="1" dirty="0"/>
          </a:p>
          <a:p>
            <a:pPr marL="0" lvl="1"/>
            <a:r>
              <a:rPr lang="en-US" dirty="0" err="1"/>
              <a:t>Privatna</a:t>
            </a:r>
            <a:r>
              <a:rPr lang="en-US" dirty="0"/>
              <a:t> </a:t>
            </a:r>
            <a:r>
              <a:rPr lang="en-US" dirty="0" err="1"/>
              <a:t>mjesta</a:t>
            </a:r>
            <a:r>
              <a:rPr lang="en-US" dirty="0"/>
              <a:t> se </a:t>
            </a:r>
            <a:r>
              <a:rPr lang="en-US" dirty="0" err="1"/>
              <a:t>efikasnije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, </a:t>
            </a:r>
            <a:r>
              <a:rPr lang="en-US" dirty="0" err="1"/>
              <a:t>smanjujući</a:t>
            </a:r>
            <a:r>
              <a:rPr lang="en-US" dirty="0"/>
              <a:t> </a:t>
            </a:r>
            <a:r>
              <a:rPr lang="en-US" dirty="0" err="1"/>
              <a:t>gužve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traženje</a:t>
            </a:r>
            <a:r>
              <a:rPr lang="en-US" dirty="0"/>
              <a:t> </a:t>
            </a:r>
            <a:r>
              <a:rPr lang="en-US" dirty="0" err="1"/>
              <a:t>parkinga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9090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B4C0F1-A5DD-3EA5-323A-7E63A884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Tržište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potencijal</a:t>
            </a:r>
            <a:r>
              <a:rPr lang="en-US" sz="2600" dirty="0"/>
              <a:t>:</a:t>
            </a:r>
          </a:p>
        </p:txBody>
      </p:sp>
      <p:pic>
        <p:nvPicPr>
          <p:cNvPr id="5" name="Čuvar mesta za sadržaj 4" descr="Pogled iz visokog kuta na prometni pješački prijelaz u središtu Edinburgha u Škotskoj.">
            <a:extLst>
              <a:ext uri="{FF2B5EF4-FFF2-40B4-BE49-F238E27FC236}">
                <a16:creationId xmlns:a16="http://schemas.microsoft.com/office/drawing/2014/main" id="{80B7B1DD-64D2-4B07-8B11-D7A9EBF192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0661" r="23763" b="1"/>
          <a:stretch>
            <a:fillRect/>
          </a:stretch>
        </p:blipFill>
        <p:spPr>
          <a:xfrm>
            <a:off x="20" y="1"/>
            <a:ext cx="4560434" cy="685800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30956A60-D771-7479-C588-ADCDA8ABD1B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80729" y="2743204"/>
            <a:ext cx="6395573" cy="34289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Fokus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Beograd</a:t>
            </a:r>
          </a:p>
          <a:p>
            <a:pPr marL="0" lvl="1"/>
            <a:r>
              <a:rPr lang="en-US" dirty="0"/>
              <a:t>Pilot grad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izraženim</a:t>
            </a:r>
            <a:r>
              <a:rPr lang="en-US" dirty="0"/>
              <a:t> </a:t>
            </a:r>
            <a:r>
              <a:rPr lang="en-US" dirty="0" err="1"/>
              <a:t>problemom</a:t>
            </a:r>
            <a:r>
              <a:rPr lang="en-US" dirty="0"/>
              <a:t> </a:t>
            </a:r>
            <a:r>
              <a:rPr lang="en-US" dirty="0" err="1"/>
              <a:t>nedostatka</a:t>
            </a:r>
            <a:r>
              <a:rPr lang="en-US" dirty="0"/>
              <a:t> </a:t>
            </a:r>
            <a:r>
              <a:rPr lang="en-US" dirty="0" err="1"/>
              <a:t>parkinga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raznolikim</a:t>
            </a:r>
            <a:r>
              <a:rPr lang="en-US" dirty="0"/>
              <a:t> </a:t>
            </a:r>
            <a:r>
              <a:rPr lang="en-US" dirty="0" err="1"/>
              <a:t>korisničkim</a:t>
            </a:r>
            <a:r>
              <a:rPr lang="en-US" dirty="0"/>
              <a:t> </a:t>
            </a:r>
            <a:r>
              <a:rPr lang="en-US" dirty="0" err="1"/>
              <a:t>grupama</a:t>
            </a:r>
            <a:r>
              <a:rPr lang="en-US" dirty="0"/>
              <a:t>.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Ciljne</a:t>
            </a:r>
            <a:r>
              <a:rPr lang="en-US" b="1" dirty="0"/>
              <a:t> </a:t>
            </a:r>
            <a:r>
              <a:rPr lang="en-US" b="1" dirty="0" err="1"/>
              <a:t>grupe</a:t>
            </a:r>
            <a:endParaRPr lang="en-US" b="1" dirty="0"/>
          </a:p>
          <a:p>
            <a:pPr marL="0" lvl="1"/>
            <a:r>
              <a:rPr lang="en-US" dirty="0" err="1"/>
              <a:t>Studenti</a:t>
            </a:r>
            <a:r>
              <a:rPr lang="en-US" dirty="0"/>
              <a:t>, </a:t>
            </a:r>
            <a:r>
              <a:rPr lang="en-US" dirty="0" err="1"/>
              <a:t>zaposleni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turisti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korisnici</a:t>
            </a:r>
            <a:r>
              <a:rPr lang="en-US" dirty="0"/>
              <a:t> </a:t>
            </a:r>
            <a:r>
              <a:rPr lang="en-US" dirty="0" err="1"/>
              <a:t>platforme</a:t>
            </a:r>
            <a:r>
              <a:rPr lang="en-US" dirty="0"/>
              <a:t>.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Planovi</a:t>
            </a:r>
            <a:r>
              <a:rPr lang="en-US" b="1" dirty="0"/>
              <a:t> za </a:t>
            </a:r>
            <a:r>
              <a:rPr lang="en-US" b="1" dirty="0" err="1"/>
              <a:t>širenje</a:t>
            </a:r>
            <a:endParaRPr lang="en-US" b="1" dirty="0"/>
          </a:p>
          <a:p>
            <a:pPr marL="0" lvl="1"/>
            <a:r>
              <a:rPr lang="en-US" dirty="0" err="1"/>
              <a:t>Postepena</a:t>
            </a:r>
            <a:r>
              <a:rPr lang="en-US" dirty="0"/>
              <a:t> </a:t>
            </a:r>
            <a:r>
              <a:rPr lang="en-US" dirty="0" err="1"/>
              <a:t>ekspanzija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urbane </a:t>
            </a:r>
            <a:r>
              <a:rPr lang="en-US" dirty="0" err="1"/>
              <a:t>sredine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prilagođavanje</a:t>
            </a:r>
            <a:r>
              <a:rPr lang="en-US" dirty="0"/>
              <a:t> </a:t>
            </a:r>
            <a:r>
              <a:rPr lang="en-US" dirty="0" err="1"/>
              <a:t>lokalnim</a:t>
            </a:r>
            <a:r>
              <a:rPr lang="en-US" dirty="0"/>
              <a:t> </a:t>
            </a:r>
            <a:r>
              <a:rPr lang="en-US" dirty="0" err="1"/>
              <a:t>potrebama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06434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C7405F-BB29-B70E-59F9-4CE6E7DE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Biznis</a:t>
            </a:r>
            <a:r>
              <a:rPr lang="en-US" sz="2600" dirty="0"/>
              <a:t> model</a:t>
            </a:r>
          </a:p>
        </p:txBody>
      </p:sp>
      <p:pic>
        <p:nvPicPr>
          <p:cNvPr id="5" name="Čuvar mesta za sadržaj 4" descr="Digitalni rad pametnog mobilnog telefona s vezama s društvenim mrežama">
            <a:extLst>
              <a:ext uri="{FF2B5EF4-FFF2-40B4-BE49-F238E27FC236}">
                <a16:creationId xmlns:a16="http://schemas.microsoft.com/office/drawing/2014/main" id="{F9127E40-4139-444F-8903-53627295BB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562" r="33050" b="-2"/>
          <a:stretch>
            <a:fillRect/>
          </a:stretch>
        </p:blipFill>
        <p:spPr>
          <a:xfrm>
            <a:off x="20" y="1"/>
            <a:ext cx="4560434" cy="685800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5C180251-D8C8-5542-7C25-F49FF511DDD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80729" y="2743204"/>
            <a:ext cx="6395573" cy="34289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Prihodi</a:t>
            </a:r>
            <a:r>
              <a:rPr lang="en-US" b="1" dirty="0"/>
              <a:t> od </a:t>
            </a:r>
            <a:r>
              <a:rPr lang="en-US" b="1" dirty="0" err="1"/>
              <a:t>provizije</a:t>
            </a:r>
            <a:endParaRPr lang="en-US" b="1" dirty="0"/>
          </a:p>
          <a:p>
            <a:pPr marL="0" lvl="1"/>
            <a:r>
              <a:rPr lang="en-US" dirty="0" err="1"/>
              <a:t>ParkSmart</a:t>
            </a:r>
            <a:r>
              <a:rPr lang="en-US" dirty="0"/>
              <a:t> </a:t>
            </a:r>
            <a:r>
              <a:rPr lang="en-US" dirty="0" err="1"/>
              <a:t>uzima</a:t>
            </a:r>
            <a:r>
              <a:rPr lang="en-US" dirty="0"/>
              <a:t> </a:t>
            </a:r>
            <a:r>
              <a:rPr lang="en-US" dirty="0" err="1"/>
              <a:t>proviziju</a:t>
            </a:r>
            <a:r>
              <a:rPr lang="en-US" dirty="0"/>
              <a:t> od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(5-10%),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obezbjeđuje</a:t>
            </a:r>
            <a:r>
              <a:rPr lang="en-US" dirty="0"/>
              <a:t> </a:t>
            </a:r>
            <a:r>
              <a:rPr lang="en-US" dirty="0" err="1"/>
              <a:t>stabilan</a:t>
            </a:r>
            <a:r>
              <a:rPr lang="en-US" dirty="0"/>
              <a:t> </a:t>
            </a:r>
            <a:r>
              <a:rPr lang="en-US" dirty="0" err="1"/>
              <a:t>prihod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održivost</a:t>
            </a:r>
            <a:r>
              <a:rPr lang="en-US" dirty="0"/>
              <a:t>.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/>
              <a:t>Premium </a:t>
            </a:r>
            <a:r>
              <a:rPr lang="en-US" b="1" dirty="0" err="1"/>
              <a:t>opcije</a:t>
            </a:r>
            <a:r>
              <a:rPr lang="en-US" b="1" dirty="0"/>
              <a:t> </a:t>
            </a:r>
            <a:r>
              <a:rPr lang="en-US" b="1" dirty="0" err="1"/>
              <a:t>usluge</a:t>
            </a:r>
            <a:endParaRPr lang="en-US" b="1" dirty="0"/>
          </a:p>
          <a:p>
            <a:pPr marL="0" lvl="1"/>
            <a:r>
              <a:rPr lang="en-US" dirty="0" err="1"/>
              <a:t>Korisnicima</a:t>
            </a:r>
            <a:r>
              <a:rPr lang="en-US" dirty="0"/>
              <a:t> se nude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pogodnosti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</a:t>
            </a:r>
            <a:r>
              <a:rPr lang="en-US" dirty="0" err="1"/>
              <a:t>garantovane</a:t>
            </a:r>
            <a:r>
              <a:rPr lang="en-US" dirty="0"/>
              <a:t> </a:t>
            </a:r>
            <a:r>
              <a:rPr lang="en-US" dirty="0" err="1"/>
              <a:t>rezervacije</a:t>
            </a:r>
            <a:r>
              <a:rPr lang="en-US" dirty="0"/>
              <a:t> </a:t>
            </a:r>
            <a:r>
              <a:rPr lang="en-US" dirty="0" err="1"/>
              <a:t>unaprijed</a:t>
            </a:r>
            <a:r>
              <a:rPr lang="sr-Latn-RS" dirty="0"/>
              <a:t> (7+ dana)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dugoročnog</a:t>
            </a:r>
            <a:r>
              <a:rPr lang="en-US" dirty="0"/>
              <a:t> </a:t>
            </a:r>
            <a:r>
              <a:rPr lang="en-US" dirty="0" err="1"/>
              <a:t>zakupa</a:t>
            </a:r>
            <a:r>
              <a:rPr lang="en-US" dirty="0"/>
              <a:t> parking </a:t>
            </a:r>
            <a:r>
              <a:rPr lang="en-US" dirty="0" err="1"/>
              <a:t>mjesta</a:t>
            </a:r>
            <a:r>
              <a:rPr lang="en-US" dirty="0"/>
              <a:t>.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Pogodnosti</a:t>
            </a:r>
            <a:r>
              <a:rPr lang="en-US" b="1" dirty="0"/>
              <a:t> za </a:t>
            </a:r>
            <a:r>
              <a:rPr lang="en-US" b="1" dirty="0" err="1"/>
              <a:t>vlasnike</a:t>
            </a:r>
            <a:endParaRPr lang="en-US" b="1" dirty="0"/>
          </a:p>
          <a:p>
            <a:pPr marL="0" lvl="1"/>
            <a:r>
              <a:rPr lang="en-US" dirty="0" err="1"/>
              <a:t>Vlasnici</a:t>
            </a:r>
            <a:r>
              <a:rPr lang="en-US" dirty="0"/>
              <a:t> </a:t>
            </a:r>
            <a:r>
              <a:rPr lang="en-US" dirty="0" err="1"/>
              <a:t>dobijaju</a:t>
            </a:r>
            <a:r>
              <a:rPr lang="en-US" dirty="0"/>
              <a:t> </a:t>
            </a:r>
            <a:r>
              <a:rPr lang="en-US" dirty="0" err="1"/>
              <a:t>beneficije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sigurnosne</a:t>
            </a:r>
            <a:r>
              <a:rPr lang="en-US" dirty="0"/>
              <a:t> </a:t>
            </a:r>
            <a:r>
              <a:rPr lang="en-US" dirty="0" err="1"/>
              <a:t>provjere</a:t>
            </a:r>
            <a:r>
              <a:rPr lang="en-US" dirty="0"/>
              <a:t>),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podstiče</a:t>
            </a:r>
            <a:r>
              <a:rPr lang="en-US" dirty="0"/>
              <a:t> </a:t>
            </a:r>
            <a:r>
              <a:rPr lang="en-US" dirty="0" err="1"/>
              <a:t>dugoročnu</a:t>
            </a:r>
            <a:r>
              <a:rPr lang="en-US" dirty="0"/>
              <a:t> </a:t>
            </a:r>
            <a:r>
              <a:rPr lang="en-US" dirty="0" err="1"/>
              <a:t>saradnju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92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D6A7B8C-D346-4E4A-A4B5-66A59EFB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rmAutofit/>
          </a:bodyPr>
          <a:lstStyle/>
          <a:p>
            <a:r>
              <a:rPr lang="en-US" sz="5000" dirty="0" err="1"/>
              <a:t>Marketi</a:t>
            </a:r>
            <a:r>
              <a:rPr lang="sr-Latn-RS" sz="5000" dirty="0" err="1"/>
              <a:t>nška</a:t>
            </a:r>
            <a:r>
              <a:rPr lang="sr-Latn-RS" sz="5000" dirty="0"/>
              <a:t> strategija</a:t>
            </a:r>
            <a:endParaRPr lang="en-US" sz="5000" dirty="0"/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9001A176-5559-7A5E-BD01-A5D6A3FB7905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3" y="2742645"/>
            <a:ext cx="6391247" cy="342955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Digitalne</a:t>
            </a:r>
            <a:r>
              <a:rPr lang="en-US" b="1" dirty="0"/>
              <a:t> </a:t>
            </a:r>
            <a:r>
              <a:rPr lang="en-US" b="1" dirty="0" err="1"/>
              <a:t>kampanje</a:t>
            </a:r>
            <a:endParaRPr lang="en-US" b="1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dirty="0" err="1"/>
              <a:t>Oglašavanje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društvenim</a:t>
            </a:r>
            <a:r>
              <a:rPr lang="en-US" dirty="0"/>
              <a:t> </a:t>
            </a:r>
            <a:r>
              <a:rPr lang="en-US" dirty="0" err="1"/>
              <a:t>mrežama</a:t>
            </a:r>
            <a:r>
              <a:rPr lang="en-US" dirty="0"/>
              <a:t> (Instagram, Facebook, TikTok) </a:t>
            </a:r>
            <a:r>
              <a:rPr lang="en-US" dirty="0" err="1"/>
              <a:t>i</a:t>
            </a:r>
            <a:r>
              <a:rPr lang="en-US" dirty="0"/>
              <a:t> Google Ads za </a:t>
            </a:r>
            <a:r>
              <a:rPr lang="en-US" dirty="0" err="1"/>
              <a:t>povećanje</a:t>
            </a:r>
            <a:r>
              <a:rPr lang="en-US" dirty="0"/>
              <a:t> online </a:t>
            </a:r>
            <a:r>
              <a:rPr lang="en-US" dirty="0" err="1"/>
              <a:t>vidljivosti</a:t>
            </a:r>
            <a:r>
              <a:rPr lang="en-US" dirty="0"/>
              <a:t>.</a:t>
            </a:r>
          </a:p>
          <a:p>
            <a:pPr marL="0" lvl="1" indent="0">
              <a:lnSpc>
                <a:spcPct val="90000"/>
              </a:lnSpc>
              <a:buNone/>
            </a:pPr>
            <a:endParaRPr lang="en-US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b="1" dirty="0" err="1"/>
              <a:t>Lokalna</a:t>
            </a:r>
            <a:r>
              <a:rPr lang="en-US" b="1" dirty="0"/>
              <a:t> </a:t>
            </a:r>
            <a:r>
              <a:rPr lang="en-US" b="1" dirty="0" err="1"/>
              <a:t>promocija</a:t>
            </a:r>
            <a:endParaRPr lang="en-US" b="1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dirty="0" err="1"/>
              <a:t>Plakati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baneri</a:t>
            </a:r>
            <a:r>
              <a:rPr lang="en-US" dirty="0"/>
              <a:t> u </a:t>
            </a:r>
            <a:r>
              <a:rPr lang="en-US" dirty="0" err="1"/>
              <a:t>blizini</a:t>
            </a:r>
            <a:r>
              <a:rPr lang="en-US" dirty="0"/>
              <a:t> </a:t>
            </a:r>
            <a:r>
              <a:rPr lang="en-US" dirty="0" err="1"/>
              <a:t>univerziteta</a:t>
            </a:r>
            <a:r>
              <a:rPr lang="en-US" dirty="0"/>
              <a:t>, </a:t>
            </a:r>
            <a:r>
              <a:rPr lang="en-US" dirty="0" err="1"/>
              <a:t>poslovnih</a:t>
            </a:r>
            <a:r>
              <a:rPr lang="en-US" dirty="0"/>
              <a:t> zona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stambenih</a:t>
            </a:r>
            <a:r>
              <a:rPr lang="en-US" dirty="0"/>
              <a:t> </a:t>
            </a:r>
            <a:r>
              <a:rPr lang="en-US" dirty="0" err="1"/>
              <a:t>naselja</a:t>
            </a:r>
            <a:r>
              <a:rPr lang="en-US" dirty="0"/>
              <a:t>.</a:t>
            </a:r>
          </a:p>
          <a:p>
            <a:pPr marL="0" lvl="1" indent="0">
              <a:lnSpc>
                <a:spcPct val="90000"/>
              </a:lnSpc>
              <a:buNone/>
            </a:pPr>
            <a:endParaRPr lang="en-US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b="1" dirty="0" err="1"/>
              <a:t>Partnerstva</a:t>
            </a:r>
            <a:r>
              <a:rPr lang="en-US" b="1" dirty="0"/>
              <a:t> 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en-US" dirty="0" err="1"/>
              <a:t>Saradnja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univerzitetima</a:t>
            </a:r>
            <a:r>
              <a:rPr lang="en-US" dirty="0"/>
              <a:t>, </a:t>
            </a:r>
            <a:r>
              <a:rPr lang="en-US" dirty="0" err="1"/>
              <a:t>kompanijama</a:t>
            </a:r>
            <a:r>
              <a:rPr lang="en-US" dirty="0"/>
              <a:t>, </a:t>
            </a:r>
            <a:r>
              <a:rPr lang="en-US" dirty="0" err="1"/>
              <a:t>vlasnicima</a:t>
            </a:r>
            <a:r>
              <a:rPr lang="en-US" dirty="0"/>
              <a:t> </a:t>
            </a:r>
            <a:r>
              <a:rPr lang="en-US" dirty="0" err="1"/>
              <a:t>objekata</a:t>
            </a:r>
            <a:r>
              <a:rPr lang="en-US" dirty="0"/>
              <a:t>, </a:t>
            </a:r>
            <a:r>
              <a:rPr lang="en-US" dirty="0" err="1"/>
              <a:t>lokalnim</a:t>
            </a:r>
            <a:r>
              <a:rPr lang="en-US" dirty="0"/>
              <a:t> </a:t>
            </a:r>
            <a:r>
              <a:rPr lang="en-US" dirty="0" err="1"/>
              <a:t>samoupravama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influenserima</a:t>
            </a:r>
            <a:r>
              <a:rPr lang="en-US" dirty="0"/>
              <a:t>.</a:t>
            </a:r>
          </a:p>
          <a:p>
            <a:pPr marL="0" lvl="1" indent="0">
              <a:lnSpc>
                <a:spcPct val="90000"/>
              </a:lnSpc>
              <a:buNone/>
            </a:pPr>
            <a:endParaRPr lang="en-US" dirty="0"/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dirty="0"/>
              <a:t>Referral program 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en-US" dirty="0" err="1"/>
              <a:t>Korisnici</a:t>
            </a:r>
            <a:r>
              <a:rPr lang="en-US" dirty="0"/>
              <a:t> </a:t>
            </a:r>
            <a:r>
              <a:rPr lang="en-US" dirty="0" err="1"/>
              <a:t>dobijaju</a:t>
            </a:r>
            <a:r>
              <a:rPr lang="en-US" dirty="0"/>
              <a:t> </a:t>
            </a:r>
            <a:r>
              <a:rPr lang="en-US" dirty="0" err="1"/>
              <a:t>popust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dovedu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korisnike</a:t>
            </a:r>
            <a:r>
              <a:rPr lang="en-US" dirty="0"/>
              <a:t>.</a:t>
            </a:r>
          </a:p>
        </p:txBody>
      </p:sp>
      <p:pic>
        <p:nvPicPr>
          <p:cNvPr id="5" name="Čuvar mesta za sadržaj 4" descr="KSNUMKSk rezolucija - Znakovi, simboli i emojiji društvenih medija povezuju se sa prepunim ljudima preko raskrsnice, futuristički tehnološki dizajn sa životnim stilom ljudi">
            <a:extLst>
              <a:ext uri="{FF2B5EF4-FFF2-40B4-BE49-F238E27FC236}">
                <a16:creationId xmlns:a16="http://schemas.microsoft.com/office/drawing/2014/main" id="{353D2431-5AFD-4843-9B40-4CC058D0DE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6004" r="36591"/>
          <a:stretch>
            <a:fillRect/>
          </a:stretch>
        </p:blipFill>
        <p:spPr>
          <a:xfrm>
            <a:off x="7631546" y="1"/>
            <a:ext cx="456045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404463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9D2BC96-7AAB-C83C-E3DE-F2133D56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rmAutofit/>
          </a:bodyPr>
          <a:lstStyle/>
          <a:p>
            <a:r>
              <a:rPr lang="en-US" sz="4200"/>
              <a:t>Pregled finansijskih projekcija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46423729-825C-D86B-3A25-425C657A4102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3" y="2742645"/>
            <a:ext cx="6391247" cy="3429551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Početna</a:t>
            </a:r>
            <a:r>
              <a:rPr lang="en-US" b="1" dirty="0"/>
              <a:t> </a:t>
            </a:r>
            <a:r>
              <a:rPr lang="en-US" b="1" dirty="0" err="1"/>
              <a:t>ulaganja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troškovi</a:t>
            </a:r>
            <a:endParaRPr lang="en-US" b="1" dirty="0"/>
          </a:p>
          <a:p>
            <a:pPr marL="0" lvl="1"/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, marketing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infrastruktura</a:t>
            </a:r>
            <a:r>
              <a:rPr lang="en-US" dirty="0"/>
              <a:t> → </a:t>
            </a:r>
            <a:r>
              <a:rPr lang="en-US" b="1" dirty="0"/>
              <a:t>12.000–15.000 €</a:t>
            </a:r>
            <a:br>
              <a:rPr lang="en-US" dirty="0"/>
            </a:br>
            <a:r>
              <a:rPr lang="en-US" dirty="0" err="1"/>
              <a:t>Godišnji</a:t>
            </a:r>
            <a:r>
              <a:rPr lang="en-US" dirty="0"/>
              <a:t> </a:t>
            </a:r>
            <a:r>
              <a:rPr lang="en-US" dirty="0" err="1"/>
              <a:t>troškovi</a:t>
            </a:r>
            <a:r>
              <a:rPr lang="en-US" dirty="0"/>
              <a:t> </a:t>
            </a:r>
            <a:r>
              <a:rPr lang="en-US" dirty="0" err="1"/>
              <a:t>održavanja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 → </a:t>
            </a:r>
            <a:r>
              <a:rPr lang="en-US" b="1" dirty="0"/>
              <a:t>25.000–30.000 €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Prihodi</a:t>
            </a:r>
            <a:r>
              <a:rPr lang="en-US" b="1" dirty="0"/>
              <a:t> </a:t>
            </a:r>
            <a:r>
              <a:rPr lang="en-US" b="1" dirty="0" err="1"/>
              <a:t>prve</a:t>
            </a:r>
            <a:r>
              <a:rPr lang="en-US" b="1" dirty="0"/>
              <a:t> </a:t>
            </a:r>
            <a:r>
              <a:rPr lang="en-US" b="1" dirty="0" err="1"/>
              <a:t>godine</a:t>
            </a:r>
            <a:endParaRPr lang="en-US" b="1" dirty="0"/>
          </a:p>
          <a:p>
            <a:pPr marL="0" lvl="1"/>
            <a:r>
              <a:rPr lang="en-US" dirty="0" err="1"/>
              <a:t>Očekivani</a:t>
            </a:r>
            <a:r>
              <a:rPr lang="en-US" dirty="0"/>
              <a:t> </a:t>
            </a:r>
            <a:r>
              <a:rPr lang="en-US" dirty="0" err="1"/>
              <a:t>prihodi</a:t>
            </a:r>
            <a:r>
              <a:rPr lang="en-US" dirty="0"/>
              <a:t> od </a:t>
            </a:r>
            <a:r>
              <a:rPr lang="en-US" dirty="0" err="1"/>
              <a:t>provizija</a:t>
            </a:r>
            <a:r>
              <a:rPr lang="en-US" dirty="0"/>
              <a:t>, premium </a:t>
            </a:r>
            <a:r>
              <a:rPr lang="en-US" dirty="0" err="1"/>
              <a:t>opcija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reklama</a:t>
            </a:r>
            <a:r>
              <a:rPr lang="en-US" dirty="0"/>
              <a:t> → </a:t>
            </a:r>
            <a:r>
              <a:rPr lang="en-US" b="1" dirty="0"/>
              <a:t>~60.000 €</a:t>
            </a:r>
          </a:p>
          <a:p>
            <a:pPr marL="0" lvl="1"/>
            <a:endParaRPr lang="en-US" b="1" dirty="0"/>
          </a:p>
          <a:p>
            <a:pPr marL="0" lvl="1"/>
            <a:r>
              <a:rPr lang="en-US" b="1" dirty="0" err="1"/>
              <a:t>Pozitivni</a:t>
            </a:r>
            <a:r>
              <a:rPr lang="en-US" b="1" dirty="0"/>
              <a:t> </a:t>
            </a:r>
            <a:r>
              <a:rPr lang="en-US" b="1" dirty="0" err="1"/>
              <a:t>bilans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rast</a:t>
            </a:r>
            <a:endParaRPr lang="en-US" b="1" dirty="0"/>
          </a:p>
          <a:p>
            <a:pPr marL="0" lvl="1"/>
            <a:r>
              <a:rPr lang="en-US" dirty="0"/>
              <a:t>Neto </a:t>
            </a:r>
            <a:r>
              <a:rPr lang="en-US" dirty="0" err="1"/>
              <a:t>dobit</a:t>
            </a:r>
            <a:r>
              <a:rPr lang="en-US" dirty="0"/>
              <a:t> u </a:t>
            </a:r>
            <a:r>
              <a:rPr lang="en-US" dirty="0" err="1"/>
              <a:t>prvoj</a:t>
            </a:r>
            <a:r>
              <a:rPr lang="en-US" dirty="0"/>
              <a:t> </a:t>
            </a:r>
            <a:r>
              <a:rPr lang="en-US" dirty="0" err="1"/>
              <a:t>godini</a:t>
            </a:r>
            <a:r>
              <a:rPr lang="en-US" dirty="0"/>
              <a:t> → </a:t>
            </a:r>
            <a:r>
              <a:rPr lang="en-US" b="1" dirty="0"/>
              <a:t>+30.000 €</a:t>
            </a:r>
            <a:br>
              <a:rPr lang="en-US" dirty="0"/>
            </a:br>
            <a:r>
              <a:rPr lang="en-US" dirty="0" err="1"/>
              <a:t>Projekcija</a:t>
            </a:r>
            <a:r>
              <a:rPr lang="en-US" dirty="0"/>
              <a:t> </a:t>
            </a:r>
            <a:r>
              <a:rPr lang="en-US" dirty="0" err="1"/>
              <a:t>treće</a:t>
            </a:r>
            <a:r>
              <a:rPr lang="en-US" dirty="0"/>
              <a:t> </a:t>
            </a:r>
            <a:r>
              <a:rPr lang="en-US" dirty="0" err="1"/>
              <a:t>godine</a:t>
            </a:r>
            <a:r>
              <a:rPr lang="en-US" dirty="0"/>
              <a:t> → </a:t>
            </a:r>
            <a:r>
              <a:rPr lang="en-US" b="1" dirty="0"/>
              <a:t>+70.000–100.000 €</a:t>
            </a:r>
          </a:p>
          <a:p>
            <a:pPr marL="0" lvl="1"/>
            <a:endParaRPr lang="en-US" dirty="0"/>
          </a:p>
        </p:txBody>
      </p:sp>
      <p:pic>
        <p:nvPicPr>
          <p:cNvPr id="5" name="Čuvar mesta za sadržaj 4" descr="red od pet praznih kocki ispred kalkulatora">
            <a:extLst>
              <a:ext uri="{FF2B5EF4-FFF2-40B4-BE49-F238E27FC236}">
                <a16:creationId xmlns:a16="http://schemas.microsoft.com/office/drawing/2014/main" id="{683495C0-428B-4DCE-98F9-976E3C899F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5990" r="25964"/>
          <a:stretch>
            <a:fillRect/>
          </a:stretch>
        </p:blipFill>
        <p:spPr>
          <a:xfrm>
            <a:off x="7631546" y="1"/>
            <a:ext cx="456045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14019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63A5B27-437C-C621-4DF5-1CC2B78A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rmAutofit/>
          </a:bodyPr>
          <a:lstStyle/>
          <a:p>
            <a:r>
              <a:rPr lang="en-US" dirty="0"/>
              <a:t>Analiza </a:t>
            </a:r>
            <a:r>
              <a:rPr lang="en-US" dirty="0" err="1"/>
              <a:t>rizika</a:t>
            </a:r>
            <a:r>
              <a:rPr lang="en-US" dirty="0"/>
              <a:t>    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70EE30AB-2165-3115-9208-A8174AB63DAE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8" y="2651760"/>
            <a:ext cx="5483352" cy="352185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Tehnički</a:t>
            </a:r>
            <a:r>
              <a:rPr lang="en-US" b="1" dirty="0"/>
              <a:t> </a:t>
            </a:r>
            <a:r>
              <a:rPr lang="en-US" b="1" dirty="0" err="1"/>
              <a:t>rizici</a:t>
            </a:r>
            <a:r>
              <a:rPr lang="en-US" b="1" dirty="0"/>
              <a:t> –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skalabilnosti</a:t>
            </a:r>
            <a:r>
              <a:rPr lang="en-US" dirty="0"/>
              <a:t>, </a:t>
            </a:r>
            <a:r>
              <a:rPr lang="en-US" dirty="0" err="1"/>
              <a:t>sigurnost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online </a:t>
            </a:r>
            <a:r>
              <a:rPr lang="en-US" dirty="0" err="1"/>
              <a:t>plaćanja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Tržišni</a:t>
            </a:r>
            <a:r>
              <a:rPr lang="en-US" b="1" dirty="0"/>
              <a:t> </a:t>
            </a:r>
            <a:r>
              <a:rPr lang="en-US" b="1" dirty="0" err="1"/>
              <a:t>rizici</a:t>
            </a:r>
            <a:r>
              <a:rPr lang="en-US" b="1" dirty="0"/>
              <a:t> – </a:t>
            </a:r>
            <a:r>
              <a:rPr lang="en-US" dirty="0" err="1"/>
              <a:t>spora</a:t>
            </a:r>
            <a:r>
              <a:rPr lang="en-US" dirty="0"/>
              <a:t> </a:t>
            </a:r>
            <a:r>
              <a:rPr lang="en-US" dirty="0" err="1"/>
              <a:t>prihvaćenost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, </a:t>
            </a:r>
            <a:r>
              <a:rPr lang="en-US" dirty="0" err="1"/>
              <a:t>konkurencija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za </a:t>
            </a:r>
            <a:r>
              <a:rPr lang="en-US" dirty="0" err="1"/>
              <a:t>javni</a:t>
            </a:r>
            <a:r>
              <a:rPr lang="en-US" dirty="0"/>
              <a:t> parking.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Pravni</a:t>
            </a:r>
            <a:r>
              <a:rPr lang="en-US" b="1" dirty="0"/>
              <a:t> </a:t>
            </a:r>
            <a:r>
              <a:rPr lang="en-US" b="1" dirty="0" err="1"/>
              <a:t>rizici</a:t>
            </a:r>
            <a:r>
              <a:rPr lang="en-US" b="1" dirty="0"/>
              <a:t> - </a:t>
            </a:r>
            <a:r>
              <a:rPr lang="en-US" dirty="0" err="1"/>
              <a:t>regulativa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</a:t>
            </a:r>
            <a:r>
              <a:rPr lang="en-US" dirty="0" err="1"/>
              <a:t>korišćenja</a:t>
            </a:r>
            <a:r>
              <a:rPr lang="en-US" dirty="0"/>
              <a:t> </a:t>
            </a:r>
            <a:r>
              <a:rPr lang="en-US" dirty="0" err="1"/>
              <a:t>privatnih</a:t>
            </a:r>
            <a:r>
              <a:rPr lang="en-US" dirty="0"/>
              <a:t> </a:t>
            </a:r>
            <a:r>
              <a:rPr lang="en-US" dirty="0" err="1"/>
              <a:t>površina</a:t>
            </a:r>
            <a:r>
              <a:rPr lang="en-US" dirty="0"/>
              <a:t> za </a:t>
            </a:r>
            <a:r>
              <a:rPr lang="en-US" dirty="0" err="1"/>
              <a:t>komercijalne</a:t>
            </a:r>
            <a:r>
              <a:rPr lang="en-US" dirty="0"/>
              <a:t> </a:t>
            </a:r>
            <a:r>
              <a:rPr lang="en-US" dirty="0" err="1"/>
              <a:t>svrhe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Finansijski</a:t>
            </a:r>
            <a:r>
              <a:rPr lang="en-US" b="1" dirty="0"/>
              <a:t> </a:t>
            </a:r>
            <a:r>
              <a:rPr lang="en-US" b="1" dirty="0" err="1"/>
              <a:t>rizici</a:t>
            </a:r>
            <a:r>
              <a:rPr lang="en-US" b="1" dirty="0"/>
              <a:t> - </a:t>
            </a:r>
            <a:r>
              <a:rPr lang="en-US" dirty="0" err="1"/>
              <a:t>nedostatak</a:t>
            </a:r>
            <a:r>
              <a:rPr lang="en-US" dirty="0"/>
              <a:t> </a:t>
            </a:r>
            <a:r>
              <a:rPr lang="en-US" dirty="0" err="1"/>
              <a:t>investicija</a:t>
            </a:r>
            <a:r>
              <a:rPr lang="en-US" dirty="0"/>
              <a:t> u </a:t>
            </a:r>
            <a:r>
              <a:rPr lang="en-US" dirty="0" err="1"/>
              <a:t>ranoj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</a:t>
            </a:r>
            <a:r>
              <a:rPr lang="en-US" dirty="0" err="1"/>
              <a:t>troškovi</a:t>
            </a:r>
            <a:r>
              <a:rPr lang="en-US" dirty="0"/>
              <a:t> </a:t>
            </a:r>
            <a:r>
              <a:rPr lang="en-US" dirty="0" err="1"/>
              <a:t>marketinga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endParaRPr lang="en-US" b="1" dirty="0"/>
          </a:p>
        </p:txBody>
      </p:sp>
      <p:pic>
        <p:nvPicPr>
          <p:cNvPr id="5" name="Čuvar mesta za sadržaj 4" descr="Sažetak Digitalni koncept koji prikazuje optimizaciju mrežne bezbednosti i internet tehnologiju  ">
            <a:extLst>
              <a:ext uri="{FF2B5EF4-FFF2-40B4-BE49-F238E27FC236}">
                <a16:creationId xmlns:a16="http://schemas.microsoft.com/office/drawing/2014/main" id="{D74F29E5-4F46-4DC2-9BE2-3DE81C8B631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16753" r="16753"/>
          <a:stretch/>
        </p:blipFill>
        <p:spPr>
          <a:xfrm>
            <a:off x="6718022" y="685807"/>
            <a:ext cx="4864147" cy="54863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972489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6984860-8702-DE08-45F6-01921A8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rmAutofit/>
          </a:bodyPr>
          <a:lstStyle/>
          <a:p>
            <a:r>
              <a:rPr lang="en-US" sz="5000" err="1"/>
              <a:t>Organizacija</a:t>
            </a:r>
            <a:r>
              <a:rPr lang="en-US" sz="5000"/>
              <a:t> </a:t>
            </a:r>
            <a:r>
              <a:rPr lang="en-US" sz="5000" err="1"/>
              <a:t>tim</a:t>
            </a:r>
            <a:r>
              <a:rPr lang="sr-Latn-RS" sz="5000"/>
              <a:t>a</a:t>
            </a:r>
            <a:endParaRPr lang="en-US" sz="5000"/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CF223D20-ABDE-24A3-BD22-9B4504CE6A0A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3" y="2742645"/>
            <a:ext cx="6391247" cy="342955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CEO / Founder</a:t>
            </a:r>
            <a:r>
              <a:rPr lang="en-US" dirty="0"/>
              <a:t> – </a:t>
            </a:r>
            <a:r>
              <a:rPr lang="en-US" dirty="0" err="1"/>
              <a:t>vizija</a:t>
            </a:r>
            <a:r>
              <a:rPr lang="en-US" dirty="0"/>
              <a:t>, </a:t>
            </a:r>
            <a:r>
              <a:rPr lang="en-US" dirty="0" err="1"/>
              <a:t>strategija</a:t>
            </a:r>
            <a:r>
              <a:rPr lang="en-US" dirty="0"/>
              <a:t>, </a:t>
            </a:r>
            <a:r>
              <a:rPr lang="en-US" dirty="0" err="1"/>
              <a:t>partnerstva</a:t>
            </a:r>
            <a:r>
              <a:rPr lang="en-US" dirty="0"/>
              <a:t>, </a:t>
            </a:r>
            <a:r>
              <a:rPr lang="en-US" dirty="0" err="1"/>
              <a:t>investitori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CTO</a:t>
            </a:r>
            <a:r>
              <a:rPr lang="en-US" dirty="0"/>
              <a:t> – </a:t>
            </a:r>
            <a:r>
              <a:rPr lang="en-US" dirty="0" err="1"/>
              <a:t>vodi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koordinira</a:t>
            </a:r>
            <a:r>
              <a:rPr lang="en-US" dirty="0"/>
              <a:t> rad </a:t>
            </a:r>
            <a:r>
              <a:rPr lang="en-US" dirty="0" err="1"/>
              <a:t>developera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Backend </a:t>
            </a:r>
            <a:r>
              <a:rPr lang="en-US" b="1" dirty="0" err="1"/>
              <a:t>tim</a:t>
            </a:r>
            <a:r>
              <a:rPr lang="en-US" dirty="0"/>
              <a:t> – server-side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plaćanja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Frontend </a:t>
            </a:r>
            <a:r>
              <a:rPr lang="en-US" b="1" dirty="0" err="1"/>
              <a:t>tim</a:t>
            </a:r>
            <a:r>
              <a:rPr lang="en-US" dirty="0"/>
              <a:t> – </a:t>
            </a:r>
            <a:r>
              <a:rPr lang="en-US" dirty="0" err="1"/>
              <a:t>korisnički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responsive </a:t>
            </a:r>
            <a:r>
              <a:rPr lang="en-US" dirty="0" err="1"/>
              <a:t>dizajn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Marketing manager</a:t>
            </a:r>
            <a:r>
              <a:rPr lang="en-US" dirty="0"/>
              <a:t> – </a:t>
            </a:r>
            <a:r>
              <a:rPr lang="en-US" dirty="0" err="1"/>
              <a:t>digitalne</a:t>
            </a:r>
            <a:r>
              <a:rPr lang="en-US" dirty="0"/>
              <a:t> </a:t>
            </a:r>
            <a:r>
              <a:rPr lang="en-US" dirty="0" err="1"/>
              <a:t>kampanje</a:t>
            </a:r>
            <a:r>
              <a:rPr lang="en-US" dirty="0"/>
              <a:t>, </a:t>
            </a:r>
            <a:r>
              <a:rPr lang="en-US" dirty="0" err="1"/>
              <a:t>odnosi</a:t>
            </a:r>
            <a:r>
              <a:rPr lang="en-US" dirty="0"/>
              <a:t> s </a:t>
            </a:r>
            <a:r>
              <a:rPr lang="en-US" dirty="0" err="1"/>
              <a:t>javnošću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support</a:t>
            </a:r>
            <a:r>
              <a:rPr lang="en-US" dirty="0"/>
              <a:t> –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pomoć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👉 </a:t>
            </a:r>
            <a:r>
              <a:rPr lang="en-US" b="1" dirty="0"/>
              <a:t>Pilot </a:t>
            </a:r>
            <a:r>
              <a:rPr lang="en-US" b="1" dirty="0" err="1"/>
              <a:t>faza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čini</a:t>
            </a:r>
            <a:r>
              <a:rPr lang="en-US" dirty="0"/>
              <a:t> 5–6 </a:t>
            </a:r>
            <a:r>
              <a:rPr lang="en-US" dirty="0" err="1"/>
              <a:t>članova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 err="1"/>
              <a:t>Širenje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dodavanje</a:t>
            </a:r>
            <a:r>
              <a:rPr lang="en-US" dirty="0"/>
              <a:t> </a:t>
            </a:r>
            <a:r>
              <a:rPr lang="en-US" dirty="0" err="1"/>
              <a:t>pravnih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administrativnih</a:t>
            </a:r>
            <a:r>
              <a:rPr lang="en-US" dirty="0"/>
              <a:t> </a:t>
            </a:r>
            <a:r>
              <a:rPr lang="en-US" dirty="0" err="1"/>
              <a:t>stručnjaka</a:t>
            </a:r>
            <a:r>
              <a:rPr lang="en-US" dirty="0"/>
              <a:t> u </a:t>
            </a:r>
            <a:r>
              <a:rPr lang="en-US" dirty="0" err="1"/>
              <a:t>kasnijim</a:t>
            </a:r>
            <a:r>
              <a:rPr lang="en-US" dirty="0"/>
              <a:t> </a:t>
            </a:r>
            <a:r>
              <a:rPr lang="en-US" dirty="0" err="1"/>
              <a:t>fazama</a:t>
            </a:r>
            <a:endParaRPr lang="en-US" dirty="0"/>
          </a:p>
        </p:txBody>
      </p:sp>
      <p:pic>
        <p:nvPicPr>
          <p:cNvPr id="5" name="Čuvar mesta za sadržaj 4" descr="Dva studenta studiraju zajedno koristeći tehnologiju">
            <a:extLst>
              <a:ext uri="{FF2B5EF4-FFF2-40B4-BE49-F238E27FC236}">
                <a16:creationId xmlns:a16="http://schemas.microsoft.com/office/drawing/2014/main" id="{722C8046-294A-4D78-9129-62C4564E12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556" r="49055" b="-2"/>
          <a:stretch>
            <a:fillRect/>
          </a:stretch>
        </p:blipFill>
        <p:spPr>
          <a:xfrm>
            <a:off x="7631546" y="1"/>
            <a:ext cx="456045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30252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3E4D42D-5AFA-9EB5-FCDE-573424DE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rmAutofit/>
          </a:bodyPr>
          <a:lstStyle/>
          <a:p>
            <a:r>
              <a:rPr lang="en-US" dirty="0"/>
              <a:t>Plan </a:t>
            </a:r>
            <a:r>
              <a:rPr lang="en-US" dirty="0" err="1"/>
              <a:t>razvoja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2F28D3-930C-DE9C-18B0-D7B5C56EF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73903"/>
            <a:ext cx="5074920" cy="559834"/>
          </a:xfrm>
        </p:spPr>
        <p:txBody>
          <a:bodyPr/>
          <a:lstStyle/>
          <a:p>
            <a:r>
              <a:rPr lang="sr-Latn-RS" dirty="0"/>
              <a:t>Plan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93EB69A-4C79-AACF-87AA-9B2F99A33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74" y="1878566"/>
            <a:ext cx="5075556" cy="559834"/>
          </a:xfrm>
        </p:spPr>
        <p:txBody>
          <a:bodyPr/>
          <a:lstStyle/>
          <a:p>
            <a:r>
              <a:rPr lang="en-US" dirty="0"/>
              <a:t>Gantov </a:t>
            </a:r>
            <a:r>
              <a:rPr lang="en-US" dirty="0" err="1"/>
              <a:t>dijagram</a:t>
            </a:r>
            <a:endParaRPr lang="en-US" dirty="0"/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C87D9445-85AC-652F-E003-1707D96EB213}"/>
              </a:ext>
            </a:extLst>
          </p:cNvPr>
          <p:cNvSpPr>
            <a:spLocks noGrp="1"/>
          </p:cNvSpPr>
          <p:nvPr>
            <p:ph sz="quarter" idx="15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" y="2514600"/>
            <a:ext cx="5075238" cy="365918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1200" b="1" dirty="0"/>
              <a:t>Analiza </a:t>
            </a:r>
            <a:r>
              <a:rPr lang="en-US" sz="1200" b="1" dirty="0" err="1"/>
              <a:t>i</a:t>
            </a:r>
            <a:r>
              <a:rPr lang="en-US" sz="1200" b="1" dirty="0"/>
              <a:t> </a:t>
            </a:r>
            <a:r>
              <a:rPr lang="en-US" sz="1200" b="1" dirty="0" err="1"/>
              <a:t>planiranje</a:t>
            </a:r>
            <a:r>
              <a:rPr lang="en-US" sz="1200" b="1" dirty="0"/>
              <a:t> </a:t>
            </a:r>
            <a:r>
              <a:rPr lang="en-US" sz="1200" b="1" dirty="0" err="1"/>
              <a:t>zahtjeva</a:t>
            </a:r>
            <a:r>
              <a:rPr lang="en-US" sz="1200" b="1" dirty="0"/>
              <a:t> - </a:t>
            </a:r>
            <a:r>
              <a:rPr lang="en-US" sz="1200" dirty="0" err="1"/>
              <a:t>definisanje</a:t>
            </a:r>
            <a:r>
              <a:rPr lang="en-US" sz="1200" dirty="0"/>
              <a:t> </a:t>
            </a:r>
            <a:r>
              <a:rPr lang="en-US" sz="1200" dirty="0" err="1"/>
              <a:t>funkcionalnosti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tehničkih</a:t>
            </a:r>
            <a:r>
              <a:rPr lang="en-US" sz="1200" dirty="0"/>
              <a:t> </a:t>
            </a:r>
            <a:r>
              <a:rPr lang="en-US" sz="1200" dirty="0" err="1"/>
              <a:t>zahtjeva</a:t>
            </a:r>
            <a:r>
              <a:rPr lang="en-US" sz="1200" dirty="0"/>
              <a:t>.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sz="1200" b="1" dirty="0" err="1"/>
              <a:t>Dizajn</a:t>
            </a:r>
            <a:r>
              <a:rPr lang="en-US" sz="1200" b="1" dirty="0"/>
              <a:t> </a:t>
            </a:r>
            <a:r>
              <a:rPr lang="en-US" sz="1200" b="1" dirty="0" err="1"/>
              <a:t>korisničkog</a:t>
            </a:r>
            <a:r>
              <a:rPr lang="en-US" sz="1200" b="1" dirty="0"/>
              <a:t> </a:t>
            </a:r>
            <a:r>
              <a:rPr lang="en-US" sz="1200" b="1" dirty="0" err="1"/>
              <a:t>sučelja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en-US" sz="1200" dirty="0" err="1"/>
              <a:t>prototipovi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makete</a:t>
            </a:r>
            <a:r>
              <a:rPr lang="en-US" sz="1200" dirty="0"/>
              <a:t> u Figma </a:t>
            </a:r>
            <a:r>
              <a:rPr lang="en-US" sz="1200" dirty="0" err="1"/>
              <a:t>alatu</a:t>
            </a:r>
            <a:r>
              <a:rPr lang="en-US" sz="1200" dirty="0"/>
              <a:t>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1200" b="1" dirty="0" err="1"/>
              <a:t>Razvoj</a:t>
            </a:r>
            <a:r>
              <a:rPr lang="en-US" sz="1200" b="1" dirty="0"/>
              <a:t> backend </a:t>
            </a:r>
            <a:r>
              <a:rPr lang="en-US" sz="1200" b="1" dirty="0" err="1"/>
              <a:t>i</a:t>
            </a:r>
            <a:r>
              <a:rPr lang="en-US" sz="1200" b="1" dirty="0"/>
              <a:t> frontend </a:t>
            </a:r>
            <a:r>
              <a:rPr lang="en-US" sz="1200" b="1" dirty="0" err="1"/>
              <a:t>dijela</a:t>
            </a:r>
            <a:r>
              <a:rPr lang="en-US" sz="1200" b="1" dirty="0"/>
              <a:t> - </a:t>
            </a:r>
            <a:r>
              <a:rPr lang="en-US" sz="1200" dirty="0" err="1"/>
              <a:t>implementacija</a:t>
            </a:r>
            <a:r>
              <a:rPr lang="en-US" sz="1200" dirty="0"/>
              <a:t> </a:t>
            </a:r>
            <a:r>
              <a:rPr lang="en-US" sz="1200" dirty="0" err="1"/>
              <a:t>glavnih</a:t>
            </a:r>
            <a:r>
              <a:rPr lang="en-US" sz="1200" dirty="0"/>
              <a:t> </a:t>
            </a:r>
            <a:r>
              <a:rPr lang="en-US" sz="1200" dirty="0" err="1"/>
              <a:t>funkcionalnosti</a:t>
            </a:r>
            <a:r>
              <a:rPr lang="en-US" sz="1200" dirty="0"/>
              <a:t>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1200" b="1" dirty="0" err="1"/>
              <a:t>Integracija</a:t>
            </a:r>
            <a:r>
              <a:rPr lang="en-US" sz="1200" b="1" dirty="0"/>
              <a:t> </a:t>
            </a:r>
            <a:r>
              <a:rPr lang="en-US" sz="1200" b="1" dirty="0" err="1"/>
              <a:t>plaćanja</a:t>
            </a:r>
            <a:r>
              <a:rPr lang="en-US" sz="1200" b="1" dirty="0"/>
              <a:t> </a:t>
            </a:r>
            <a:r>
              <a:rPr lang="en-US" sz="1200" b="1" dirty="0" err="1"/>
              <a:t>i</a:t>
            </a:r>
            <a:r>
              <a:rPr lang="en-US" sz="1200" b="1" dirty="0"/>
              <a:t> </a:t>
            </a:r>
            <a:r>
              <a:rPr lang="en-US" sz="1200" b="1" dirty="0" err="1"/>
              <a:t>sigurnosnih</a:t>
            </a:r>
            <a:r>
              <a:rPr lang="en-US" sz="1200" b="1" dirty="0"/>
              <a:t> </a:t>
            </a:r>
            <a:r>
              <a:rPr lang="en-US" sz="1200" b="1" dirty="0" err="1"/>
              <a:t>mehanizama</a:t>
            </a:r>
            <a:r>
              <a:rPr lang="en-US" sz="1200" b="1" dirty="0"/>
              <a:t> - </a:t>
            </a:r>
            <a:r>
              <a:rPr lang="en-US" sz="1200" dirty="0" err="1"/>
              <a:t>kartice</a:t>
            </a:r>
            <a:r>
              <a:rPr lang="en-US" sz="1200" dirty="0"/>
              <a:t>, SMS, PayPal.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sz="1200" b="1" dirty="0" err="1"/>
              <a:t>Testiranje</a:t>
            </a:r>
            <a:r>
              <a:rPr lang="en-US" sz="1200" b="1" dirty="0"/>
              <a:t> </a:t>
            </a:r>
            <a:r>
              <a:rPr lang="en-US" sz="1200" b="1" dirty="0" err="1"/>
              <a:t>i</a:t>
            </a:r>
            <a:r>
              <a:rPr lang="en-US" sz="1200" b="1" dirty="0"/>
              <a:t> </a:t>
            </a:r>
            <a:r>
              <a:rPr lang="en-US" sz="1200" b="1" dirty="0" err="1"/>
              <a:t>kontrola</a:t>
            </a:r>
            <a:r>
              <a:rPr lang="en-US" sz="1200" b="1" dirty="0"/>
              <a:t> </a:t>
            </a:r>
            <a:r>
              <a:rPr lang="en-US" sz="1200" b="1" dirty="0" err="1"/>
              <a:t>kvaliteta</a:t>
            </a:r>
            <a:r>
              <a:rPr lang="en-US" sz="1200" b="1" dirty="0"/>
              <a:t> </a:t>
            </a:r>
            <a:r>
              <a:rPr lang="en-US" sz="1200" dirty="0"/>
              <a:t>- unit, integration, system </a:t>
            </a:r>
            <a:r>
              <a:rPr lang="en-US" sz="1200" dirty="0" err="1"/>
              <a:t>i</a:t>
            </a:r>
            <a:r>
              <a:rPr lang="en-US" sz="1200" dirty="0"/>
              <a:t> acceptance </a:t>
            </a:r>
            <a:r>
              <a:rPr lang="en-US" sz="1200" dirty="0" err="1"/>
              <a:t>testovi</a:t>
            </a:r>
            <a:r>
              <a:rPr lang="en-US" sz="1200" dirty="0"/>
              <a:t>.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sz="1200" b="1" dirty="0" err="1"/>
              <a:t>Lansiranje</a:t>
            </a:r>
            <a:r>
              <a:rPr lang="en-US" sz="1200" b="1" dirty="0"/>
              <a:t> pilot </a:t>
            </a:r>
            <a:r>
              <a:rPr lang="en-US" sz="1200" b="1" dirty="0" err="1"/>
              <a:t>verzije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en-US" sz="1200" dirty="0" err="1"/>
              <a:t>početak</a:t>
            </a:r>
            <a:r>
              <a:rPr lang="en-US" sz="1200" dirty="0"/>
              <a:t> u </a:t>
            </a:r>
            <a:r>
              <a:rPr lang="en-US" sz="1200"/>
              <a:t>Beogradu.</a:t>
            </a:r>
            <a:endParaRPr lang="en-US" sz="1200" dirty="0"/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  <a:p>
            <a:pPr marL="0" lvl="1" indent="0">
              <a:lnSpc>
                <a:spcPct val="90000"/>
              </a:lnSpc>
              <a:buNone/>
            </a:pPr>
            <a:r>
              <a:rPr lang="en-US" sz="1200" b="1" dirty="0" err="1"/>
              <a:t>Prikupljanje</a:t>
            </a:r>
            <a:r>
              <a:rPr lang="en-US" sz="1200" b="1" dirty="0"/>
              <a:t> feedback-a </a:t>
            </a:r>
            <a:r>
              <a:rPr lang="en-US" sz="1200" b="1" dirty="0" err="1"/>
              <a:t>i</a:t>
            </a:r>
            <a:r>
              <a:rPr lang="en-US" sz="1200" b="1" dirty="0"/>
              <a:t> </a:t>
            </a:r>
            <a:r>
              <a:rPr lang="en-US" sz="1200" b="1" dirty="0" err="1"/>
              <a:t>unapređenja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en-US" sz="1200" dirty="0" err="1"/>
              <a:t>stalni</a:t>
            </a:r>
            <a:r>
              <a:rPr lang="en-US" sz="1200" dirty="0"/>
              <a:t> </a:t>
            </a:r>
            <a:r>
              <a:rPr lang="en-US" sz="1200" dirty="0" err="1"/>
              <a:t>proces</a:t>
            </a:r>
            <a:r>
              <a:rPr lang="en-US" sz="1200" dirty="0"/>
              <a:t>.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1200" dirty="0"/>
          </a:p>
        </p:txBody>
      </p:sp>
      <p:pic>
        <p:nvPicPr>
          <p:cNvPr id="7" name="Čuvar mesta za sadržaj 6" descr="Slika na kojoj se nalazi tekst, snimak ekrana, Font, broj&#10;&#10;Sadržaj generisan AI-jem može biti netačan.">
            <a:extLst>
              <a:ext uri="{FF2B5EF4-FFF2-40B4-BE49-F238E27FC236}">
                <a16:creationId xmlns:a16="http://schemas.microsoft.com/office/drawing/2014/main" id="{C2873290-A0E2-033A-9336-F6A5625CBF9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30" y="2968491"/>
            <a:ext cx="5567442" cy="2527919"/>
          </a:xfrm>
        </p:spPr>
      </p:pic>
    </p:spTree>
    <p:extLst>
      <p:ext uri="{BB962C8B-B14F-4D97-AF65-F5344CB8AC3E}">
        <p14:creationId xmlns:p14="http://schemas.microsoft.com/office/powerpoint/2010/main" val="137301918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246E12-4AEB-C292-0AD4-897B9BD5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rmAutofit/>
          </a:bodyPr>
          <a:lstStyle/>
          <a:p>
            <a:r>
              <a:rPr lang="en-US" sz="4600" dirty="0" err="1"/>
              <a:t>Kontrola</a:t>
            </a:r>
            <a:r>
              <a:rPr lang="en-US" sz="4600" dirty="0"/>
              <a:t> </a:t>
            </a:r>
            <a:r>
              <a:rPr lang="en-US" sz="4600" dirty="0" err="1"/>
              <a:t>kvaliteta</a:t>
            </a:r>
            <a:r>
              <a:rPr lang="en-US" sz="4600" dirty="0"/>
              <a:t> </a:t>
            </a:r>
            <a:r>
              <a:rPr lang="en-US" sz="4600" dirty="0" err="1"/>
              <a:t>i</a:t>
            </a:r>
            <a:r>
              <a:rPr lang="en-US" sz="4600" dirty="0"/>
              <a:t> </a:t>
            </a:r>
            <a:r>
              <a:rPr lang="en-US" sz="4600" dirty="0" err="1"/>
              <a:t>testiranje</a:t>
            </a:r>
            <a:endParaRPr lang="en-US" sz="4600" dirty="0"/>
          </a:p>
        </p:txBody>
      </p:sp>
      <p:pic>
        <p:nvPicPr>
          <p:cNvPr id="5" name="Čuvar mesta za sadržaj 4" descr="3D ilustracija">
            <a:extLst>
              <a:ext uri="{FF2B5EF4-FFF2-40B4-BE49-F238E27FC236}">
                <a16:creationId xmlns:a16="http://schemas.microsoft.com/office/drawing/2014/main" id="{2B8C779D-8A7E-4AAE-95A7-B652D41565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5411" r="18091"/>
          <a:stretch>
            <a:fillRect/>
          </a:stretch>
        </p:blipFill>
        <p:spPr>
          <a:xfrm>
            <a:off x="20" y="1"/>
            <a:ext cx="4560434" cy="685800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C7E3CD0F-A228-7EF6-2CCC-3410132032E8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80729" y="2743204"/>
            <a:ext cx="6395573" cy="34289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Strategija</a:t>
            </a:r>
            <a:r>
              <a:rPr lang="en-US" b="1" dirty="0"/>
              <a:t> </a:t>
            </a:r>
            <a:r>
              <a:rPr lang="en-US" b="1" dirty="0" err="1"/>
              <a:t>testiranja</a:t>
            </a:r>
            <a:r>
              <a:rPr lang="en-US" b="1" dirty="0"/>
              <a:t> - </a:t>
            </a:r>
            <a:r>
              <a:rPr lang="en-US" dirty="0" err="1"/>
              <a:t>kombinacija</a:t>
            </a:r>
            <a:r>
              <a:rPr lang="en-US" dirty="0"/>
              <a:t> </a:t>
            </a:r>
            <a:r>
              <a:rPr lang="en-US" dirty="0" err="1"/>
              <a:t>manuelnog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automatizovanog</a:t>
            </a:r>
            <a:r>
              <a:rPr lang="en-US" dirty="0"/>
              <a:t> </a:t>
            </a:r>
            <a:r>
              <a:rPr lang="en-US" dirty="0" err="1"/>
              <a:t>testiranja</a:t>
            </a:r>
            <a:r>
              <a:rPr lang="en-US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 err="1"/>
              <a:t>Tipovi</a:t>
            </a:r>
            <a:r>
              <a:rPr lang="en-US" b="1" dirty="0"/>
              <a:t> </a:t>
            </a:r>
            <a:r>
              <a:rPr lang="en-US" b="1" dirty="0" err="1"/>
              <a:t>testova</a:t>
            </a:r>
            <a:r>
              <a:rPr lang="en-US" b="1" dirty="0"/>
              <a:t> - </a:t>
            </a:r>
            <a:r>
              <a:rPr lang="en-US" dirty="0"/>
              <a:t>unit, integration, system, acceptance, security, performance.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Alati za </a:t>
            </a:r>
            <a:r>
              <a:rPr lang="en-US" b="1" dirty="0" err="1"/>
              <a:t>testiranje</a:t>
            </a:r>
            <a:r>
              <a:rPr lang="en-US" b="1" dirty="0"/>
              <a:t> - </a:t>
            </a:r>
            <a:r>
              <a:rPr lang="en-US" dirty="0"/>
              <a:t>Postman (API), Selenium (UI </a:t>
            </a:r>
            <a:r>
              <a:rPr lang="en-US" dirty="0" err="1"/>
              <a:t>testovi</a:t>
            </a:r>
            <a:r>
              <a:rPr lang="en-US" dirty="0"/>
              <a:t>), JMeter (</a:t>
            </a:r>
            <a:r>
              <a:rPr lang="en-US" dirty="0" err="1"/>
              <a:t>performanse</a:t>
            </a:r>
            <a:r>
              <a:rPr lang="en-US" dirty="0"/>
              <a:t>).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Pilot </a:t>
            </a:r>
            <a:r>
              <a:rPr lang="en-US" b="1" dirty="0" err="1"/>
              <a:t>faza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korisničko</a:t>
            </a:r>
            <a:r>
              <a:rPr lang="en-US" b="1" dirty="0"/>
              <a:t> </a:t>
            </a:r>
            <a:r>
              <a:rPr lang="en-US" b="1" dirty="0" err="1"/>
              <a:t>testiranje</a:t>
            </a:r>
            <a:r>
              <a:rPr lang="en-US" b="1" dirty="0"/>
              <a:t> -</a:t>
            </a:r>
            <a:r>
              <a:rPr lang="en-US" dirty="0"/>
              <a:t> </a:t>
            </a:r>
            <a:r>
              <a:rPr lang="en-US" dirty="0" err="1"/>
              <a:t>korisnici</a:t>
            </a:r>
            <a:r>
              <a:rPr lang="en-US" dirty="0"/>
              <a:t> u </a:t>
            </a:r>
            <a:r>
              <a:rPr lang="en-US" dirty="0" err="1"/>
              <a:t>Novom</a:t>
            </a:r>
            <a:r>
              <a:rPr lang="en-US" dirty="0"/>
              <a:t> Sadu </a:t>
            </a:r>
            <a:r>
              <a:rPr lang="en-US" dirty="0" err="1"/>
              <a:t>učestvuju</a:t>
            </a:r>
            <a:r>
              <a:rPr lang="en-US" dirty="0"/>
              <a:t> u acceptance </a:t>
            </a:r>
            <a:r>
              <a:rPr lang="en-US" dirty="0" err="1"/>
              <a:t>testiranju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daju</a:t>
            </a:r>
            <a:r>
              <a:rPr lang="en-US" dirty="0"/>
              <a:t> </a:t>
            </a:r>
            <a:r>
              <a:rPr lang="en-US" dirty="0" err="1"/>
              <a:t>povratne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9239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D31F1C-5BBC-8DC6-2FC6-58AC1901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rmAutofit/>
          </a:bodyPr>
          <a:lstStyle/>
          <a:p>
            <a:r>
              <a:rPr lang="en-US" dirty="0" err="1"/>
              <a:t>Vizija</a:t>
            </a:r>
            <a:r>
              <a:rPr lang="en-US" dirty="0"/>
              <a:t>: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2D01DF1D-A57E-BC2B-D0BE-0A96B55A453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3" y="2742645"/>
            <a:ext cx="6391247" cy="342955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/>
              <a:t>Vodeća platforma za dijeljenje parkinga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200"/>
              <a:t>Cilj je razviti inovativnu platformu za dijeljenje privatnih parking mjesta unutar regije, olakšavajući pristup parkiranju.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/>
              <a:t>Smanjenje prometnih gužvi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200"/>
              <a:t>Dijeljenjem parkinga doprinosi se smanjenju prometnih gužvi i učinkovitijem prometnom prometu u urbanim područjima.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/>
              <a:t>Smanjenje emisije CO2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200"/>
              <a:t>Promicanjem dijeljenja parkinga smanjuje se emisija ugljičnog dioksida i zagađenje zraka u gradovima.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/>
              <a:t>Održivi urbani život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200"/>
              <a:t>Platforma podržava održiv i pametan urbani život smanjenjem zagađenja i povećanjem učinkovitosti korištenja prostora.</a:t>
            </a:r>
          </a:p>
        </p:txBody>
      </p:sp>
      <p:pic>
        <p:nvPicPr>
          <p:cNvPr id="5" name="Čuvar mesta za sadržaj 4" descr="Pogled iz zraka na redove novih automobila">
            <a:extLst>
              <a:ext uri="{FF2B5EF4-FFF2-40B4-BE49-F238E27FC236}">
                <a16:creationId xmlns:a16="http://schemas.microsoft.com/office/drawing/2014/main" id="{5E73A072-C5FA-4A74-9463-1193332911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0736" r="25874" b="1"/>
          <a:stretch>
            <a:fillRect/>
          </a:stretch>
        </p:blipFill>
        <p:spPr>
          <a:xfrm>
            <a:off x="7631546" y="1"/>
            <a:ext cx="456045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47800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4837AD3-9F16-CB6D-9805-DFF5DE95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US" dirty="0" err="1"/>
              <a:t>Zaključak</a:t>
            </a:r>
            <a:endParaRPr lang="en-US" dirty="0"/>
          </a:p>
        </p:txBody>
      </p:sp>
      <p:graphicFrame>
        <p:nvGraphicFramePr>
          <p:cNvPr id="7" name="Čuvar mesta za sadržaj 2">
            <a:extLst>
              <a:ext uri="{FF2B5EF4-FFF2-40B4-BE49-F238E27FC236}">
                <a16:creationId xmlns:a16="http://schemas.microsoft.com/office/drawing/2014/main" id="{D67EFCF8-00F3-4F36-E82B-319C4B04930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12775" y="3429000"/>
          <a:ext cx="10972800" cy="2743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208505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1621</Words>
  <Application>Microsoft Office PowerPoint</Application>
  <PresentationFormat>Široki ekran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Korišćeni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7" baseType="lpstr">
      <vt:lpstr>Aptos</vt:lpstr>
      <vt:lpstr>Arial</vt:lpstr>
      <vt:lpstr>Bahnschrift SemiLight</vt:lpstr>
      <vt:lpstr>Blockwork elegance</vt:lpstr>
      <vt:lpstr>PowerPoint prezentacija</vt:lpstr>
      <vt:lpstr>Problem: Nedostatak parkinga u urbanim sredinama</vt:lpstr>
      <vt:lpstr>Rješenje: Web platforma za dijeljenje privatnih parking mjesta</vt:lpstr>
      <vt:lpstr>Tržište i potencijal:</vt:lpstr>
      <vt:lpstr>Biznis model</vt:lpstr>
      <vt:lpstr>Marketinška strategija</vt:lpstr>
      <vt:lpstr>Pregled finansijskih projekcija</vt:lpstr>
      <vt:lpstr>Analiza rizika    </vt:lpstr>
      <vt:lpstr>Organizacija tima</vt:lpstr>
      <vt:lpstr>Plan razvoja proizvoda</vt:lpstr>
      <vt:lpstr>Kontrola kvaliteta i testiranje</vt:lpstr>
      <vt:lpstr>Vizija: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46</cp:revision>
  <dcterms:created xsi:type="dcterms:W3CDTF">2025-09-16T14:45:39Z</dcterms:created>
  <dcterms:modified xsi:type="dcterms:W3CDTF">2025-10-06T13:04:25Z</dcterms:modified>
</cp:coreProperties>
</file>