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1" r:id="rId2"/>
    <p:sldId id="2563" r:id="rId3"/>
    <p:sldId id="2564" r:id="rId4"/>
    <p:sldId id="2565" r:id="rId5"/>
    <p:sldId id="2566" r:id="rId6"/>
    <p:sldId id="2567" r:id="rId7"/>
    <p:sldId id="2568" r:id="rId8"/>
    <p:sldId id="256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arkSmart: Pametno rješenje za privatni parking u urbanim sredinama" id="{95963474-14E3-48AD-9A49-3F1DBFBA2EE9}">
          <p14:sldIdLst>
            <p14:sldId id="2561"/>
            <p14:sldId id="2563"/>
            <p14:sldId id="2564"/>
            <p14:sldId id="2565"/>
            <p14:sldId id="2566"/>
            <p14:sldId id="2567"/>
            <p14:sldId id="2568"/>
          </p14:sldIdLst>
        </p14:section>
        <p14:section name="Zaključak" id="{6B6734CF-6559-49DF-8E51-5BB17DCF1BB6}">
          <p14:sldIdLst>
            <p14:sldId id="25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9D393D-FA1A-434B-B85D-034C4FB09D93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1888FB1-3954-43AC-8E83-DC76E839C14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 dirty="0" err="1"/>
            <a:t>Pametno</a:t>
          </a:r>
          <a:r>
            <a:rPr lang="en-US" b="0" i="0" dirty="0"/>
            <a:t> </a:t>
          </a:r>
          <a:r>
            <a:rPr lang="en-US" b="0" i="0" dirty="0" err="1"/>
            <a:t>rješenje</a:t>
          </a:r>
          <a:r>
            <a:rPr lang="en-US" b="0" i="0" dirty="0"/>
            <a:t> za </a:t>
          </a:r>
          <a:r>
            <a:rPr lang="en-US" b="0" i="0" dirty="0" err="1"/>
            <a:t>parkiranje</a:t>
          </a:r>
          <a:endParaRPr lang="en-US" dirty="0"/>
        </a:p>
      </dgm:t>
    </dgm:pt>
    <dgm:pt modelId="{967B62F3-60D9-436A-8521-805DD37088C5}" type="parTrans" cxnId="{25F4360D-5831-4417-A11E-8CD5B1051F36}">
      <dgm:prSet/>
      <dgm:spPr/>
      <dgm:t>
        <a:bodyPr/>
        <a:lstStyle/>
        <a:p>
          <a:endParaRPr lang="en-US"/>
        </a:p>
      </dgm:t>
    </dgm:pt>
    <dgm:pt modelId="{D79F1DFB-08D6-43DB-87F8-E9DB24CDA9D4}" type="sibTrans" cxnId="{25F4360D-5831-4417-A11E-8CD5B1051F36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B2C143AD-C4A3-42EF-BA99-C9E7D89F18A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dirty="0" err="1"/>
            <a:t>ParkSmart</a:t>
          </a:r>
          <a:r>
            <a:rPr lang="en-US" b="0" i="0" dirty="0"/>
            <a:t> </a:t>
          </a:r>
          <a:r>
            <a:rPr lang="en-US" b="0" i="0" dirty="0" err="1"/>
            <a:t>koristi</a:t>
          </a:r>
          <a:r>
            <a:rPr lang="en-US" b="0" i="0" dirty="0"/>
            <a:t> </a:t>
          </a:r>
          <a:r>
            <a:rPr lang="en-US" b="0" i="0" dirty="0" err="1"/>
            <a:t>inovativne</a:t>
          </a:r>
          <a:r>
            <a:rPr lang="en-US" b="0" i="0" dirty="0"/>
            <a:t> </a:t>
          </a:r>
          <a:r>
            <a:rPr lang="en-US" b="0" i="0" dirty="0" err="1"/>
            <a:t>tehnologije</a:t>
          </a:r>
          <a:r>
            <a:rPr lang="en-US" b="0" i="0" dirty="0"/>
            <a:t> </a:t>
          </a:r>
          <a:r>
            <a:rPr lang="en-US" b="0" i="0" dirty="0" err="1"/>
            <a:t>kako</a:t>
          </a:r>
          <a:r>
            <a:rPr lang="en-US" b="0" i="0" dirty="0"/>
            <a:t> bi </a:t>
          </a:r>
          <a:r>
            <a:rPr lang="en-US" b="0" i="0" dirty="0" err="1"/>
            <a:t>olakšao</a:t>
          </a:r>
          <a:r>
            <a:rPr lang="en-US" b="0" i="0" dirty="0"/>
            <a:t> </a:t>
          </a:r>
          <a:r>
            <a:rPr lang="en-US" b="0" i="0" dirty="0" err="1"/>
            <a:t>pronalaženje</a:t>
          </a:r>
          <a:r>
            <a:rPr lang="en-US" b="0" i="0" dirty="0"/>
            <a:t> </a:t>
          </a:r>
          <a:r>
            <a:rPr lang="en-US" b="0" i="0" dirty="0" err="1"/>
            <a:t>parkirnog</a:t>
          </a:r>
          <a:r>
            <a:rPr lang="en-US" b="0" i="0" dirty="0"/>
            <a:t> </a:t>
          </a:r>
          <a:r>
            <a:rPr lang="en-US" b="0" i="0" dirty="0" err="1"/>
            <a:t>mjesta</a:t>
          </a:r>
          <a:r>
            <a:rPr lang="en-US" b="0" i="0" dirty="0"/>
            <a:t> u </a:t>
          </a:r>
          <a:r>
            <a:rPr lang="en-US" b="0" i="0" dirty="0" err="1"/>
            <a:t>gradu</a:t>
          </a:r>
          <a:r>
            <a:rPr lang="en-US" b="0" i="0" dirty="0"/>
            <a:t>.</a:t>
          </a:r>
          <a:endParaRPr lang="en-US" dirty="0"/>
        </a:p>
      </dgm:t>
    </dgm:pt>
    <dgm:pt modelId="{1270D4FA-C14A-4766-9C25-95CAB89B4B30}" type="parTrans" cxnId="{917BD594-061E-40C6-859B-8936231B87D2}">
      <dgm:prSet/>
      <dgm:spPr/>
      <dgm:t>
        <a:bodyPr/>
        <a:lstStyle/>
        <a:p>
          <a:endParaRPr lang="en-US"/>
        </a:p>
      </dgm:t>
    </dgm:pt>
    <dgm:pt modelId="{5A64B28F-5E5D-4CF8-91FC-DF906E2F3E68}" type="sibTrans" cxnId="{917BD594-061E-40C6-859B-8936231B87D2}">
      <dgm:prSet/>
      <dgm:spPr/>
      <dgm:t>
        <a:bodyPr/>
        <a:lstStyle/>
        <a:p>
          <a:endParaRPr lang="en-US"/>
        </a:p>
      </dgm:t>
    </dgm:pt>
    <dgm:pt modelId="{927C8564-9057-4413-9240-BE7E1D263F5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 dirty="0" err="1"/>
            <a:t>Održivi</a:t>
          </a:r>
          <a:r>
            <a:rPr lang="en-US" b="0" i="0" dirty="0"/>
            <a:t> </a:t>
          </a:r>
          <a:r>
            <a:rPr lang="en-US" b="0" i="0" dirty="0" err="1"/>
            <a:t>pristup</a:t>
          </a:r>
          <a:endParaRPr lang="en-US" dirty="0"/>
        </a:p>
      </dgm:t>
    </dgm:pt>
    <dgm:pt modelId="{81FCC07E-9E2E-41EB-9FCE-817310F89CE7}" type="parTrans" cxnId="{F4BDBC7D-6157-4E4F-ACE1-1F240DC0C66C}">
      <dgm:prSet/>
      <dgm:spPr/>
      <dgm:t>
        <a:bodyPr/>
        <a:lstStyle/>
        <a:p>
          <a:endParaRPr lang="en-US"/>
        </a:p>
      </dgm:t>
    </dgm:pt>
    <dgm:pt modelId="{5B81B10F-0A94-4718-8D29-8003D26D4A07}" type="sibTrans" cxnId="{F4BDBC7D-6157-4E4F-ACE1-1F240DC0C66C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DD72293-7000-4B3A-A0BF-F814409EAA4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dirty="0" err="1"/>
            <a:t>Projekat</a:t>
          </a:r>
          <a:r>
            <a:rPr lang="en-US" b="0" i="0" dirty="0"/>
            <a:t> </a:t>
          </a:r>
          <a:r>
            <a:rPr lang="en-US" b="0" i="0" dirty="0" err="1"/>
            <a:t>doprinosi</a:t>
          </a:r>
          <a:r>
            <a:rPr lang="en-US" b="0" i="0" dirty="0"/>
            <a:t> </a:t>
          </a:r>
          <a:r>
            <a:rPr lang="en-US" b="0" i="0" dirty="0" err="1"/>
            <a:t>zdravijem</a:t>
          </a:r>
          <a:r>
            <a:rPr lang="en-US" b="0" i="0" dirty="0"/>
            <a:t> </a:t>
          </a:r>
          <a:r>
            <a:rPr lang="en-US" b="0" i="0" dirty="0" err="1"/>
            <a:t>gradskom</a:t>
          </a:r>
          <a:r>
            <a:rPr lang="en-US" b="0" i="0" dirty="0"/>
            <a:t> </a:t>
          </a:r>
          <a:r>
            <a:rPr lang="en-US" b="0" i="0" dirty="0" err="1"/>
            <a:t>okruženju</a:t>
          </a:r>
          <a:r>
            <a:rPr lang="en-US" b="0" i="0" dirty="0"/>
            <a:t> </a:t>
          </a:r>
          <a:r>
            <a:rPr lang="en-US" b="0" i="0" dirty="0" err="1"/>
            <a:t>smanjenjem</a:t>
          </a:r>
          <a:r>
            <a:rPr lang="en-US" b="0" i="0" dirty="0"/>
            <a:t> </a:t>
          </a:r>
          <a:r>
            <a:rPr lang="en-US" b="0" i="0" dirty="0" err="1"/>
            <a:t>vremena</a:t>
          </a:r>
          <a:r>
            <a:rPr lang="en-US" b="0" i="0" dirty="0"/>
            <a:t> </a:t>
          </a:r>
          <a:r>
            <a:rPr lang="en-US" b="0" i="0" dirty="0" err="1"/>
            <a:t>traženja</a:t>
          </a:r>
          <a:r>
            <a:rPr lang="en-US" b="0" i="0" dirty="0"/>
            <a:t> </a:t>
          </a:r>
          <a:r>
            <a:rPr lang="en-US" b="0" i="0" dirty="0" err="1"/>
            <a:t>parkinga</a:t>
          </a:r>
          <a:r>
            <a:rPr lang="en-US" b="0" i="0" dirty="0"/>
            <a:t> </a:t>
          </a:r>
          <a:r>
            <a:rPr lang="en-US" b="0" i="0" dirty="0" err="1"/>
            <a:t>i</a:t>
          </a:r>
          <a:r>
            <a:rPr lang="en-US" b="0" i="0" dirty="0"/>
            <a:t> </a:t>
          </a:r>
          <a:r>
            <a:rPr lang="en-US" b="0" i="0" dirty="0" err="1"/>
            <a:t>zagađenja</a:t>
          </a:r>
          <a:r>
            <a:rPr lang="en-US" b="0" i="0" dirty="0"/>
            <a:t>.</a:t>
          </a:r>
          <a:endParaRPr lang="en-US" dirty="0"/>
        </a:p>
      </dgm:t>
    </dgm:pt>
    <dgm:pt modelId="{AC1CE5C2-B69E-42ED-9230-765F971903AD}" type="parTrans" cxnId="{89A6DC36-144B-412F-9328-8FEFDB8D421F}">
      <dgm:prSet/>
      <dgm:spPr/>
      <dgm:t>
        <a:bodyPr/>
        <a:lstStyle/>
        <a:p>
          <a:endParaRPr lang="en-US"/>
        </a:p>
      </dgm:t>
    </dgm:pt>
    <dgm:pt modelId="{2CCF137A-25BF-4F7D-8035-2186BBA06A66}" type="sibTrans" cxnId="{89A6DC36-144B-412F-9328-8FEFDB8D421F}">
      <dgm:prSet/>
      <dgm:spPr/>
      <dgm:t>
        <a:bodyPr/>
        <a:lstStyle/>
        <a:p>
          <a:endParaRPr lang="en-US"/>
        </a:p>
      </dgm:t>
    </dgm:pt>
    <dgm:pt modelId="{6E6CAD17-2199-4C58-851E-E3A98C7F264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 dirty="0" err="1"/>
            <a:t>Svijetla</a:t>
          </a:r>
          <a:r>
            <a:rPr lang="en-US" b="0" i="0" dirty="0"/>
            <a:t> </a:t>
          </a:r>
          <a:r>
            <a:rPr lang="en-US" b="0" i="0" dirty="0" err="1"/>
            <a:t>budućnost</a:t>
          </a:r>
          <a:endParaRPr lang="en-US" dirty="0"/>
        </a:p>
      </dgm:t>
    </dgm:pt>
    <dgm:pt modelId="{53543DC7-0056-4CC7-9AC7-2836EB81AB33}" type="parTrans" cxnId="{12C49368-8E89-47C9-A6E9-9489B40712A6}">
      <dgm:prSet/>
      <dgm:spPr/>
      <dgm:t>
        <a:bodyPr/>
        <a:lstStyle/>
        <a:p>
          <a:endParaRPr lang="en-US"/>
        </a:p>
      </dgm:t>
    </dgm:pt>
    <dgm:pt modelId="{E804F8C6-1D95-4BBF-B2E5-A02CB4053F52}" type="sibTrans" cxnId="{12C49368-8E89-47C9-A6E9-9489B40712A6}">
      <dgm:prSet/>
      <dgm:spPr/>
      <dgm:t>
        <a:bodyPr/>
        <a:lstStyle/>
        <a:p>
          <a:endParaRPr lang="en-US"/>
        </a:p>
      </dgm:t>
    </dgm:pt>
    <dgm:pt modelId="{FB759329-E79D-44D4-8374-188B16BFBD3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dirty="0" err="1"/>
            <a:t>Predani</a:t>
          </a:r>
          <a:r>
            <a:rPr lang="en-US" b="0" i="0" dirty="0"/>
            <a:t> </a:t>
          </a:r>
          <a:r>
            <a:rPr lang="en-US" b="0" i="0" dirty="0" err="1"/>
            <a:t>tim</a:t>
          </a:r>
          <a:r>
            <a:rPr lang="en-US" b="0" i="0" dirty="0"/>
            <a:t> </a:t>
          </a:r>
          <a:r>
            <a:rPr lang="en-US" b="0" i="0" dirty="0" err="1"/>
            <a:t>i</a:t>
          </a:r>
          <a:r>
            <a:rPr lang="en-US" b="0" i="0" dirty="0"/>
            <a:t> </a:t>
          </a:r>
          <a:r>
            <a:rPr lang="en-US" b="0" i="0" dirty="0" err="1"/>
            <a:t>inovacije</a:t>
          </a:r>
          <a:r>
            <a:rPr lang="en-US" b="0" i="0" dirty="0"/>
            <a:t> </a:t>
          </a:r>
          <a:r>
            <a:rPr lang="en-US" b="0" i="0" dirty="0" err="1"/>
            <a:t>vode</a:t>
          </a:r>
          <a:r>
            <a:rPr lang="en-US" b="0" i="0" dirty="0"/>
            <a:t> ka </a:t>
          </a:r>
          <a:r>
            <a:rPr lang="en-US" b="0" i="0" dirty="0" err="1"/>
            <a:t>jednostavnijem</a:t>
          </a:r>
          <a:r>
            <a:rPr lang="en-US" b="0" i="0" dirty="0"/>
            <a:t> </a:t>
          </a:r>
          <a:r>
            <a:rPr lang="en-US" b="0" i="0" dirty="0" err="1"/>
            <a:t>i</a:t>
          </a:r>
          <a:r>
            <a:rPr lang="en-US" b="0" i="0" dirty="0"/>
            <a:t> </a:t>
          </a:r>
          <a:r>
            <a:rPr lang="en-US" b="0" i="0" dirty="0" err="1"/>
            <a:t>efikasnijem</a:t>
          </a:r>
          <a:r>
            <a:rPr lang="en-US" b="0" i="0" dirty="0"/>
            <a:t> </a:t>
          </a:r>
          <a:r>
            <a:rPr lang="en-US" b="0" i="0" dirty="0" err="1"/>
            <a:t>parkiranju</a:t>
          </a:r>
          <a:r>
            <a:rPr lang="en-US" b="0" i="0" dirty="0"/>
            <a:t> za </a:t>
          </a:r>
          <a:r>
            <a:rPr lang="en-US" b="0" i="0" dirty="0" err="1"/>
            <a:t>sve</a:t>
          </a:r>
          <a:r>
            <a:rPr lang="en-US" b="0" i="0" dirty="0"/>
            <a:t> </a:t>
          </a:r>
          <a:r>
            <a:rPr lang="en-US" b="0" i="0" dirty="0" err="1"/>
            <a:t>korisnike</a:t>
          </a:r>
          <a:r>
            <a:rPr lang="en-US" b="0" i="0" dirty="0"/>
            <a:t>.</a:t>
          </a:r>
          <a:endParaRPr lang="en-US" dirty="0"/>
        </a:p>
      </dgm:t>
    </dgm:pt>
    <dgm:pt modelId="{89C2715F-521C-4817-BE08-967C5E5AC7E7}" type="parTrans" cxnId="{8E6A4BEE-4986-4E9A-8BDE-02310006A3C1}">
      <dgm:prSet/>
      <dgm:spPr/>
      <dgm:t>
        <a:bodyPr/>
        <a:lstStyle/>
        <a:p>
          <a:endParaRPr lang="en-US"/>
        </a:p>
      </dgm:t>
    </dgm:pt>
    <dgm:pt modelId="{AD9178ED-F0B6-4A68-AC45-3A0038BA60F9}" type="sibTrans" cxnId="{8E6A4BEE-4986-4E9A-8BDE-02310006A3C1}">
      <dgm:prSet/>
      <dgm:spPr/>
      <dgm:t>
        <a:bodyPr/>
        <a:lstStyle/>
        <a:p>
          <a:endParaRPr lang="en-US"/>
        </a:p>
      </dgm:t>
    </dgm:pt>
    <dgm:pt modelId="{CEBF336A-4591-4848-AF2C-B27335F77F0C}" type="pres">
      <dgm:prSet presAssocID="{FD9D393D-FA1A-434B-B85D-034C4FB09D93}" presName="Name0" presStyleCnt="0">
        <dgm:presLayoutVars>
          <dgm:dir/>
          <dgm:resizeHandles val="exact"/>
        </dgm:presLayoutVars>
      </dgm:prSet>
      <dgm:spPr/>
    </dgm:pt>
    <dgm:pt modelId="{153902A5-CDEA-4444-9D4B-56DA80E520FE}" type="pres">
      <dgm:prSet presAssocID="{71888FB1-3954-43AC-8E83-DC76E839C140}" presName="compNode" presStyleCnt="0"/>
      <dgm:spPr/>
    </dgm:pt>
    <dgm:pt modelId="{3EF11070-F2B4-4641-9F8F-C64E48651C2B}" type="pres">
      <dgm:prSet presAssocID="{71888FB1-3954-43AC-8E83-DC76E839C140}" presName="pictRect" presStyleLbl="revTx" presStyleIdx="0" presStyleCnt="6">
        <dgm:presLayoutVars>
          <dgm:chMax val="0"/>
          <dgm:bulletEnabled/>
        </dgm:presLayoutVars>
      </dgm:prSet>
      <dgm:spPr/>
    </dgm:pt>
    <dgm:pt modelId="{83055AEC-6C6D-44B0-9DD0-20B3BE85D913}" type="pres">
      <dgm:prSet presAssocID="{71888FB1-3954-43AC-8E83-DC76E839C140}" presName="textRect" presStyleLbl="revTx" presStyleIdx="1" presStyleCnt="6">
        <dgm:presLayoutVars>
          <dgm:bulletEnabled/>
        </dgm:presLayoutVars>
      </dgm:prSet>
      <dgm:spPr/>
    </dgm:pt>
    <dgm:pt modelId="{34A40FB2-4F85-4CFA-B2F1-797758BAD0B3}" type="pres">
      <dgm:prSet presAssocID="{D79F1DFB-08D6-43DB-87F8-E9DB24CDA9D4}" presName="sibTrans" presStyleLbl="sibTrans2D1" presStyleIdx="0" presStyleCnt="0"/>
      <dgm:spPr/>
    </dgm:pt>
    <dgm:pt modelId="{A9429F67-CD45-4795-A2C3-FDAAAC0114B2}" type="pres">
      <dgm:prSet presAssocID="{927C8564-9057-4413-9240-BE7E1D263F5C}" presName="compNode" presStyleCnt="0"/>
      <dgm:spPr/>
    </dgm:pt>
    <dgm:pt modelId="{587B47C9-1B35-43EC-BEF8-A3C61EC588DC}" type="pres">
      <dgm:prSet presAssocID="{927C8564-9057-4413-9240-BE7E1D263F5C}" presName="pictRect" presStyleLbl="revTx" presStyleIdx="2" presStyleCnt="6">
        <dgm:presLayoutVars>
          <dgm:chMax val="0"/>
          <dgm:bulletEnabled/>
        </dgm:presLayoutVars>
      </dgm:prSet>
      <dgm:spPr/>
    </dgm:pt>
    <dgm:pt modelId="{9FADAB1D-5BB9-43D7-AD38-86A95952D59E}" type="pres">
      <dgm:prSet presAssocID="{927C8564-9057-4413-9240-BE7E1D263F5C}" presName="textRect" presStyleLbl="revTx" presStyleIdx="3" presStyleCnt="6">
        <dgm:presLayoutVars>
          <dgm:bulletEnabled/>
        </dgm:presLayoutVars>
      </dgm:prSet>
      <dgm:spPr/>
    </dgm:pt>
    <dgm:pt modelId="{175B0805-9C18-4857-BAC7-1338E233FDA9}" type="pres">
      <dgm:prSet presAssocID="{5B81B10F-0A94-4718-8D29-8003D26D4A07}" presName="sibTrans" presStyleLbl="sibTrans2D1" presStyleIdx="0" presStyleCnt="0"/>
      <dgm:spPr/>
    </dgm:pt>
    <dgm:pt modelId="{C16BCD27-0033-4E0F-9762-8A8C8B5B33F5}" type="pres">
      <dgm:prSet presAssocID="{6E6CAD17-2199-4C58-851E-E3A98C7F264B}" presName="compNode" presStyleCnt="0"/>
      <dgm:spPr/>
    </dgm:pt>
    <dgm:pt modelId="{E477B459-2874-4DD8-985C-5A85E271EA8F}" type="pres">
      <dgm:prSet presAssocID="{6E6CAD17-2199-4C58-851E-E3A98C7F264B}" presName="pictRect" presStyleLbl="revTx" presStyleIdx="4" presStyleCnt="6">
        <dgm:presLayoutVars>
          <dgm:chMax val="0"/>
          <dgm:bulletEnabled/>
        </dgm:presLayoutVars>
      </dgm:prSet>
      <dgm:spPr/>
    </dgm:pt>
    <dgm:pt modelId="{9400846F-070B-4C71-AAE6-8590EBDE9258}" type="pres">
      <dgm:prSet presAssocID="{6E6CAD17-2199-4C58-851E-E3A98C7F264B}" presName="textRect" presStyleLbl="revTx" presStyleIdx="5" presStyleCnt="6">
        <dgm:presLayoutVars>
          <dgm:bulletEnabled/>
        </dgm:presLayoutVars>
      </dgm:prSet>
      <dgm:spPr/>
    </dgm:pt>
  </dgm:ptLst>
  <dgm:cxnLst>
    <dgm:cxn modelId="{25F4360D-5831-4417-A11E-8CD5B1051F36}" srcId="{FD9D393D-FA1A-434B-B85D-034C4FB09D93}" destId="{71888FB1-3954-43AC-8E83-DC76E839C140}" srcOrd="0" destOrd="0" parTransId="{967B62F3-60D9-436A-8521-805DD37088C5}" sibTransId="{D79F1DFB-08D6-43DB-87F8-E9DB24CDA9D4}"/>
    <dgm:cxn modelId="{5E2B6417-6942-4764-8686-BE5EF826BDD0}" type="presOf" srcId="{4DD72293-7000-4B3A-A0BF-F814409EAA47}" destId="{9FADAB1D-5BB9-43D7-AD38-86A95952D59E}" srcOrd="0" destOrd="0" presId="urn:microsoft.com/office/officeart/2024/3/layout/hArchList1"/>
    <dgm:cxn modelId="{86D02B36-450B-42C2-B665-8FA5763C18F8}" type="presOf" srcId="{FB759329-E79D-44D4-8374-188B16BFBD39}" destId="{9400846F-070B-4C71-AAE6-8590EBDE9258}" srcOrd="0" destOrd="0" presId="urn:microsoft.com/office/officeart/2024/3/layout/hArchList1"/>
    <dgm:cxn modelId="{89A6DC36-144B-412F-9328-8FEFDB8D421F}" srcId="{927C8564-9057-4413-9240-BE7E1D263F5C}" destId="{4DD72293-7000-4B3A-A0BF-F814409EAA47}" srcOrd="0" destOrd="0" parTransId="{AC1CE5C2-B69E-42ED-9230-765F971903AD}" sibTransId="{2CCF137A-25BF-4F7D-8035-2186BBA06A66}"/>
    <dgm:cxn modelId="{609D473D-4B9B-4122-A45D-8CB0E2260BDD}" type="presOf" srcId="{5B81B10F-0A94-4718-8D29-8003D26D4A07}" destId="{175B0805-9C18-4857-BAC7-1338E233FDA9}" srcOrd="0" destOrd="0" presId="urn:microsoft.com/office/officeart/2024/3/layout/hArchList1"/>
    <dgm:cxn modelId="{12C49368-8E89-47C9-A6E9-9489B40712A6}" srcId="{FD9D393D-FA1A-434B-B85D-034C4FB09D93}" destId="{6E6CAD17-2199-4C58-851E-E3A98C7F264B}" srcOrd="2" destOrd="0" parTransId="{53543DC7-0056-4CC7-9AC7-2836EB81AB33}" sibTransId="{E804F8C6-1D95-4BBF-B2E5-A02CB4053F52}"/>
    <dgm:cxn modelId="{F4BDBC7D-6157-4E4F-ACE1-1F240DC0C66C}" srcId="{FD9D393D-FA1A-434B-B85D-034C4FB09D93}" destId="{927C8564-9057-4413-9240-BE7E1D263F5C}" srcOrd="1" destOrd="0" parTransId="{81FCC07E-9E2E-41EB-9FCE-817310F89CE7}" sibTransId="{5B81B10F-0A94-4718-8D29-8003D26D4A07}"/>
    <dgm:cxn modelId="{49350C80-6E3F-4D3B-BC0A-692F066AD778}" type="presOf" srcId="{B2C143AD-C4A3-42EF-BA99-C9E7D89F18A7}" destId="{83055AEC-6C6D-44B0-9DD0-20B3BE85D913}" srcOrd="0" destOrd="0" presId="urn:microsoft.com/office/officeart/2024/3/layout/hArchList1"/>
    <dgm:cxn modelId="{917BD594-061E-40C6-859B-8936231B87D2}" srcId="{71888FB1-3954-43AC-8E83-DC76E839C140}" destId="{B2C143AD-C4A3-42EF-BA99-C9E7D89F18A7}" srcOrd="0" destOrd="0" parTransId="{1270D4FA-C14A-4766-9C25-95CAB89B4B30}" sibTransId="{5A64B28F-5E5D-4CF8-91FC-DF906E2F3E68}"/>
    <dgm:cxn modelId="{DF19BECC-99B0-4085-A195-27F5A71FCFC9}" type="presOf" srcId="{D79F1DFB-08D6-43DB-87F8-E9DB24CDA9D4}" destId="{34A40FB2-4F85-4CFA-B2F1-797758BAD0B3}" srcOrd="0" destOrd="0" presId="urn:microsoft.com/office/officeart/2024/3/layout/hArchList1"/>
    <dgm:cxn modelId="{62E8A1D9-135A-424F-AEB0-0282DE8A716D}" type="presOf" srcId="{71888FB1-3954-43AC-8E83-DC76E839C140}" destId="{3EF11070-F2B4-4641-9F8F-C64E48651C2B}" srcOrd="0" destOrd="0" presId="urn:microsoft.com/office/officeart/2024/3/layout/hArchList1"/>
    <dgm:cxn modelId="{32FF04DA-F8D9-45E6-A948-56B90C502E24}" type="presOf" srcId="{6E6CAD17-2199-4C58-851E-E3A98C7F264B}" destId="{E477B459-2874-4DD8-985C-5A85E271EA8F}" srcOrd="0" destOrd="0" presId="urn:microsoft.com/office/officeart/2024/3/layout/hArchList1"/>
    <dgm:cxn modelId="{B2FFECDE-EDA2-4991-B6A7-ED3F1AE3C036}" type="presOf" srcId="{FD9D393D-FA1A-434B-B85D-034C4FB09D93}" destId="{CEBF336A-4591-4848-AF2C-B27335F77F0C}" srcOrd="0" destOrd="0" presId="urn:microsoft.com/office/officeart/2024/3/layout/hArchList1"/>
    <dgm:cxn modelId="{8E6A4BEE-4986-4E9A-8BDE-02310006A3C1}" srcId="{6E6CAD17-2199-4C58-851E-E3A98C7F264B}" destId="{FB759329-E79D-44D4-8374-188B16BFBD39}" srcOrd="0" destOrd="0" parTransId="{89C2715F-521C-4817-BE08-967C5E5AC7E7}" sibTransId="{AD9178ED-F0B6-4A68-AC45-3A0038BA60F9}"/>
    <dgm:cxn modelId="{AA2A78F1-5063-4FE8-8D60-5667C58B7527}" type="presOf" srcId="{927C8564-9057-4413-9240-BE7E1D263F5C}" destId="{587B47C9-1B35-43EC-BEF8-A3C61EC588DC}" srcOrd="0" destOrd="0" presId="urn:microsoft.com/office/officeart/2024/3/layout/hArchList1"/>
    <dgm:cxn modelId="{858A5C3D-165D-47E2-A589-B053B322FCA8}" type="presParOf" srcId="{CEBF336A-4591-4848-AF2C-B27335F77F0C}" destId="{153902A5-CDEA-4444-9D4B-56DA80E520FE}" srcOrd="0" destOrd="0" presId="urn:microsoft.com/office/officeart/2024/3/layout/hArchList1"/>
    <dgm:cxn modelId="{4FEB315A-B9B9-463D-A790-A303771354A4}" type="presParOf" srcId="{153902A5-CDEA-4444-9D4B-56DA80E520FE}" destId="{3EF11070-F2B4-4641-9F8F-C64E48651C2B}" srcOrd="0" destOrd="0" presId="urn:microsoft.com/office/officeart/2024/3/layout/hArchList1"/>
    <dgm:cxn modelId="{DBE0C41A-D7A8-4A3A-9C7C-79255AF9EDEB}" type="presParOf" srcId="{153902A5-CDEA-4444-9D4B-56DA80E520FE}" destId="{83055AEC-6C6D-44B0-9DD0-20B3BE85D913}" srcOrd="1" destOrd="0" presId="urn:microsoft.com/office/officeart/2024/3/layout/hArchList1"/>
    <dgm:cxn modelId="{DA27BFA5-7A6C-463B-AD27-77DAB00C69C7}" type="presParOf" srcId="{CEBF336A-4591-4848-AF2C-B27335F77F0C}" destId="{34A40FB2-4F85-4CFA-B2F1-797758BAD0B3}" srcOrd="1" destOrd="0" presId="urn:microsoft.com/office/officeart/2024/3/layout/hArchList1"/>
    <dgm:cxn modelId="{24EB6DC1-387F-4415-BD68-401B79F9D9AE}" type="presParOf" srcId="{CEBF336A-4591-4848-AF2C-B27335F77F0C}" destId="{A9429F67-CD45-4795-A2C3-FDAAAC0114B2}" srcOrd="2" destOrd="0" presId="urn:microsoft.com/office/officeart/2024/3/layout/hArchList1"/>
    <dgm:cxn modelId="{07F6C597-8A7B-4E89-97D6-A03C72239D4B}" type="presParOf" srcId="{A9429F67-CD45-4795-A2C3-FDAAAC0114B2}" destId="{587B47C9-1B35-43EC-BEF8-A3C61EC588DC}" srcOrd="0" destOrd="0" presId="urn:microsoft.com/office/officeart/2024/3/layout/hArchList1"/>
    <dgm:cxn modelId="{35CC4AEC-8A81-418F-804A-116C71136945}" type="presParOf" srcId="{A9429F67-CD45-4795-A2C3-FDAAAC0114B2}" destId="{9FADAB1D-5BB9-43D7-AD38-86A95952D59E}" srcOrd="1" destOrd="0" presId="urn:microsoft.com/office/officeart/2024/3/layout/hArchList1"/>
    <dgm:cxn modelId="{AC426498-5A52-4E5C-A95B-A03E0C7DE439}" type="presParOf" srcId="{CEBF336A-4591-4848-AF2C-B27335F77F0C}" destId="{175B0805-9C18-4857-BAC7-1338E233FDA9}" srcOrd="3" destOrd="0" presId="urn:microsoft.com/office/officeart/2024/3/layout/hArchList1"/>
    <dgm:cxn modelId="{A350D000-D4EA-437A-8941-AF85C64751CD}" type="presParOf" srcId="{CEBF336A-4591-4848-AF2C-B27335F77F0C}" destId="{C16BCD27-0033-4E0F-9762-8A8C8B5B33F5}" srcOrd="4" destOrd="0" presId="urn:microsoft.com/office/officeart/2024/3/layout/hArchList1"/>
    <dgm:cxn modelId="{9E7D8A7D-A141-451E-BB1A-69E98D598502}" type="presParOf" srcId="{C16BCD27-0033-4E0F-9762-8A8C8B5B33F5}" destId="{E477B459-2874-4DD8-985C-5A85E271EA8F}" srcOrd="0" destOrd="0" presId="urn:microsoft.com/office/officeart/2024/3/layout/hArchList1"/>
    <dgm:cxn modelId="{090AA306-686E-4E7F-BD8E-001E231794E3}" type="presParOf" srcId="{C16BCD27-0033-4E0F-9762-8A8C8B5B33F5}" destId="{9400846F-070B-4C71-AAE6-8590EBDE9258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F11070-F2B4-4641-9F8F-C64E48651C2B}">
      <dsp:nvSpPr>
        <dsp:cNvPr id="0" name=""/>
        <dsp:cNvSpPr/>
      </dsp:nvSpPr>
      <dsp:spPr>
        <a:xfrm>
          <a:off x="0" y="0"/>
          <a:ext cx="3428999" cy="342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 dirty="0" err="1"/>
            <a:t>Pametno</a:t>
          </a:r>
          <a:r>
            <a:rPr lang="en-US" sz="1800" b="0" i="0" kern="1200" dirty="0"/>
            <a:t> </a:t>
          </a:r>
          <a:r>
            <a:rPr lang="en-US" sz="1800" b="0" i="0" kern="1200" dirty="0" err="1"/>
            <a:t>rješenje</a:t>
          </a:r>
          <a:r>
            <a:rPr lang="en-US" sz="1800" b="0" i="0" kern="1200" dirty="0"/>
            <a:t> za </a:t>
          </a:r>
          <a:r>
            <a:rPr lang="en-US" sz="1800" b="0" i="0" kern="1200" dirty="0" err="1"/>
            <a:t>parkiranje</a:t>
          </a:r>
          <a:endParaRPr lang="en-US" sz="1800" kern="1200" dirty="0"/>
        </a:p>
      </dsp:txBody>
      <dsp:txXfrm>
        <a:off x="0" y="0"/>
        <a:ext cx="3428999" cy="342899"/>
      </dsp:txXfrm>
    </dsp:sp>
    <dsp:sp modelId="{83055AEC-6C6D-44B0-9DD0-20B3BE85D913}">
      <dsp:nvSpPr>
        <dsp:cNvPr id="0" name=""/>
        <dsp:cNvSpPr/>
      </dsp:nvSpPr>
      <dsp:spPr>
        <a:xfrm>
          <a:off x="0" y="342899"/>
          <a:ext cx="3428999" cy="2340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dirty="0" err="1"/>
            <a:t>ParkSmart</a:t>
          </a:r>
          <a:r>
            <a:rPr lang="en-US" sz="1400" b="0" i="0" kern="1200" dirty="0"/>
            <a:t> </a:t>
          </a:r>
          <a:r>
            <a:rPr lang="en-US" sz="1400" b="0" i="0" kern="1200" dirty="0" err="1"/>
            <a:t>koristi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inovativne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tehnologije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kako</a:t>
          </a:r>
          <a:r>
            <a:rPr lang="en-US" sz="1400" b="0" i="0" kern="1200" dirty="0"/>
            <a:t> bi </a:t>
          </a:r>
          <a:r>
            <a:rPr lang="en-US" sz="1400" b="0" i="0" kern="1200" dirty="0" err="1"/>
            <a:t>olakšao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pronalaženje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parkirnog</a:t>
          </a:r>
          <a:r>
            <a:rPr lang="en-US" sz="1400" b="0" i="0" kern="1200" dirty="0"/>
            <a:t> </a:t>
          </a:r>
          <a:r>
            <a:rPr lang="en-US" sz="1400" b="0" i="0" kern="1200" dirty="0" err="1"/>
            <a:t>mjesta</a:t>
          </a:r>
          <a:r>
            <a:rPr lang="en-US" sz="1400" b="0" i="0" kern="1200" dirty="0"/>
            <a:t> u </a:t>
          </a:r>
          <a:r>
            <a:rPr lang="en-US" sz="1400" b="0" i="0" kern="1200" dirty="0" err="1"/>
            <a:t>gradu</a:t>
          </a:r>
          <a:r>
            <a:rPr lang="en-US" sz="1400" b="0" i="0" kern="1200" dirty="0"/>
            <a:t>.</a:t>
          </a:r>
          <a:endParaRPr lang="en-US" sz="1400" kern="1200" dirty="0"/>
        </a:p>
      </dsp:txBody>
      <dsp:txXfrm>
        <a:off x="0" y="342899"/>
        <a:ext cx="3428999" cy="2340290"/>
      </dsp:txXfrm>
    </dsp:sp>
    <dsp:sp modelId="{587B47C9-1B35-43EC-BEF8-A3C61EC588DC}">
      <dsp:nvSpPr>
        <dsp:cNvPr id="0" name=""/>
        <dsp:cNvSpPr/>
      </dsp:nvSpPr>
      <dsp:spPr>
        <a:xfrm>
          <a:off x="3771899" y="0"/>
          <a:ext cx="3428999" cy="342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 dirty="0" err="1"/>
            <a:t>Održivi</a:t>
          </a:r>
          <a:r>
            <a:rPr lang="en-US" sz="1800" b="0" i="0" kern="1200" dirty="0"/>
            <a:t> </a:t>
          </a:r>
          <a:r>
            <a:rPr lang="en-US" sz="1800" b="0" i="0" kern="1200" dirty="0" err="1"/>
            <a:t>pristup</a:t>
          </a:r>
          <a:endParaRPr lang="en-US" sz="1800" kern="1200" dirty="0"/>
        </a:p>
      </dsp:txBody>
      <dsp:txXfrm>
        <a:off x="3771899" y="0"/>
        <a:ext cx="3428999" cy="342899"/>
      </dsp:txXfrm>
    </dsp:sp>
    <dsp:sp modelId="{9FADAB1D-5BB9-43D7-AD38-86A95952D59E}">
      <dsp:nvSpPr>
        <dsp:cNvPr id="0" name=""/>
        <dsp:cNvSpPr/>
      </dsp:nvSpPr>
      <dsp:spPr>
        <a:xfrm>
          <a:off x="3771899" y="342899"/>
          <a:ext cx="3428999" cy="2340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dirty="0" err="1"/>
            <a:t>Projekat</a:t>
          </a:r>
          <a:r>
            <a:rPr lang="en-US" sz="1400" b="0" i="0" kern="1200" dirty="0"/>
            <a:t> </a:t>
          </a:r>
          <a:r>
            <a:rPr lang="en-US" sz="1400" b="0" i="0" kern="1200" dirty="0" err="1"/>
            <a:t>doprinosi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zdravijem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gradskom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okruženju</a:t>
          </a:r>
          <a:r>
            <a:rPr lang="en-US" sz="1400" b="0" i="0" kern="1200" dirty="0"/>
            <a:t> </a:t>
          </a:r>
          <a:r>
            <a:rPr lang="en-US" sz="1400" b="0" i="0" kern="1200" dirty="0" err="1"/>
            <a:t>smanjenjem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vremena</a:t>
          </a:r>
          <a:r>
            <a:rPr lang="en-US" sz="1400" b="0" i="0" kern="1200" dirty="0"/>
            <a:t> </a:t>
          </a:r>
          <a:r>
            <a:rPr lang="en-US" sz="1400" b="0" i="0" kern="1200" dirty="0" err="1"/>
            <a:t>traženja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parkinga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zagađenja</a:t>
          </a:r>
          <a:r>
            <a:rPr lang="en-US" sz="1400" b="0" i="0" kern="1200" dirty="0"/>
            <a:t>.</a:t>
          </a:r>
          <a:endParaRPr lang="en-US" sz="1400" kern="1200" dirty="0"/>
        </a:p>
      </dsp:txBody>
      <dsp:txXfrm>
        <a:off x="3771899" y="342899"/>
        <a:ext cx="3428999" cy="2340290"/>
      </dsp:txXfrm>
    </dsp:sp>
    <dsp:sp modelId="{E477B459-2874-4DD8-985C-5A85E271EA8F}">
      <dsp:nvSpPr>
        <dsp:cNvPr id="0" name=""/>
        <dsp:cNvSpPr/>
      </dsp:nvSpPr>
      <dsp:spPr>
        <a:xfrm>
          <a:off x="7543800" y="0"/>
          <a:ext cx="3428999" cy="342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 dirty="0" err="1"/>
            <a:t>Svijetla</a:t>
          </a:r>
          <a:r>
            <a:rPr lang="en-US" sz="1800" b="0" i="0" kern="1200" dirty="0"/>
            <a:t> </a:t>
          </a:r>
          <a:r>
            <a:rPr lang="en-US" sz="1800" b="0" i="0" kern="1200" dirty="0" err="1"/>
            <a:t>budućnost</a:t>
          </a:r>
          <a:endParaRPr lang="en-US" sz="1800" kern="1200" dirty="0"/>
        </a:p>
      </dsp:txBody>
      <dsp:txXfrm>
        <a:off x="7543800" y="0"/>
        <a:ext cx="3428999" cy="342899"/>
      </dsp:txXfrm>
    </dsp:sp>
    <dsp:sp modelId="{9400846F-070B-4C71-AAE6-8590EBDE9258}">
      <dsp:nvSpPr>
        <dsp:cNvPr id="0" name=""/>
        <dsp:cNvSpPr/>
      </dsp:nvSpPr>
      <dsp:spPr>
        <a:xfrm>
          <a:off x="7543800" y="342899"/>
          <a:ext cx="3428999" cy="2340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dirty="0" err="1"/>
            <a:t>Predani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tim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inovacije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vode</a:t>
          </a:r>
          <a:r>
            <a:rPr lang="en-US" sz="1400" b="0" i="0" kern="1200" dirty="0"/>
            <a:t> ka </a:t>
          </a:r>
          <a:r>
            <a:rPr lang="en-US" sz="1400" b="0" i="0" kern="1200" dirty="0" err="1"/>
            <a:t>jednostavnijem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efikasnijem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parkiranju</a:t>
          </a:r>
          <a:r>
            <a:rPr lang="en-US" sz="1400" b="0" i="0" kern="1200" dirty="0"/>
            <a:t> za </a:t>
          </a:r>
          <a:r>
            <a:rPr lang="en-US" sz="1400" b="0" i="0" kern="1200" dirty="0" err="1"/>
            <a:t>sve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korisnike</a:t>
          </a:r>
          <a:r>
            <a:rPr lang="en-US" sz="1400" b="0" i="0" kern="1200" dirty="0"/>
            <a:t>.</a:t>
          </a:r>
          <a:endParaRPr lang="en-US" sz="1400" kern="1200" dirty="0"/>
        </a:p>
      </dsp:txBody>
      <dsp:txXfrm>
        <a:off x="7543800" y="342899"/>
        <a:ext cx="3428999" cy="23402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zaglavlj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Čuvar mesta za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BA4610-F80F-4F40-A07E-783D7321767C}" type="datetimeFigureOut">
              <a:rPr lang="en-US" smtClean="0"/>
              <a:t>03-Oct-25</a:t>
            </a:fld>
            <a:endParaRPr lang="en-US"/>
          </a:p>
        </p:txBody>
      </p:sp>
      <p:sp>
        <p:nvSpPr>
          <p:cNvPr id="4" name="Čuvar mesta za sliku na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Čuvar mesta za napomen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r-Latn-RS"/>
              <a:t>Kliknite da biste uredili stilove teksta mastera</a:t>
            </a:r>
          </a:p>
          <a:p>
            <a:pPr lvl="1"/>
            <a:r>
              <a:rPr lang="sr-Latn-RS"/>
              <a:t>Drugi nivo</a:t>
            </a:r>
          </a:p>
          <a:p>
            <a:pPr lvl="2"/>
            <a:r>
              <a:rPr lang="sr-Latn-RS"/>
              <a:t>Treći nivo</a:t>
            </a:r>
          </a:p>
          <a:p>
            <a:pPr lvl="3"/>
            <a:r>
              <a:rPr lang="sr-Latn-RS"/>
              <a:t>Četvrti nivo</a:t>
            </a:r>
          </a:p>
          <a:p>
            <a:pPr lvl="4"/>
            <a:r>
              <a:rPr lang="sr-Latn-RS"/>
              <a:t>Peti nivo</a:t>
            </a:r>
            <a:endParaRPr lang="en-US"/>
          </a:p>
        </p:txBody>
      </p:sp>
      <p:sp>
        <p:nvSpPr>
          <p:cNvPr id="6" name="Čuvar mesta za podnožj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Čuvar mesta za broj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86ABB3-D4D2-4271-9197-B68AB5D3EC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302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---
</a:t>
            </a:r>
            <a:r>
              <a:rPr lang="en-US" dirty="0" err="1"/>
              <a:t>Predstavljamo</a:t>
            </a:r>
            <a:r>
              <a:rPr lang="en-US" dirty="0"/>
              <a:t> </a:t>
            </a:r>
            <a:r>
              <a:rPr lang="en-US" dirty="0" err="1"/>
              <a:t>ParkSmart</a:t>
            </a:r>
            <a:r>
              <a:rPr lang="en-US" dirty="0"/>
              <a:t> – </a:t>
            </a:r>
            <a:r>
              <a:rPr lang="en-US" dirty="0" err="1"/>
              <a:t>inovativnu</a:t>
            </a:r>
            <a:r>
              <a:rPr lang="en-US" dirty="0"/>
              <a:t> web </a:t>
            </a:r>
            <a:r>
              <a:rPr lang="en-US" dirty="0" err="1"/>
              <a:t>platformu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rješava</a:t>
            </a:r>
            <a:r>
              <a:rPr lang="en-US" dirty="0"/>
              <a:t> problem </a:t>
            </a:r>
            <a:r>
              <a:rPr lang="en-US" dirty="0" err="1"/>
              <a:t>nedostatka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 u </a:t>
            </a:r>
            <a:r>
              <a:rPr lang="en-US" dirty="0" err="1"/>
              <a:t>urbanim</a:t>
            </a:r>
            <a:r>
              <a:rPr lang="en-US" dirty="0"/>
              <a:t> </a:t>
            </a:r>
            <a:r>
              <a:rPr lang="en-US" dirty="0" err="1"/>
              <a:t>sredinama</a:t>
            </a:r>
            <a:r>
              <a:rPr lang="en-US" dirty="0"/>
              <a:t>, </a:t>
            </a:r>
            <a:r>
              <a:rPr lang="en-US" dirty="0" err="1"/>
              <a:t>počevši</a:t>
            </a:r>
            <a:r>
              <a:rPr lang="en-US" dirty="0"/>
              <a:t> s pilot </a:t>
            </a:r>
            <a:r>
              <a:rPr lang="en-US" dirty="0" err="1"/>
              <a:t>projektom</a:t>
            </a:r>
            <a:r>
              <a:rPr lang="en-US" dirty="0"/>
              <a:t> u </a:t>
            </a:r>
            <a:r>
              <a:rPr lang="en-US" dirty="0" err="1"/>
              <a:t>Novom</a:t>
            </a:r>
            <a:r>
              <a:rPr lang="en-US" dirty="0"/>
              <a:t> Sadu. Ova </a:t>
            </a:r>
            <a:r>
              <a:rPr lang="en-US" dirty="0" err="1"/>
              <a:t>prezentacija</a:t>
            </a:r>
            <a:r>
              <a:rPr lang="en-US" dirty="0"/>
              <a:t> </a:t>
            </a:r>
            <a:r>
              <a:rPr lang="en-US" dirty="0" err="1"/>
              <a:t>prikazuje</a:t>
            </a:r>
            <a:r>
              <a:rPr lang="en-US" dirty="0"/>
              <a:t> </a:t>
            </a:r>
            <a:r>
              <a:rPr lang="en-US" dirty="0" err="1"/>
              <a:t>našu</a:t>
            </a:r>
            <a:r>
              <a:rPr lang="en-US" dirty="0"/>
              <a:t> </a:t>
            </a:r>
            <a:r>
              <a:rPr lang="en-US" dirty="0" err="1"/>
              <a:t>viziju</a:t>
            </a:r>
            <a:r>
              <a:rPr lang="en-US" dirty="0"/>
              <a:t>, </a:t>
            </a:r>
            <a:r>
              <a:rPr lang="en-US" dirty="0" err="1"/>
              <a:t>poslovni</a:t>
            </a:r>
            <a:r>
              <a:rPr lang="en-US" dirty="0"/>
              <a:t> model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strategiju</a:t>
            </a:r>
            <a:r>
              <a:rPr lang="en-US" dirty="0"/>
              <a:t> rasta.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127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U urbanim sredinama vozači često gube vrijeme tražeći slobodno parking mjesto, što povećava troškove, frustraciju i emisiju štetnih plinova. Parking prostori su često neefikasno iskorišteni, posebno privatni.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9044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Naša platforma omogućuje vlasnicima da unajme svoja slobodna parking mjesta vozačima putem jednostavne web aplikacije, s opcijom rezervacije u realnom vremenu ili unaprijed, čime se maksimizira iskorištenost prostora i olakšava promet.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209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Početni fokus je Novi Sad s ciljnim skupinama kao što su studenti, zaposleni i turisti. Planiramo širiti platformu na druge urbane sredine u regiji, prilagođavajući ponudu lokalnim potrebama i trendovima.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7324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Platforma će ostvarivati prihode kroz proviziju od svake transakcije, nuditi premium usluge poput rezervacije na zahtjev i dodatne pogodnosti za vlasnike parking mjesta, potičući dugoročnu suradnju i kvalitetu usluge.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0684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Naš tim čine iskusni programeri, stručnjaci za marketing i korisničku podršku. Planiramo kontinuirano širiti tim kako bismo pratili rast platforme i osigurali izvrsnu uslugu korisnicima.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831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Cilj nam je postati vodeća platforma za dijeljenje privatnih parking mjesta u regiji, doprinoseći smanjenju prometnih gužvi i zagađenja, te promovirati održiv i pametan urbani život.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0686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ParkSmart predstavlja pametno, održivo i praktično rješenje za probleme urbane parkiranja. S našim inovativnim pristupom i predanim timom, pred nama je svijetla budućnost u kojoj će svatko lako pronaći parking i doprinijeti zdravijem gradskom okruženju.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008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685800"/>
            <a:ext cx="10055354" cy="4007406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29A3647E-D38D-4EA6-ADC1-75AA53F898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27002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7EA5D59-5512-467D-834D-D04827A6AF83}" type="datetime1">
              <a:rPr lang="en-US" smtClean="0"/>
              <a:pPr/>
              <a:t>03-Oct-25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0459DEE-913E-5261-4E77-AF3657E3AE0B}"/>
              </a:ext>
            </a:extLst>
          </p:cNvPr>
          <p:cNvSpPr/>
          <p:nvPr/>
        </p:nvSpPr>
        <p:spPr>
          <a:xfrm>
            <a:off x="11250895" y="4648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2F9BC4F-9D44-3587-056B-336E1457A6E2}"/>
              </a:ext>
            </a:extLst>
          </p:cNvPr>
          <p:cNvSpPr/>
          <p:nvPr/>
        </p:nvSpPr>
        <p:spPr>
          <a:xfrm>
            <a:off x="685800" y="4998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09D5EC-E7EA-22BC-7C88-C33F509CB5CF}"/>
              </a:ext>
            </a:extLst>
          </p:cNvPr>
          <p:cNvSpPr/>
          <p:nvPr/>
        </p:nvSpPr>
        <p:spPr>
          <a:xfrm>
            <a:off x="10998565" y="4730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98E9758-F942-96A0-231D-A25933E4CA82}"/>
              </a:ext>
            </a:extLst>
          </p:cNvPr>
          <p:cNvSpPr/>
          <p:nvPr/>
        </p:nvSpPr>
        <p:spPr>
          <a:xfrm>
            <a:off x="10976145" y="4730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400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63655" cy="762001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828800"/>
            <a:ext cx="10963656" cy="434340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400"/>
            </a:lvl1pPr>
            <a:lvl2pPr>
              <a:lnSpc>
                <a:spcPct val="100000"/>
              </a:lnSpc>
              <a:defRPr sz="14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B42362D5-E350-46C5-8BB1-F9E806A91933}" type="datetime1">
              <a:rPr lang="en-US" smtClean="0"/>
              <a:t>03-Oct-25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357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2C6C0090-085A-1FB3-B3B7-D8DA73A12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172" y="4419600"/>
            <a:ext cx="10963657" cy="135224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6834447-947D-F9FA-98D1-8BF0FC477A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4172" y="5943600"/>
            <a:ext cx="10963657" cy="6096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2573ACD2-30C7-6922-D14F-66F23CBA377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41148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82760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A813B312-A2CE-16E4-D28B-8DDFF55273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6746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846D76D-B1D3-9330-420A-6ED740BDB9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767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4" name="Picture Placeholder 25">
            <a:extLst>
              <a:ext uri="{FF2B5EF4-FFF2-40B4-BE49-F238E27FC236}">
                <a16:creationId xmlns:a16="http://schemas.microsoft.com/office/drawing/2014/main" id="{982E949F-6B9B-8268-EB83-127C78D4350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76746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35138" y="6343955"/>
            <a:ext cx="14589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BFE899EF-3666-4EAB-A626-E7AA02E66CC1}" type="datetime1">
              <a:rPr lang="en-US" smtClean="0"/>
              <a:pPr/>
              <a:t>03-Oct-25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53745E-5DC2-F332-24A5-4F8F509E820B}"/>
              </a:ext>
            </a:extLst>
          </p:cNvPr>
          <p:cNvCxnSpPr/>
          <p:nvPr userDrawn="1"/>
        </p:nvCxnSpPr>
        <p:spPr>
          <a:xfrm>
            <a:off x="4479797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2474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04076" y="685801"/>
            <a:ext cx="4872227" cy="27432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2552" y="5277548"/>
            <a:ext cx="4873752" cy="894639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74A0A082-71CB-3C57-3B74-102869C0CA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02552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18883" y="6343955"/>
            <a:ext cx="147516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1F92EF8E-B9EB-49F8-83E1-F362FA442011}" type="datetime1">
              <a:rPr lang="en-US" smtClean="0"/>
              <a:pPr/>
              <a:t>03-Oct-25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D373E34-3B51-EAD4-B8AB-256ACA4B8D8C}"/>
              </a:ext>
            </a:extLst>
          </p:cNvPr>
          <p:cNvCxnSpPr>
            <a:cxnSpLocks/>
          </p:cNvCxnSpPr>
          <p:nvPr userDrawn="1"/>
        </p:nvCxnSpPr>
        <p:spPr>
          <a:xfrm>
            <a:off x="6704076" y="4876800"/>
            <a:ext cx="487375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020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BC951B-4746-1854-C399-682CFE142A50}"/>
              </a:ext>
            </a:extLst>
          </p:cNvPr>
          <p:cNvCxnSpPr/>
          <p:nvPr userDrawn="1"/>
        </p:nvCxnSpPr>
        <p:spPr>
          <a:xfrm>
            <a:off x="612646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6" y="6338703"/>
            <a:ext cx="207048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887367" y="6338703"/>
            <a:ext cx="139257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C9EEDB3-BC19-4021-830F-B822E1DE9789}" type="datetime1">
              <a:rPr lang="en-US" smtClean="0"/>
              <a:pPr/>
              <a:t>03-Oct-25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7279945" y="6342301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E193964F-665E-F49A-D553-C01524CDE0C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302749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3757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384F42E-A74C-773B-7B96-F942975CEC14}"/>
              </a:ext>
            </a:extLst>
          </p:cNvPr>
          <p:cNvSpPr/>
          <p:nvPr/>
        </p:nvSpPr>
        <p:spPr>
          <a:xfrm>
            <a:off x="11250895" y="5144929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441727F-19A3-14E1-5EAC-C550CEB6A0D1}"/>
              </a:ext>
            </a:extLst>
          </p:cNvPr>
          <p:cNvSpPr/>
          <p:nvPr/>
        </p:nvSpPr>
        <p:spPr>
          <a:xfrm>
            <a:off x="685800" y="5495424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8F4BC9-7EC1-BB35-827A-12F5DE411031}"/>
              </a:ext>
            </a:extLst>
          </p:cNvPr>
          <p:cNvSpPr/>
          <p:nvPr/>
        </p:nvSpPr>
        <p:spPr>
          <a:xfrm>
            <a:off x="10998565" y="5227361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4B01422-D65E-4B59-B62B-467B2E896592}"/>
              </a:ext>
            </a:extLst>
          </p:cNvPr>
          <p:cNvSpPr/>
          <p:nvPr/>
        </p:nvSpPr>
        <p:spPr>
          <a:xfrm>
            <a:off x="10976145" y="5227366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1600200"/>
            <a:ext cx="10483927" cy="349287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9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931314"/>
            <a:ext cx="10483927" cy="816864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234111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234111"/>
            <a:ext cx="2875064" cy="365125"/>
          </a:xfrm>
        </p:spPr>
        <p:txBody>
          <a:bodyPr>
            <a:noAutofit/>
          </a:bodyPr>
          <a:lstStyle/>
          <a:p>
            <a:fld id="{014DD65C-314F-4399-90A8-B6DFCAF21BE4}" type="datetime1">
              <a:rPr lang="en-US" smtClean="0"/>
              <a:t>03-Oct-25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234111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Line">
            <a:extLst>
              <a:ext uri="{FF2B5EF4-FFF2-40B4-BE49-F238E27FC236}">
                <a16:creationId xmlns:a16="http://schemas.microsoft.com/office/drawing/2014/main" id="{92FB147E-E273-E8B6-AD8E-67F305FC22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71802" y="4038600"/>
            <a:ext cx="10923934" cy="745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29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8BBA50F-B667-1177-26B1-7D22AB66A6BE}"/>
              </a:ext>
            </a:extLst>
          </p:cNvPr>
          <p:cNvSpPr/>
          <p:nvPr/>
        </p:nvSpPr>
        <p:spPr>
          <a:xfrm>
            <a:off x="11250895" y="464515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CABC7F5-2293-EB7F-52E5-80715C8DB858}"/>
              </a:ext>
            </a:extLst>
          </p:cNvPr>
          <p:cNvSpPr/>
          <p:nvPr/>
        </p:nvSpPr>
        <p:spPr>
          <a:xfrm>
            <a:off x="685800" y="499564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A8C943-7CF3-88D6-95B0-95E7B412DE0F}"/>
              </a:ext>
            </a:extLst>
          </p:cNvPr>
          <p:cNvSpPr/>
          <p:nvPr/>
        </p:nvSpPr>
        <p:spPr>
          <a:xfrm>
            <a:off x="10998565" y="472758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FB0A8E7-2867-2D3A-F6B7-15ED02236CE8}"/>
              </a:ext>
            </a:extLst>
          </p:cNvPr>
          <p:cNvSpPr/>
          <p:nvPr/>
        </p:nvSpPr>
        <p:spPr>
          <a:xfrm>
            <a:off x="10976145" y="472758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31536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7A3B59-4DAC-4AFE-874D-3A86EC3801A0}" type="datetime1">
              <a:rPr lang="en-US" smtClean="0"/>
              <a:pPr/>
              <a:t>03-Oct-25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53A7BE5-EAB2-BB8C-D7FC-D78B8A5AF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8"/>
            <a:ext cx="10058400" cy="335584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188743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6AC1F45-7001-8B9F-DFF6-7AB9BDFFEEB2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4C7D192-E835-0A48-0A40-F45D83E2583F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FB376E1-8198-EB00-587E-C647BCF364D4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F94599F-6DE1-A082-E9E1-D732956078A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/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/>
          <a:p>
            <a:fld id="{76FC08D9-20DE-421C-BE4E-310427BB699B}" type="datetime1">
              <a:rPr lang="en-US" smtClean="0"/>
              <a:t>03-Oct-25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771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1C10CD-8205-284F-2921-9485E7A98F0D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5DFD7E-DC78-4573-96D7-845D38E0273E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FCC10B5-4890-B43F-DE24-5200F4E75EEB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D5586E6-D520-6A63-5060-BF06C136BEF5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6FC08D9-20DE-421C-BE4E-310427BB699B}" type="datetime1">
              <a:rPr lang="en-US" smtClean="0"/>
              <a:pPr/>
              <a:t>03-Oct-25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4727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ADE904-3C65-5E48-6B12-22998C2ADF5E}"/>
              </a:ext>
            </a:extLst>
          </p:cNvPr>
          <p:cNvSpPr/>
          <p:nvPr/>
        </p:nvSpPr>
        <p:spPr>
          <a:xfrm>
            <a:off x="11250895" y="217232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16963C8-87F3-6B42-F30F-1915935FA752}"/>
              </a:ext>
            </a:extLst>
          </p:cNvPr>
          <p:cNvSpPr/>
          <p:nvPr/>
        </p:nvSpPr>
        <p:spPr>
          <a:xfrm>
            <a:off x="685800" y="252281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F0C119A-1D9E-D43F-8A7E-D24C1B551326}"/>
              </a:ext>
            </a:extLst>
          </p:cNvPr>
          <p:cNvSpPr/>
          <p:nvPr/>
        </p:nvSpPr>
        <p:spPr>
          <a:xfrm>
            <a:off x="10998565" y="225475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2018CE4-7594-0746-8B7E-8DEC95CB8822}"/>
              </a:ext>
            </a:extLst>
          </p:cNvPr>
          <p:cNvSpPr/>
          <p:nvPr/>
        </p:nvSpPr>
        <p:spPr>
          <a:xfrm>
            <a:off x="10976145" y="225475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185" y="685800"/>
            <a:ext cx="9141415" cy="1532788"/>
          </a:xfrm>
        </p:spPr>
        <p:txBody>
          <a:bodyPr anchor="t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185" y="2958705"/>
            <a:ext cx="9141415" cy="3213494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 marL="914400" indent="0"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4F1AC263-88EE-42CC-B640-B12BA856CF71}" type="datetime1">
              <a:rPr lang="en-US" smtClean="0"/>
              <a:t>03-Oct-25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322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685800"/>
            <a:ext cx="5480304" cy="1818050"/>
          </a:xfrm>
        </p:spPr>
        <p:txBody>
          <a:bodyPr anchor="t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AF861DB-D5EF-3FC9-7595-570C8498D7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47725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3189770"/>
            <a:ext cx="5480304" cy="2982429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C1A172-F829-D2DE-BDB2-B86E6ACE1886}"/>
              </a:ext>
            </a:extLst>
          </p:cNvPr>
          <p:cNvCxnSpPr>
            <a:cxnSpLocks/>
          </p:cNvCxnSpPr>
          <p:nvPr userDrawn="1"/>
        </p:nvCxnSpPr>
        <p:spPr>
          <a:xfrm>
            <a:off x="6095999" y="2743200"/>
            <a:ext cx="54772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343955"/>
            <a:ext cx="298540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>
            <a:noAutofit/>
          </a:bodyPr>
          <a:lstStyle/>
          <a:p>
            <a:fld id="{68A32F6A-E7E2-4607-B207-B787B539B854}" type="datetime1">
              <a:rPr lang="en-US" smtClean="0"/>
              <a:t>03-Oct-25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3737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824824"/>
            <a:ext cx="6397753" cy="1527976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3505200"/>
            <a:ext cx="4568953" cy="164519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9467FC12-63BB-4A63-9424-BFBF8E1D71D9}" type="datetime1">
              <a:rPr lang="en-US" smtClean="0"/>
              <a:t>03-Oct-25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89251BE-373D-9B13-B9E2-73DFEBE40118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98E032-CDEE-AA9B-44A7-CE5EBB6948C0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778913-9F6C-8FDD-B123-16048004EC56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6283179-133D-0E64-C08A-4D59C8B2F9D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6358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3" cy="365760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1" y="685800"/>
            <a:ext cx="4572000" cy="36576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A7FA5-AD20-4A92-9D35-3CC6CFA49E64}" type="datetime1">
              <a:rPr lang="en-US" smtClean="0"/>
              <a:t>03-Oct-25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662DADE-FB83-6BD4-1D72-E22F0783A67E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7CD6A0-64A5-5058-DFD2-8DD1FAF7BEEB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8E4321-3109-17F5-C530-4108033F07F5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AAD0450-E765-A0E1-7C56-37246411FDD0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6968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05E2B5C-398A-3F2F-4BCC-FFF94D44632F}"/>
              </a:ext>
            </a:extLst>
          </p:cNvPr>
          <p:cNvSpPr/>
          <p:nvPr/>
        </p:nvSpPr>
        <p:spPr>
          <a:xfrm>
            <a:off x="11250895" y="5407944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2897460-3A7D-EC5C-76B9-2725193E10AF}"/>
              </a:ext>
            </a:extLst>
          </p:cNvPr>
          <p:cNvSpPr/>
          <p:nvPr/>
        </p:nvSpPr>
        <p:spPr>
          <a:xfrm>
            <a:off x="685800" y="5758439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2E741-698E-A2B8-7BD5-9DE89C610C2F}"/>
              </a:ext>
            </a:extLst>
          </p:cNvPr>
          <p:cNvSpPr/>
          <p:nvPr/>
        </p:nvSpPr>
        <p:spPr>
          <a:xfrm>
            <a:off x="10998565" y="5490376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04551B-2E70-1734-DA15-F26ABEC9D9D0}"/>
              </a:ext>
            </a:extLst>
          </p:cNvPr>
          <p:cNvSpPr/>
          <p:nvPr/>
        </p:nvSpPr>
        <p:spPr>
          <a:xfrm>
            <a:off x="10976145" y="5490381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408358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045390" cy="4083579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AB700-8552-46A0-B700-5DA0068ADBFC}" type="datetime1">
              <a:rPr lang="en-US" smtClean="0"/>
              <a:t>03-Oct-25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9802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85B71F7-9EDC-DB6C-D713-7ACE3A2EADC0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842DDA-AD76-0064-2B85-CB145F4CE540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E58AC6-620E-20FA-E8F5-375DA2977A43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EA14E2E-5098-2800-A72C-138A5840365C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685800"/>
            <a:ext cx="3652523" cy="410246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5500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892AD61-D199-4B74-B80B-2001400510FA}" type="datetime1">
              <a:rPr lang="en-US" smtClean="0"/>
              <a:t>03-Oct-25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541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94DE839-4377-D8CF-B2A4-D0C3E0F49821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5E5478-C025-8AD6-B7FE-E95C356E887C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0EF54C8-1B9C-18F9-4647-D96F1A37BC05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C1B42D9-101B-9822-0BAF-F80E962BB4CD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4" cy="455025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6401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D00D9374-B0AF-43C5-90A8-C409C7D54B55}" type="datetime1">
              <a:rPr lang="en-US" smtClean="0"/>
              <a:t>03-Oct-25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9097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C2E340-F7F3-5093-0E0A-41015057E720}"/>
              </a:ext>
            </a:extLst>
          </p:cNvPr>
          <p:cNvCxnSpPr/>
          <p:nvPr userDrawn="1"/>
        </p:nvCxnSpPr>
        <p:spPr>
          <a:xfrm>
            <a:off x="5191026" y="2362200"/>
            <a:ext cx="6391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0729" y="2743204"/>
            <a:ext cx="6395573" cy="3428989"/>
          </a:xfrm>
        </p:spPr>
        <p:txBody>
          <a:bodyPr>
            <a:noAutofit/>
          </a:bodyPr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91026" y="6343825"/>
            <a:ext cx="336490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CBB6888-43ED-4D3A-B8DA-89EF29644561}" type="datetime1">
              <a:rPr lang="en-US" smtClean="0"/>
              <a:pPr/>
              <a:t>03-Oct-25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0143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81EABF-B6BB-1FBF-962C-A6A6C8C2418A}"/>
              </a:ext>
            </a:extLst>
          </p:cNvPr>
          <p:cNvCxnSpPr/>
          <p:nvPr userDrawn="1"/>
        </p:nvCxnSpPr>
        <p:spPr>
          <a:xfrm>
            <a:off x="612647" y="2359152"/>
            <a:ext cx="633679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3" y="2742645"/>
            <a:ext cx="6391247" cy="3429551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774" y="6346865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886895" y="6346865"/>
            <a:ext cx="1607270" cy="365125"/>
          </a:xfrm>
        </p:spPr>
        <p:txBody>
          <a:bodyPr>
            <a:noAutofit/>
          </a:bodyPr>
          <a:lstStyle/>
          <a:p>
            <a:fld id="{27C7479B-2077-4468-85E0-F9294B46DEAE}" type="datetime1">
              <a:rPr lang="en-US" smtClean="0"/>
              <a:t>03-Oct-25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530932" y="634686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35EC8126-6431-465A-8AC3-0118DD8825B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31546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43272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8303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D2B02E8B-EB97-8158-B585-0E0E95CF40C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303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724397" y="6343954"/>
            <a:ext cx="3422906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>
            <a:noAutofit/>
          </a:bodyPr>
          <a:lstStyle/>
          <a:p>
            <a:fld id="{28E9021D-675F-4984-8FE0-04DA4F4E22F1}" type="datetime1">
              <a:rPr lang="en-US" smtClean="0"/>
              <a:t>03-Oct-25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7168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>
            <a:noAutofit/>
          </a:bodyPr>
          <a:lstStyle/>
          <a:p>
            <a:fld id="{A7F72289-EB8A-47CA-A283-A769C9E761BF}" type="datetime1">
              <a:rPr lang="en-US" smtClean="0"/>
              <a:t>03-Oct-25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097308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0400" y="685800"/>
            <a:ext cx="4561665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EEFBBBB-A526-5A93-34B8-A377087586A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20736" y="2286000"/>
            <a:ext cx="4561665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20736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75067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4049900-C118-46F7-B9EF-5F7C1F0005B2}" type="datetime1">
              <a:rPr lang="en-US" smtClean="0"/>
              <a:t>03-Oct-25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6435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72002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599" y="2286000"/>
            <a:ext cx="4561666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3C6055EC-0CB7-A026-AE8C-74A36F768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599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AE86096B-57D4-1243-A86D-1D5E7DC3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63930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4049900-C118-46F7-B9EF-5F7C1F0005B2}" type="datetime1">
              <a:rPr lang="en-US" smtClean="0"/>
              <a:t>03-Oct-25</a:t>
            </a:fld>
            <a:endParaRPr lang="en-US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A98A8E55-200E-96B4-1462-6DA457A20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35959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48233842-32AB-C53C-CA20-8101D4E63DC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801536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20908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4" y="687787"/>
            <a:ext cx="3363259" cy="199339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1" y="2880360"/>
            <a:ext cx="3363259" cy="327461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212663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24724" y="6343955"/>
            <a:ext cx="922372" cy="365125"/>
          </a:xfrm>
        </p:spPr>
        <p:txBody>
          <a:bodyPr>
            <a:noAutofit/>
          </a:bodyPr>
          <a:lstStyle/>
          <a:p>
            <a:fld id="{0B4A3A31-ACEE-4A00-9ED7-D579651BDB0B}" type="datetime1">
              <a:rPr lang="en-US" smtClean="0"/>
              <a:t>03-Oct-25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2550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8" y="685800"/>
            <a:ext cx="3364992" cy="1996301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698" y="2880360"/>
            <a:ext cx="3364992" cy="323485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8">
            <a:extLst>
              <a:ext uri="{FF2B5EF4-FFF2-40B4-BE49-F238E27FC236}">
                <a16:creationId xmlns:a16="http://schemas.microsoft.com/office/drawing/2014/main" id="{C119522C-433C-CA02-AD5B-2ABB39A416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8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76C67AD-99A1-8DF0-C332-BB3E0C53717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27759" y="6343955"/>
            <a:ext cx="922372" cy="365125"/>
          </a:xfrm>
        </p:spPr>
        <p:txBody>
          <a:bodyPr>
            <a:noAutofit/>
          </a:bodyPr>
          <a:lstStyle/>
          <a:p>
            <a:fld id="{0B4A3A31-ACEE-4A00-9ED7-D579651BDB0B}" type="datetime1">
              <a:rPr lang="en-US" smtClean="0"/>
              <a:t>03-Oct-25</a:t>
            </a:fld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C8D2CF7B-FF7A-7960-DB96-2B1846DA41A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0131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08A763A-F1F9-D459-6C34-3976566275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7856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88117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9200" y="685800"/>
            <a:ext cx="2748115" cy="2743200"/>
          </a:xfrm>
          <a:noFill/>
        </p:spPr>
        <p:txBody>
          <a:bodyPr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487E718-4223-B4DB-C92A-99E891E642B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39200" y="3703320"/>
            <a:ext cx="2743201" cy="2476061"/>
          </a:xfrm>
          <a:noFill/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39200" y="6343955"/>
            <a:ext cx="1404460" cy="365125"/>
          </a:xfrm>
          <a:noFill/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  <a:noFill/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D7B7F7-7F90-4F0B-A996-5443656EFF4A}" type="datetime1">
              <a:rPr lang="en-US" smtClean="0"/>
              <a:t>03-Oct-25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  <a:noFill/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7131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685800"/>
            <a:ext cx="2748114" cy="2743200"/>
          </a:xfrm>
        </p:spPr>
        <p:txBody>
          <a:bodyPr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691" y="3703320"/>
            <a:ext cx="2743200" cy="247606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644F6AEF-CB45-AC6F-F205-7AB277670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697" y="6343955"/>
            <a:ext cx="140446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4">
            <a:extLst>
              <a:ext uri="{FF2B5EF4-FFF2-40B4-BE49-F238E27FC236}">
                <a16:creationId xmlns:a16="http://schemas.microsoft.com/office/drawing/2014/main" id="{980DDA2F-B408-A7AF-463F-3F6ED55C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69019" y="6343955"/>
            <a:ext cx="85457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D7B7F7-7F90-4F0B-A996-5443656EFF4A}" type="datetime1">
              <a:rPr lang="en-US" smtClean="0"/>
              <a:t>03-Oct-25</a:t>
            </a:fld>
            <a:endParaRPr lang="en-US" dirty="0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9C6A3F52-E7A3-B732-2650-C47F8BE25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923593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80894EEF-95B5-F8FE-9FBB-D5DFD413C06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96240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62595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343400"/>
            <a:ext cx="4019522" cy="115993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E0CE544-3552-FE00-5B00-942E522A2A5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2192000" cy="38862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600" y="4343400"/>
            <a:ext cx="6400800" cy="115993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2086C921-50A5-4289-8B96-30101E64A548}" type="datetime1">
              <a:rPr lang="en-US" smtClean="0"/>
              <a:t>03-Oct-25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2830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3886200"/>
            <a:ext cx="3044954" cy="2245126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7200" y="3886200"/>
            <a:ext cx="7315199" cy="2245127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B948B66-4D7B-4FF2-9F42-B85226272225}" type="datetime1">
              <a:rPr lang="en-US" smtClean="0"/>
              <a:t>03-Oct-25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79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3044954" cy="2035724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59158" y="685800"/>
            <a:ext cx="7315199" cy="2014665"/>
          </a:xfr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2896372"/>
            <a:ext cx="2791027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65894" y="2896372"/>
            <a:ext cx="1559379" cy="365125"/>
          </a:xfrm>
        </p:spPr>
        <p:txBody>
          <a:bodyPr>
            <a:noAutofit/>
          </a:bodyPr>
          <a:lstStyle/>
          <a:p>
            <a:fld id="{6D1D18D0-7308-42C5-B784-8892F327ABD3}" type="datetime1">
              <a:rPr lang="en-US" smtClean="0"/>
              <a:t>03-Oct-25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5151" y="2896372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178283B-8F20-CAA0-928D-318B857F959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414669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355455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8"/>
            <a:ext cx="5483353" cy="1388318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651760"/>
            <a:ext cx="5483352" cy="352185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B12E0E-A617-768A-7E0E-472481185B1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7792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C1D70B4-629A-1A3A-D1BB-D35C3AED4BAD}"/>
              </a:ext>
            </a:extLst>
          </p:cNvPr>
          <p:cNvCxnSpPr>
            <a:cxnSpLocks/>
          </p:cNvCxnSpPr>
          <p:nvPr userDrawn="1"/>
        </p:nvCxnSpPr>
        <p:spPr>
          <a:xfrm>
            <a:off x="609600" y="236222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7">
            <a:extLst>
              <a:ext uri="{FF2B5EF4-FFF2-40B4-BE49-F238E27FC236}">
                <a16:creationId xmlns:a16="http://schemas.microsoft.com/office/drawing/2014/main" id="{8F922763-A12B-44C2-4F2D-AAD3B317EC9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Date Placeholder 6">
            <a:extLst>
              <a:ext uri="{FF2B5EF4-FFF2-40B4-BE49-F238E27FC236}">
                <a16:creationId xmlns:a16="http://schemas.microsoft.com/office/drawing/2014/main" id="{88D44AB0-B4BD-5097-DB6C-0B96B75B1DA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5888334B-5C34-4E7E-A4B0-3A19575F6DD8}" type="datetime1">
              <a:rPr lang="en-US" smtClean="0"/>
              <a:t>03-Oct-25</a:t>
            </a:fld>
            <a:endParaRPr lang="en-US" dirty="0"/>
          </a:p>
        </p:txBody>
      </p:sp>
      <p:sp>
        <p:nvSpPr>
          <p:cNvPr id="14" name="Slide Number Placeholder 8">
            <a:extLst>
              <a:ext uri="{FF2B5EF4-FFF2-40B4-BE49-F238E27FC236}">
                <a16:creationId xmlns:a16="http://schemas.microsoft.com/office/drawing/2014/main" id="{8EA9CC9C-E71E-C316-0680-F4BD6EDC87C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2787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9753" cy="898525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4E15E62-FEF2-298A-EC8D-72D59188CB27}"/>
              </a:ext>
            </a:extLst>
          </p:cNvPr>
          <p:cNvCxnSpPr>
            <a:cxnSpLocks/>
          </p:cNvCxnSpPr>
          <p:nvPr userDrawn="1"/>
        </p:nvCxnSpPr>
        <p:spPr>
          <a:xfrm>
            <a:off x="609600" y="1905000"/>
            <a:ext cx="109728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" y="2286012"/>
            <a:ext cx="5479474" cy="298765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4892D5B-0772-8929-54F9-AA16EED38E2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5575" y="2285301"/>
            <a:ext cx="4863778" cy="388618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>
            <a:noAutofit/>
          </a:bodyPr>
          <a:lstStyle/>
          <a:p>
            <a:fld id="{6C46EC71-0129-40A3-85CE-244216EACC39}" type="datetime1">
              <a:rPr lang="en-US" smtClean="0"/>
              <a:t>03-Oct-25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782871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9903" y="685807"/>
            <a:ext cx="5486400" cy="1388302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3F8ACB4F-E132-97B5-797E-ADFB9AC8345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6658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89903" y="2650330"/>
            <a:ext cx="5486400" cy="3521854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0415657-C9CC-A8DC-C841-09A42AC901EC}"/>
              </a:ext>
            </a:extLst>
          </p:cNvPr>
          <p:cNvCxnSpPr>
            <a:cxnSpLocks/>
          </p:cNvCxnSpPr>
          <p:nvPr userDrawn="1"/>
        </p:nvCxnSpPr>
        <p:spPr>
          <a:xfrm>
            <a:off x="6089903" y="236221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D65827FC-FBF0-2A7B-2AE9-11D916DB97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6">
            <a:extLst>
              <a:ext uri="{FF2B5EF4-FFF2-40B4-BE49-F238E27FC236}">
                <a16:creationId xmlns:a16="http://schemas.microsoft.com/office/drawing/2014/main" id="{7D3F37AD-0904-9EC0-EFEE-899B457A453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5888334B-5C34-4E7E-A4B0-3A19575F6DD8}" type="datetime1">
              <a:rPr lang="en-US" smtClean="0"/>
              <a:t>03-Oct-25</a:t>
            </a:fld>
            <a:endParaRPr lang="en-US"/>
          </a:p>
        </p:txBody>
      </p:sp>
      <p:sp>
        <p:nvSpPr>
          <p:cNvPr id="6" name="Slide Number Placeholder 8">
            <a:extLst>
              <a:ext uri="{FF2B5EF4-FFF2-40B4-BE49-F238E27FC236}">
                <a16:creationId xmlns:a16="http://schemas.microsoft.com/office/drawing/2014/main" id="{655EC9E8-1A84-6C33-ADB3-D40020F509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5700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64763" cy="1426798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5580E71-5349-7975-EE00-1D48FBB4552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599" y="2514600"/>
            <a:ext cx="4564763" cy="363659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0060" y="685800"/>
            <a:ext cx="5792341" cy="5465398"/>
          </a:xfrm>
        </p:spPr>
        <p:txBody>
          <a:bodyPr anchor="b"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3CC8FB4D-92F2-4C28-8BFC-2AE0229C3E9A}" type="datetime1">
              <a:rPr lang="en-US" smtClean="0"/>
              <a:t>03-Oct-25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15593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89110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EC4665C-5805-BDA9-0EA4-387D86C88AB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647" y="2057400"/>
            <a:ext cx="2740153" cy="4091502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1" y="2057400"/>
            <a:ext cx="7766302" cy="409150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7B708C30-1428-4C16-AD49-DE42CFEA37BF}" type="datetime1">
              <a:rPr lang="en-US" smtClean="0"/>
              <a:t>03-Oct-25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80273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1DA757D-A9AE-985A-6EEE-C02E46D45DC9}"/>
              </a:ext>
            </a:extLst>
          </p:cNvPr>
          <p:cNvSpPr/>
          <p:nvPr/>
        </p:nvSpPr>
        <p:spPr>
          <a:xfrm>
            <a:off x="11250895" y="43434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71E517F-7D77-FEA1-94A2-D8522A1BF181}"/>
              </a:ext>
            </a:extLst>
          </p:cNvPr>
          <p:cNvSpPr/>
          <p:nvPr/>
        </p:nvSpPr>
        <p:spPr>
          <a:xfrm>
            <a:off x="685800" y="46938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2EAE4C-19D0-A0E4-1FDC-967BD2694E6F}"/>
              </a:ext>
            </a:extLst>
          </p:cNvPr>
          <p:cNvSpPr/>
          <p:nvPr/>
        </p:nvSpPr>
        <p:spPr>
          <a:xfrm>
            <a:off x="10998565" y="44258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E35C93-E0FF-6186-7502-985D78DA9B28}"/>
              </a:ext>
            </a:extLst>
          </p:cNvPr>
          <p:cNvSpPr/>
          <p:nvPr/>
        </p:nvSpPr>
        <p:spPr>
          <a:xfrm>
            <a:off x="10976145" y="44258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D4E889F8-D8CB-1564-17A8-26A2F4258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02546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3B51AE5-91E2-069A-7DF2-EB394DA25E2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DCE8854E-90F8-4761-A9B8-18B1C5A3D25C}" type="datetime1">
              <a:rPr lang="en-US" smtClean="0"/>
              <a:pPr/>
              <a:t>03-Oct-25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8503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E73F6F-B481-328B-CE64-8485DC66B8EA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7D968F-BFC6-694E-9A7C-A113E7DEBF65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77A14AD-A403-0816-9FED-F4E7BB405B17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C5DE6E3-5C5B-04A2-6D84-63D852F6062A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6D258FD5-5B6B-DBB1-0F00-D02C7119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859867"/>
            <a:ext cx="9144000" cy="10972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96BB08E-5668-89FF-C0AE-D8A83C783F7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600199"/>
            <a:ext cx="9171115" cy="3259668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3DF09C0-6535-4055-81CC-988E059C8EEC}" type="datetime1">
              <a:rPr lang="en-US" smtClean="0"/>
              <a:t>03-Oct-25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280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132C402C-8B4C-3690-6875-FE157681B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25780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C80DC0CF-9044-3D55-7D8F-4CD97232E3E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B85187EE-7BBC-405E-B3F5-9C3E88970356}" type="datetime1">
              <a:rPr lang="en-US" smtClean="0"/>
              <a:t>03-Oct-25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B480B90-B64C-0559-ACB2-7DBB57135C77}"/>
              </a:ext>
            </a:extLst>
          </p:cNvPr>
          <p:cNvSpPr/>
          <p:nvPr/>
        </p:nvSpPr>
        <p:spPr>
          <a:xfrm>
            <a:off x="11250895" y="456206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D2E866D-D29F-1CC5-14B2-BB24F10745FE}"/>
              </a:ext>
            </a:extLst>
          </p:cNvPr>
          <p:cNvSpPr/>
          <p:nvPr/>
        </p:nvSpPr>
        <p:spPr>
          <a:xfrm>
            <a:off x="685800" y="491255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A0DC7F-E416-CA3E-E389-945D5FA32CC9}"/>
              </a:ext>
            </a:extLst>
          </p:cNvPr>
          <p:cNvSpPr/>
          <p:nvPr/>
        </p:nvSpPr>
        <p:spPr>
          <a:xfrm>
            <a:off x="10998565" y="464449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2D9CC5C-2252-AB09-49B5-FD1BE0E74E30}"/>
              </a:ext>
            </a:extLst>
          </p:cNvPr>
          <p:cNvSpPr/>
          <p:nvPr/>
        </p:nvSpPr>
        <p:spPr>
          <a:xfrm>
            <a:off x="10976145" y="464449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015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979D7E7-81D7-BD45-ADEC-E83F7EF73EC8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6D6EAAA-843B-4F5B-47BF-3A0B75B59A45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5A4CCB8-341A-D7B3-2B2F-C6943129C281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1B2662-9528-65C6-986B-EA4135BF4CA6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685800"/>
            <a:ext cx="10972800" cy="4514529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967A35BA-41D5-4E87-94C2-E365E2A3656B}" type="datetime1">
              <a:rPr lang="en-US" smtClean="0"/>
              <a:t>03-Oct-25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390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0572EAA-9C03-6737-7961-89F7D9E127AC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D2A1F66-1FB1-8357-178D-CB1C0F8B7E56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D8E75-63C0-8CE8-7E5A-37E4E429140F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DF1B2A2-FEB2-CC42-0F0F-71CD13535424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85800"/>
            <a:ext cx="10972800" cy="45720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DA4345C7-9F39-4767-92C9-EBF29396D0A9}" type="datetime1">
              <a:rPr lang="en-US" smtClean="0"/>
              <a:t>03-Oct-25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2144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2479" y="685800"/>
            <a:ext cx="9140953" cy="2699775"/>
          </a:xfrm>
        </p:spPr>
        <p:txBody>
          <a:bodyPr anchor="t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A6891D2-C712-4357-A4F9-7362E459A272}" type="datetime1">
              <a:rPr lang="en-US" smtClean="0"/>
              <a:pPr/>
              <a:t>03-Oct-25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E594965-EF4A-40C0-FED1-CF5564CED970}"/>
              </a:ext>
            </a:extLst>
          </p:cNvPr>
          <p:cNvSpPr/>
          <p:nvPr/>
        </p:nvSpPr>
        <p:spPr>
          <a:xfrm>
            <a:off x="11250895" y="456206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9DE90F9-432C-AEEC-88D5-177A0E299391}"/>
              </a:ext>
            </a:extLst>
          </p:cNvPr>
          <p:cNvSpPr/>
          <p:nvPr/>
        </p:nvSpPr>
        <p:spPr>
          <a:xfrm>
            <a:off x="685800" y="491255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8ECD3CD-C697-A46B-71F2-D64BD77C395C}"/>
              </a:ext>
            </a:extLst>
          </p:cNvPr>
          <p:cNvSpPr/>
          <p:nvPr/>
        </p:nvSpPr>
        <p:spPr>
          <a:xfrm>
            <a:off x="10998565" y="464449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6793A7-6512-567E-DAFF-BB4A63B89DC3}"/>
              </a:ext>
            </a:extLst>
          </p:cNvPr>
          <p:cNvSpPr/>
          <p:nvPr/>
        </p:nvSpPr>
        <p:spPr>
          <a:xfrm>
            <a:off x="10976145" y="464449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6A0D5A-6B2D-15B8-4FC0-30535DF01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38257922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D86F34B-87C2-AC58-5483-78C0E5DB477C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B6B59A7-7C3C-7431-CC9A-51EFBA257959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2D0661-BB9A-E751-A4EB-2C95BF96A560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09A5AB9-86E5-2BD1-8EFC-49C204619282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600200"/>
            <a:ext cx="10055353" cy="3657601"/>
          </a:xfrm>
        </p:spPr>
        <p:txBody>
          <a:bodyPr anchor="b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4566FD-24FB-4338-A35C-D9AE347B4F66}" type="datetime1">
              <a:rPr lang="en-US" smtClean="0"/>
              <a:pPr/>
              <a:t>03-Oct-25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5">
            <a:extLst>
              <a:ext uri="{FF2B5EF4-FFF2-40B4-BE49-F238E27FC236}">
                <a16:creationId xmlns:a16="http://schemas.microsoft.com/office/drawing/2014/main" id="{A4A8879E-F637-BA38-C325-517B59E12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35255869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0ED10B2-4172-93C9-B408-242DDBA504A8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CF4AA95-C597-81F0-35EA-96B5BA7A12BB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37871-D86F-9BA6-1D96-9B3392C2F247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203EFA-FE43-9B63-5768-4A3FD1509639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868680"/>
            <a:ext cx="9140952" cy="3660746"/>
          </a:xfrm>
        </p:spPr>
        <p:txBody>
          <a:bodyPr anchor="ctr">
            <a:noAutofit/>
          </a:bodyPr>
          <a:lstStyle>
            <a:lvl1pPr marL="164592" indent="-164592">
              <a:lnSpc>
                <a:spcPct val="11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02BF1DD-1BF4-406D-9906-B4846BCC8D55}" type="datetime1">
              <a:rPr lang="en-US" smtClean="0"/>
              <a:pPr/>
              <a:t>03-Oct-25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259B8E5-883A-B6CE-4C6C-F6F48B038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4617720"/>
            <a:ext cx="9140951" cy="788609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134009213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965960"/>
            <a:ext cx="5074920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70969" y="1965960"/>
            <a:ext cx="5075237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D0A52C9-A7D6-4EB8-8F3D-1519181DDC1D}" type="datetime1">
              <a:rPr lang="en-US" smtClean="0"/>
              <a:t>03-Oct-25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86054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A77448-F1DA-CAC1-9B05-8F5CE65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1878566"/>
            <a:ext cx="5074920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97572" y="1878566"/>
            <a:ext cx="5075556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514600"/>
            <a:ext cx="5075238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97572" y="2514600"/>
            <a:ext cx="5075556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2E9CE581-A048-42A8-B14C-488A3338D2F0}" type="datetime1">
              <a:rPr lang="en-US" smtClean="0"/>
              <a:t>03-Oct-25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F5184-1DAA-DFF4-A408-3D5DD1517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F37B15FB-E45F-4977-9C40-BB6531CE6EA6}" type="datetime1">
              <a:rPr lang="en-US" smtClean="0"/>
              <a:t>03-Oct-25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5574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8922BC5-E711-4A36-A80E-0A418F83672D}" type="datetime1">
              <a:rPr lang="en-US" smtClean="0"/>
              <a:t>03-Oct-25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306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A9EA653-B766-E096-036C-1C173E299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1845593-CC30-27D6-3F82-E2BA784C4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1" y="685800"/>
            <a:ext cx="6699502" cy="548640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81D94988-488B-40CC-9623-27A54F95F7B4}" type="datetime1">
              <a:rPr lang="en-US" smtClean="0"/>
              <a:t>03-Oct-25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4122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872039" y="685800"/>
            <a:ext cx="6699502" cy="544263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FA3C7011-18F0-49E4-85C9-3E22BE44E3EB}" type="datetime1">
              <a:rPr lang="en-US" smtClean="0"/>
              <a:t>03-Oct-25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12642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72800" cy="1828800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429000"/>
            <a:ext cx="10972800" cy="2743198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07EC6D5-3C89-D412-4A74-4DD843571D29}"/>
              </a:ext>
            </a:extLst>
          </p:cNvPr>
          <p:cNvCxnSpPr/>
          <p:nvPr userDrawn="1"/>
        </p:nvCxnSpPr>
        <p:spPr>
          <a:xfrm>
            <a:off x="621792" y="2895600"/>
            <a:ext cx="10963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8B1E6060-C53E-4F28-8D83-0C4FB26C4A3F}" type="datetime1">
              <a:rPr lang="en-US" smtClean="0"/>
              <a:t>03-Oct-25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4208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AB975A1-C2E9-D1D4-3C6F-7296B13798B1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243F218-F67B-B464-9035-A6AA389E6224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1F0E05A-E796-C1AE-DCB2-706459874FC1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C863187-9C01-45D7-5737-0DEACAA80C83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8226424" cy="3725056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7" y="4572000"/>
            <a:ext cx="8226424" cy="1608008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800"/>
            </a:lvl2pPr>
            <a:lvl3pPr marL="457200" indent="0">
              <a:buNone/>
              <a:defRPr sz="1800"/>
            </a:lvl3pPr>
            <a:lvl4pPr marL="685800" indent="0">
              <a:buNone/>
              <a:defRPr sz="1800"/>
            </a:lvl4pPr>
            <a:lvl5pPr marL="914400" indent="0"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D3D1E3E-5DD4-4BAD-A138-1254BF94C224}" type="datetime1">
              <a:rPr lang="en-US" smtClean="0"/>
              <a:t>03-Oct-25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075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9"/>
            <a:ext cx="10963655" cy="9144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600200"/>
            <a:ext cx="10963656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7DF4F7BB-A1DF-4BD2-8D5B-CA9EB40127CE}" type="datetime1">
              <a:rPr lang="en-US" smtClean="0"/>
              <a:pPr/>
              <a:t>03-Oct-25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20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400" b="0" i="0" kern="1200" cap="all" spc="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7" orient="horz" pos="2160">
          <p15:clr>
            <a:srgbClr val="F26B43"/>
          </p15:clr>
        </p15:guide>
        <p15:guide id="28" pos="3840">
          <p15:clr>
            <a:srgbClr val="F26B43"/>
          </p15:clr>
        </p15:guide>
        <p15:guide id="29" pos="7296">
          <p15:clr>
            <a:srgbClr val="F26B43"/>
          </p15:clr>
        </p15:guide>
        <p15:guide id="3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naslov 2">
            <a:extLst>
              <a:ext uri="{FF2B5EF4-FFF2-40B4-BE49-F238E27FC236}">
                <a16:creationId xmlns:a16="http://schemas.microsoft.com/office/drawing/2014/main" id="{A4AFDCCE-E2C2-4C92-74E9-54CA1F1A5F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5" y="4821936"/>
            <a:ext cx="10483927" cy="816864"/>
          </a:xfrm>
        </p:spPr>
        <p:txBody>
          <a:bodyPr>
            <a:normAutofit/>
          </a:bodyPr>
          <a:lstStyle/>
          <a:p>
            <a:r>
              <a:rPr lang="pl-PL" dirty="0"/>
              <a:t>Pametno rješenje za privatni parking u urbanim sredinam</a:t>
            </a:r>
            <a:endParaRPr lang="en-US" dirty="0"/>
          </a:p>
        </p:txBody>
      </p:sp>
      <p:sp>
        <p:nvSpPr>
          <p:cNvPr id="4" name="Podnaslov 2">
            <a:extLst>
              <a:ext uri="{FF2B5EF4-FFF2-40B4-BE49-F238E27FC236}">
                <a16:creationId xmlns:a16="http://schemas.microsoft.com/office/drawing/2014/main" id="{0A99CC13-2D58-9E26-E947-8293661B2D0E}"/>
              </a:ext>
            </a:extLst>
          </p:cNvPr>
          <p:cNvSpPr txBox="1">
            <a:spLocks/>
          </p:cNvSpPr>
          <p:nvPr/>
        </p:nvSpPr>
        <p:spPr>
          <a:xfrm>
            <a:off x="612644" y="5748661"/>
            <a:ext cx="10483927" cy="816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b="0" i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Pilot </a:t>
            </a:r>
            <a:r>
              <a:rPr lang="en-US" dirty="0" err="1"/>
              <a:t>projekat</a:t>
            </a:r>
            <a:r>
              <a:rPr lang="en-US" dirty="0"/>
              <a:t>: Novi Sad</a:t>
            </a:r>
            <a:br>
              <a:rPr lang="en-US" dirty="0"/>
            </a:br>
            <a:r>
              <a:rPr lang="en-US" dirty="0"/>
              <a:t>Autor: Radoslav Mastilović – Tim </a:t>
            </a:r>
            <a:r>
              <a:rPr lang="en-US" dirty="0" err="1"/>
              <a:t>ParkSmart</a:t>
            </a:r>
            <a:endParaRPr lang="en-US" dirty="0"/>
          </a:p>
        </p:txBody>
      </p:sp>
      <p:sp>
        <p:nvSpPr>
          <p:cNvPr id="6" name="Okvir za tekst 5">
            <a:extLst>
              <a:ext uri="{FF2B5EF4-FFF2-40B4-BE49-F238E27FC236}">
                <a16:creationId xmlns:a16="http://schemas.microsoft.com/office/drawing/2014/main" id="{4DA99F29-04BE-1299-BDFA-9C1877DDD66F}"/>
              </a:ext>
            </a:extLst>
          </p:cNvPr>
          <p:cNvSpPr txBox="1"/>
          <p:nvPr/>
        </p:nvSpPr>
        <p:spPr>
          <a:xfrm>
            <a:off x="612644" y="1349829"/>
            <a:ext cx="1095887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PARKSMART: PAMETNO RJEŠENJE ZA PRIVATNI PARKING U URBANIM SREDINAMA</a:t>
            </a:r>
            <a:endParaRPr lang="en-US" sz="4000" dirty="0"/>
          </a:p>
          <a:p>
            <a:endParaRPr lang="en-US" sz="4000" dirty="0"/>
          </a:p>
          <a:p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181417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25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1" nodeType="withEffect">
                                  <p:stCondLst>
                                    <p:cond delay="25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/>
      <p:bldP spid="4" grpId="0" build="p"/>
      <p:bldP spid="4" grpId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75A7D03-D06B-22E5-A50E-BADCD9547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600" dirty="0"/>
              <a:t>Problem: </a:t>
            </a:r>
            <a:r>
              <a:rPr lang="pl-PL" sz="2800" dirty="0"/>
              <a:t>Nedostatak parkinga u urbanim sredinama</a:t>
            </a:r>
            <a:endParaRPr lang="en-US" sz="2600" dirty="0"/>
          </a:p>
        </p:txBody>
      </p:sp>
      <p:pic>
        <p:nvPicPr>
          <p:cNvPr id="5" name="Čuvar mesta za sadržaj 4" descr="Zračna linija automobila na parkiralištu">
            <a:extLst>
              <a:ext uri="{FF2B5EF4-FFF2-40B4-BE49-F238E27FC236}">
                <a16:creationId xmlns:a16="http://schemas.microsoft.com/office/drawing/2014/main" id="{52286454-C443-4F29-8D5C-502EFE3C868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4136" r="25990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56C80A11-801E-73D2-C3DC-EE6582FCD988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Gubitak</a:t>
            </a:r>
            <a:r>
              <a:rPr lang="en-US" b="1" dirty="0"/>
              <a:t> </a:t>
            </a:r>
            <a:r>
              <a:rPr lang="en-US" b="1" dirty="0" err="1"/>
              <a:t>vremena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novca</a:t>
            </a:r>
            <a:endParaRPr lang="en-US" b="1" dirty="0"/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US" dirty="0" err="1"/>
              <a:t>Vozači</a:t>
            </a:r>
            <a:r>
              <a:rPr lang="en-US" dirty="0"/>
              <a:t> u </a:t>
            </a:r>
            <a:r>
              <a:rPr lang="en-US" dirty="0" err="1"/>
              <a:t>gradovima</a:t>
            </a:r>
            <a:r>
              <a:rPr lang="en-US" dirty="0"/>
              <a:t> </a:t>
            </a:r>
            <a:r>
              <a:rPr lang="en-US" dirty="0" err="1"/>
              <a:t>troše</a:t>
            </a:r>
            <a:r>
              <a:rPr lang="en-US" dirty="0"/>
              <a:t> </a:t>
            </a:r>
            <a:r>
              <a:rPr lang="en-US" dirty="0" err="1"/>
              <a:t>puno</a:t>
            </a:r>
            <a:r>
              <a:rPr lang="en-US" dirty="0"/>
              <a:t> </a:t>
            </a:r>
            <a:r>
              <a:rPr lang="en-US" dirty="0" err="1"/>
              <a:t>vremena</a:t>
            </a:r>
            <a:r>
              <a:rPr lang="en-US" dirty="0"/>
              <a:t> (15 </a:t>
            </a:r>
            <a:r>
              <a:rPr lang="en-US" dirty="0" err="1"/>
              <a:t>minuta</a:t>
            </a:r>
            <a:r>
              <a:rPr lang="en-US" dirty="0"/>
              <a:t> u </a:t>
            </a:r>
            <a:r>
              <a:rPr lang="en-US" dirty="0" err="1"/>
              <a:t>prosjeku</a:t>
            </a:r>
            <a:r>
              <a:rPr lang="en-US" dirty="0"/>
              <a:t>)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novca</a:t>
            </a:r>
            <a:r>
              <a:rPr lang="en-US" dirty="0"/>
              <a:t> </a:t>
            </a:r>
            <a:r>
              <a:rPr lang="en-US" dirty="0" err="1"/>
              <a:t>tražeći</a:t>
            </a:r>
            <a:r>
              <a:rPr lang="en-US" dirty="0"/>
              <a:t> </a:t>
            </a:r>
            <a:r>
              <a:rPr lang="en-US" dirty="0" err="1"/>
              <a:t>slobodno</a:t>
            </a:r>
            <a:r>
              <a:rPr lang="en-US" dirty="0"/>
              <a:t> parking </a:t>
            </a:r>
            <a:r>
              <a:rPr lang="en-US" dirty="0" err="1"/>
              <a:t>mjesto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povećava</a:t>
            </a:r>
            <a:r>
              <a:rPr lang="sr-Latn-RS" dirty="0"/>
              <a:t> </a:t>
            </a:r>
            <a:r>
              <a:rPr lang="en-US" dirty="0" err="1"/>
              <a:t>saobra</a:t>
            </a:r>
            <a:r>
              <a:rPr lang="sr-Latn-RS" dirty="0" err="1"/>
              <a:t>ćajne</a:t>
            </a:r>
            <a:r>
              <a:rPr lang="sr-Latn-RS" dirty="0"/>
              <a:t> gužve,</a:t>
            </a:r>
            <a:r>
              <a:rPr lang="en-US" dirty="0"/>
              <a:t> </a:t>
            </a:r>
            <a:r>
              <a:rPr lang="en-US" dirty="0" err="1"/>
              <a:t>stres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troškove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Neefikasna</a:t>
            </a:r>
            <a:r>
              <a:rPr lang="en-US" b="1" dirty="0"/>
              <a:t> </a:t>
            </a:r>
            <a:r>
              <a:rPr lang="en-US" b="1" dirty="0" err="1"/>
              <a:t>iskorištenost</a:t>
            </a:r>
            <a:r>
              <a:rPr lang="en-US" b="1" dirty="0"/>
              <a:t> </a:t>
            </a:r>
            <a:r>
              <a:rPr lang="en-US" b="1" dirty="0" err="1"/>
              <a:t>prostora</a:t>
            </a:r>
            <a:endParaRPr lang="en-US" b="1" dirty="0"/>
          </a:p>
          <a:p>
            <a:pPr marL="0" lvl="1"/>
            <a:r>
              <a:rPr lang="en-US" dirty="0" err="1"/>
              <a:t>Mnogi</a:t>
            </a:r>
            <a:r>
              <a:rPr lang="en-US" dirty="0"/>
              <a:t> </a:t>
            </a:r>
            <a:r>
              <a:rPr lang="en-US" dirty="0" err="1"/>
              <a:t>privatni</a:t>
            </a:r>
            <a:r>
              <a:rPr lang="en-US" dirty="0"/>
              <a:t> parking </a:t>
            </a:r>
            <a:r>
              <a:rPr lang="en-US" dirty="0" err="1"/>
              <a:t>prostori</a:t>
            </a:r>
            <a:r>
              <a:rPr lang="en-US" dirty="0"/>
              <a:t> </a:t>
            </a:r>
            <a:r>
              <a:rPr lang="en-US" dirty="0" err="1"/>
              <a:t>ostaju</a:t>
            </a:r>
            <a:r>
              <a:rPr lang="en-US" dirty="0"/>
              <a:t> </a:t>
            </a:r>
            <a:r>
              <a:rPr lang="en-US" dirty="0" err="1"/>
              <a:t>prazni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neiskorišteni</a:t>
            </a:r>
            <a:r>
              <a:rPr lang="en-US" dirty="0"/>
              <a:t>, </a:t>
            </a:r>
            <a:r>
              <a:rPr lang="en-US" dirty="0" err="1"/>
              <a:t>dok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javni</a:t>
            </a:r>
            <a:r>
              <a:rPr lang="en-US" dirty="0"/>
              <a:t> </a:t>
            </a:r>
            <a:r>
              <a:rPr lang="en-US" dirty="0" err="1"/>
              <a:t>kapaciteti</a:t>
            </a:r>
            <a:r>
              <a:rPr lang="en-US" dirty="0"/>
              <a:t> </a:t>
            </a:r>
            <a:r>
              <a:rPr lang="en-US" dirty="0" err="1"/>
              <a:t>preopterećeni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nedovoljni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Povećane</a:t>
            </a:r>
            <a:r>
              <a:rPr lang="en-US" b="1" dirty="0"/>
              <a:t> </a:t>
            </a:r>
            <a:r>
              <a:rPr lang="en-US" b="1" dirty="0" err="1"/>
              <a:t>emisije</a:t>
            </a:r>
            <a:r>
              <a:rPr lang="en-US" b="1" dirty="0"/>
              <a:t> CO2</a:t>
            </a:r>
          </a:p>
          <a:p>
            <a:pPr marL="0" lvl="1"/>
            <a:r>
              <a:rPr lang="en-US" dirty="0" err="1"/>
              <a:t>Traženje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 </a:t>
            </a:r>
            <a:r>
              <a:rPr lang="en-US" dirty="0" err="1"/>
              <a:t>povećava</a:t>
            </a:r>
            <a:r>
              <a:rPr lang="en-US" dirty="0"/>
              <a:t> </a:t>
            </a:r>
            <a:r>
              <a:rPr lang="en-US" dirty="0" err="1"/>
              <a:t>emisiju</a:t>
            </a:r>
            <a:r>
              <a:rPr lang="en-US" dirty="0"/>
              <a:t> CO2, </a:t>
            </a:r>
            <a:r>
              <a:rPr lang="pt-BR" dirty="0"/>
              <a:t>što negativno utiče na životnu sredinu i kvalitet vazduha u gradovima.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748986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0EB4EA4-DF4E-2192-335D-1D53FD28D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200" dirty="0" err="1"/>
              <a:t>Rješenje</a:t>
            </a:r>
            <a:r>
              <a:rPr lang="en-US" sz="2200" dirty="0"/>
              <a:t>: </a:t>
            </a:r>
            <a:r>
              <a:rPr lang="en-US" sz="2400" dirty="0"/>
              <a:t>Web </a:t>
            </a:r>
            <a:r>
              <a:rPr lang="en-US" sz="2400" dirty="0" err="1"/>
              <a:t>platforma</a:t>
            </a:r>
            <a:r>
              <a:rPr lang="en-US" sz="2400" dirty="0"/>
              <a:t> za </a:t>
            </a:r>
            <a:r>
              <a:rPr lang="en-US" sz="2400" dirty="0" err="1"/>
              <a:t>dijeljenje</a:t>
            </a:r>
            <a:r>
              <a:rPr lang="en-US" sz="2400" dirty="0"/>
              <a:t> </a:t>
            </a:r>
            <a:r>
              <a:rPr lang="en-US" sz="2400" dirty="0" err="1"/>
              <a:t>privatnih</a:t>
            </a:r>
            <a:r>
              <a:rPr lang="en-US" sz="2400" dirty="0"/>
              <a:t> parking </a:t>
            </a:r>
            <a:r>
              <a:rPr lang="en-US" sz="2400" dirty="0" err="1"/>
              <a:t>mjesta</a:t>
            </a:r>
            <a:endParaRPr lang="en-US" sz="2200" dirty="0"/>
          </a:p>
        </p:txBody>
      </p:sp>
      <p:pic>
        <p:nvPicPr>
          <p:cNvPr id="5" name="Čuvar mesta za sadržaj 4" descr="Pametni telefon s ikonom automobila">
            <a:extLst>
              <a:ext uri="{FF2B5EF4-FFF2-40B4-BE49-F238E27FC236}">
                <a16:creationId xmlns:a16="http://schemas.microsoft.com/office/drawing/2014/main" id="{F98DAE6F-85BF-4594-B3C8-DF9CBE34C5F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6749" r="23734" b="-2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9253C647-EB32-101A-BD4B-0DD0895447E7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Povezivanje</a:t>
            </a:r>
            <a:r>
              <a:rPr lang="en-US" b="1" dirty="0"/>
              <a:t> </a:t>
            </a:r>
            <a:r>
              <a:rPr lang="en-US" b="1" dirty="0" err="1"/>
              <a:t>vlasnika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vozača</a:t>
            </a:r>
            <a:endParaRPr lang="en-US" b="1" dirty="0"/>
          </a:p>
          <a:p>
            <a:pPr marL="0" lvl="1"/>
            <a:r>
              <a:rPr lang="en-US" dirty="0" err="1"/>
              <a:t>Omogućava</a:t>
            </a:r>
            <a:r>
              <a:rPr lang="en-US" dirty="0"/>
              <a:t> </a:t>
            </a:r>
            <a:r>
              <a:rPr lang="en-US" dirty="0" err="1"/>
              <a:t>direktnu</a:t>
            </a:r>
            <a:r>
              <a:rPr lang="en-US" dirty="0"/>
              <a:t> </a:t>
            </a:r>
            <a:r>
              <a:rPr lang="en-US" dirty="0" err="1"/>
              <a:t>vezu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vlasnika</a:t>
            </a:r>
            <a:r>
              <a:rPr lang="en-US" dirty="0"/>
              <a:t> </a:t>
            </a:r>
            <a:r>
              <a:rPr lang="en-US" dirty="0" err="1"/>
              <a:t>slobodnih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vozača</a:t>
            </a:r>
            <a:r>
              <a:rPr lang="en-US" dirty="0"/>
              <a:t> </a:t>
            </a:r>
            <a:r>
              <a:rPr lang="en-US" dirty="0" err="1"/>
              <a:t>kojima</a:t>
            </a:r>
            <a:r>
              <a:rPr lang="en-US" dirty="0"/>
              <a:t> je </a:t>
            </a:r>
            <a:r>
              <a:rPr lang="en-US" dirty="0" err="1"/>
              <a:t>potreban</a:t>
            </a:r>
            <a:r>
              <a:rPr lang="en-US" dirty="0"/>
              <a:t> </a:t>
            </a:r>
            <a:r>
              <a:rPr lang="en-US" dirty="0" err="1"/>
              <a:t>prostor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Rezervacija</a:t>
            </a:r>
            <a:r>
              <a:rPr lang="en-US" b="1" dirty="0"/>
              <a:t> </a:t>
            </a:r>
            <a:r>
              <a:rPr lang="en-US" b="1" dirty="0" err="1"/>
              <a:t>parkiranja</a:t>
            </a:r>
            <a:endParaRPr lang="en-US" b="1" dirty="0"/>
          </a:p>
          <a:p>
            <a:pPr marL="0" lvl="1"/>
            <a:r>
              <a:rPr lang="en-US" dirty="0" err="1"/>
              <a:t>Korisnici</a:t>
            </a:r>
            <a:r>
              <a:rPr lang="en-US" dirty="0"/>
              <a:t> </a:t>
            </a:r>
            <a:r>
              <a:rPr lang="en-US" dirty="0" err="1"/>
              <a:t>mogu</a:t>
            </a:r>
            <a:r>
              <a:rPr lang="en-US" dirty="0"/>
              <a:t> </a:t>
            </a:r>
            <a:r>
              <a:rPr lang="en-US" dirty="0" err="1"/>
              <a:t>rezervisati</a:t>
            </a:r>
            <a:r>
              <a:rPr lang="en-US" dirty="0"/>
              <a:t> parking </a:t>
            </a:r>
            <a:r>
              <a:rPr lang="en-US" dirty="0" err="1"/>
              <a:t>unaprijed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vremenu</a:t>
            </a:r>
            <a:r>
              <a:rPr lang="en-US" dirty="0"/>
              <a:t> 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jednostavnog</a:t>
            </a:r>
            <a:r>
              <a:rPr lang="en-US" dirty="0"/>
              <a:t> </a:t>
            </a:r>
            <a:r>
              <a:rPr lang="en-US" dirty="0" err="1"/>
              <a:t>interfejsa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Maksimalna</a:t>
            </a:r>
            <a:r>
              <a:rPr lang="en-US" b="1" dirty="0"/>
              <a:t> </a:t>
            </a:r>
            <a:r>
              <a:rPr lang="en-US" b="1" dirty="0" err="1"/>
              <a:t>iskorištenost</a:t>
            </a:r>
            <a:r>
              <a:rPr lang="en-US" b="1" dirty="0"/>
              <a:t> </a:t>
            </a:r>
            <a:r>
              <a:rPr lang="en-US" b="1" dirty="0" err="1"/>
              <a:t>prostora</a:t>
            </a:r>
            <a:endParaRPr lang="en-US" b="1" dirty="0"/>
          </a:p>
          <a:p>
            <a:pPr marL="0" lvl="1"/>
            <a:r>
              <a:rPr lang="en-US" dirty="0" err="1"/>
              <a:t>Privatna</a:t>
            </a:r>
            <a:r>
              <a:rPr lang="en-US" dirty="0"/>
              <a:t> </a:t>
            </a:r>
            <a:r>
              <a:rPr lang="en-US" dirty="0" err="1"/>
              <a:t>mjesta</a:t>
            </a:r>
            <a:r>
              <a:rPr lang="en-US" dirty="0"/>
              <a:t> se </a:t>
            </a:r>
            <a:r>
              <a:rPr lang="en-US" dirty="0" err="1"/>
              <a:t>efikasnije</a:t>
            </a:r>
            <a:r>
              <a:rPr lang="en-US" dirty="0"/>
              <a:t> </a:t>
            </a:r>
            <a:r>
              <a:rPr lang="en-US" dirty="0" err="1"/>
              <a:t>koriste</a:t>
            </a:r>
            <a:r>
              <a:rPr lang="en-US" dirty="0"/>
              <a:t>, </a:t>
            </a:r>
            <a:r>
              <a:rPr lang="en-US" dirty="0" err="1"/>
              <a:t>smanjujući</a:t>
            </a:r>
            <a:r>
              <a:rPr lang="en-US" dirty="0"/>
              <a:t> </a:t>
            </a:r>
            <a:r>
              <a:rPr lang="en-US" dirty="0" err="1"/>
              <a:t>gužve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traženje</a:t>
            </a:r>
            <a:r>
              <a:rPr lang="en-US" dirty="0"/>
              <a:t> </a:t>
            </a:r>
            <a:r>
              <a:rPr lang="en-US" dirty="0" err="1"/>
              <a:t>parkinga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910906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8B4C0F1-A5DD-3EA5-323A-7E63A884F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600" dirty="0" err="1"/>
              <a:t>Tržište</a:t>
            </a:r>
            <a:r>
              <a:rPr lang="en-US" sz="2600" dirty="0"/>
              <a:t> </a:t>
            </a:r>
            <a:r>
              <a:rPr lang="en-US" sz="2600" dirty="0" err="1"/>
              <a:t>i</a:t>
            </a:r>
            <a:r>
              <a:rPr lang="en-US" sz="2600" dirty="0"/>
              <a:t> </a:t>
            </a:r>
            <a:r>
              <a:rPr lang="en-US" sz="2600" dirty="0" err="1"/>
              <a:t>potencijal</a:t>
            </a:r>
            <a:r>
              <a:rPr lang="en-US" sz="2600" dirty="0"/>
              <a:t>:</a:t>
            </a:r>
          </a:p>
        </p:txBody>
      </p:sp>
      <p:pic>
        <p:nvPicPr>
          <p:cNvPr id="5" name="Čuvar mesta za sadržaj 4" descr="Pogled iz visokog kuta na prometni pješački prijelaz u središtu Edinburgha u Škotskoj.">
            <a:extLst>
              <a:ext uri="{FF2B5EF4-FFF2-40B4-BE49-F238E27FC236}">
                <a16:creationId xmlns:a16="http://schemas.microsoft.com/office/drawing/2014/main" id="{80B7B1DD-64D2-4B07-8B11-D7A9EBF1925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40661" r="23763" b="1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30956A60-D771-7479-C588-ADCDA8ABD1B7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Fokus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Novi Sad</a:t>
            </a:r>
          </a:p>
          <a:p>
            <a:pPr marL="0" lvl="1"/>
            <a:r>
              <a:rPr lang="en-US" dirty="0"/>
              <a:t>Pilot grad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izraženim</a:t>
            </a:r>
            <a:r>
              <a:rPr lang="en-US" dirty="0"/>
              <a:t> </a:t>
            </a:r>
            <a:r>
              <a:rPr lang="en-US" dirty="0" err="1"/>
              <a:t>problemom</a:t>
            </a:r>
            <a:r>
              <a:rPr lang="en-US" dirty="0"/>
              <a:t> </a:t>
            </a:r>
            <a:r>
              <a:rPr lang="en-US" dirty="0" err="1"/>
              <a:t>nedostatka</a:t>
            </a:r>
            <a:r>
              <a:rPr lang="en-US" dirty="0"/>
              <a:t> </a:t>
            </a:r>
            <a:r>
              <a:rPr lang="en-US" dirty="0" err="1"/>
              <a:t>parkinga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raznolikim</a:t>
            </a:r>
            <a:r>
              <a:rPr lang="en-US" dirty="0"/>
              <a:t> </a:t>
            </a:r>
            <a:r>
              <a:rPr lang="en-US" dirty="0" err="1"/>
              <a:t>korisničkim</a:t>
            </a:r>
            <a:r>
              <a:rPr lang="en-US" dirty="0"/>
              <a:t> </a:t>
            </a:r>
            <a:r>
              <a:rPr lang="en-US" dirty="0" err="1"/>
              <a:t>grupama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Ciljne</a:t>
            </a:r>
            <a:r>
              <a:rPr lang="en-US" b="1" dirty="0"/>
              <a:t> </a:t>
            </a:r>
            <a:r>
              <a:rPr lang="en-US" b="1" dirty="0" err="1"/>
              <a:t>grupe</a:t>
            </a:r>
            <a:endParaRPr lang="en-US" b="1" dirty="0"/>
          </a:p>
          <a:p>
            <a:pPr marL="0" lvl="1"/>
            <a:r>
              <a:rPr lang="en-US" dirty="0" err="1"/>
              <a:t>Studenti</a:t>
            </a:r>
            <a:r>
              <a:rPr lang="en-US" dirty="0"/>
              <a:t>, </a:t>
            </a:r>
            <a:r>
              <a:rPr lang="en-US" dirty="0" err="1"/>
              <a:t>zaposleni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turisti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glavni</a:t>
            </a:r>
            <a:r>
              <a:rPr lang="en-US" dirty="0"/>
              <a:t> </a:t>
            </a:r>
            <a:r>
              <a:rPr lang="en-US" dirty="0" err="1"/>
              <a:t>korisnici</a:t>
            </a:r>
            <a:r>
              <a:rPr lang="en-US" dirty="0"/>
              <a:t> </a:t>
            </a:r>
            <a:r>
              <a:rPr lang="en-US" dirty="0" err="1"/>
              <a:t>platforme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Planovi</a:t>
            </a:r>
            <a:r>
              <a:rPr lang="en-US" b="1" dirty="0"/>
              <a:t> za </a:t>
            </a:r>
            <a:r>
              <a:rPr lang="en-US" b="1" dirty="0" err="1"/>
              <a:t>širenje</a:t>
            </a:r>
            <a:endParaRPr lang="en-US" b="1" dirty="0"/>
          </a:p>
          <a:p>
            <a:pPr marL="0" lvl="1"/>
            <a:r>
              <a:rPr lang="en-US" dirty="0" err="1"/>
              <a:t>Postepena</a:t>
            </a:r>
            <a:r>
              <a:rPr lang="en-US" dirty="0"/>
              <a:t> </a:t>
            </a:r>
            <a:r>
              <a:rPr lang="en-US" dirty="0" err="1"/>
              <a:t>ekspanzija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druge</a:t>
            </a:r>
            <a:r>
              <a:rPr lang="en-US" dirty="0"/>
              <a:t> urbane </a:t>
            </a:r>
            <a:r>
              <a:rPr lang="en-US" dirty="0" err="1"/>
              <a:t>sredine</a:t>
            </a:r>
            <a:r>
              <a:rPr lang="en-US" dirty="0"/>
              <a:t>, </a:t>
            </a:r>
            <a:r>
              <a:rPr lang="en-US" dirty="0" err="1"/>
              <a:t>uz</a:t>
            </a:r>
            <a:r>
              <a:rPr lang="en-US" dirty="0"/>
              <a:t> </a:t>
            </a:r>
            <a:r>
              <a:rPr lang="en-US" dirty="0" err="1"/>
              <a:t>prilagođavanje</a:t>
            </a:r>
            <a:r>
              <a:rPr lang="en-US" dirty="0"/>
              <a:t> </a:t>
            </a:r>
            <a:r>
              <a:rPr lang="en-US" dirty="0" err="1"/>
              <a:t>lokalnim</a:t>
            </a:r>
            <a:r>
              <a:rPr lang="en-US" dirty="0"/>
              <a:t> </a:t>
            </a:r>
            <a:r>
              <a:rPr lang="en-US" dirty="0" err="1"/>
              <a:t>potrebama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1373205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DC7405F-BB29-B70E-59F9-4CE6E7DEE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600" dirty="0" err="1"/>
              <a:t>Biznis</a:t>
            </a:r>
            <a:r>
              <a:rPr lang="en-US" sz="2600" dirty="0"/>
              <a:t> model</a:t>
            </a:r>
          </a:p>
        </p:txBody>
      </p:sp>
      <p:pic>
        <p:nvPicPr>
          <p:cNvPr id="5" name="Čuvar mesta za sadržaj 4" descr="Digitalni rad pametnog mobilnog telefona s vezama s društvenim mrežama">
            <a:extLst>
              <a:ext uri="{FF2B5EF4-FFF2-40B4-BE49-F238E27FC236}">
                <a16:creationId xmlns:a16="http://schemas.microsoft.com/office/drawing/2014/main" id="{F9127E40-4139-444F-8903-53627295BB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2562" r="33050" b="-2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5C180251-D8C8-5542-7C25-F49FF511DDD7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Prihodi</a:t>
            </a:r>
            <a:r>
              <a:rPr lang="en-US" b="1" dirty="0"/>
              <a:t> od </a:t>
            </a:r>
            <a:r>
              <a:rPr lang="en-US" b="1" dirty="0" err="1"/>
              <a:t>provizije</a:t>
            </a:r>
            <a:endParaRPr lang="en-US" b="1" dirty="0"/>
          </a:p>
          <a:p>
            <a:pPr marL="0" lvl="1"/>
            <a:r>
              <a:rPr lang="en-US" dirty="0" err="1"/>
              <a:t>ParkSmart</a:t>
            </a:r>
            <a:r>
              <a:rPr lang="en-US" dirty="0"/>
              <a:t> </a:t>
            </a:r>
            <a:r>
              <a:rPr lang="en-US" dirty="0" err="1"/>
              <a:t>uzima</a:t>
            </a:r>
            <a:r>
              <a:rPr lang="en-US" dirty="0"/>
              <a:t> </a:t>
            </a:r>
            <a:r>
              <a:rPr lang="en-US" dirty="0" err="1"/>
              <a:t>proviziju</a:t>
            </a:r>
            <a:r>
              <a:rPr lang="en-US" dirty="0"/>
              <a:t> od </a:t>
            </a:r>
            <a:r>
              <a:rPr lang="en-US" dirty="0" err="1"/>
              <a:t>svake</a:t>
            </a:r>
            <a:r>
              <a:rPr lang="en-US" dirty="0"/>
              <a:t> </a:t>
            </a:r>
            <a:r>
              <a:rPr lang="en-US" dirty="0" err="1"/>
              <a:t>transakcije</a:t>
            </a:r>
            <a:r>
              <a:rPr lang="en-US" dirty="0"/>
              <a:t> (10-15%),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obezbjeđuje</a:t>
            </a:r>
            <a:r>
              <a:rPr lang="en-US" dirty="0"/>
              <a:t> </a:t>
            </a:r>
            <a:r>
              <a:rPr lang="en-US" dirty="0" err="1"/>
              <a:t>stabilan</a:t>
            </a:r>
            <a:r>
              <a:rPr lang="en-US" dirty="0"/>
              <a:t> </a:t>
            </a:r>
            <a:r>
              <a:rPr lang="en-US" dirty="0" err="1"/>
              <a:t>prihod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održivost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/>
              <a:t>Premium </a:t>
            </a:r>
            <a:r>
              <a:rPr lang="en-US" b="1" dirty="0" err="1"/>
              <a:t>opcije</a:t>
            </a:r>
            <a:r>
              <a:rPr lang="en-US" b="1" dirty="0"/>
              <a:t> </a:t>
            </a:r>
            <a:r>
              <a:rPr lang="en-US" b="1" dirty="0" err="1"/>
              <a:t>usluge</a:t>
            </a:r>
            <a:endParaRPr lang="en-US" b="1" dirty="0"/>
          </a:p>
          <a:p>
            <a:pPr marL="0" lvl="1"/>
            <a:r>
              <a:rPr lang="en-US" dirty="0" err="1"/>
              <a:t>Korisnicima</a:t>
            </a:r>
            <a:r>
              <a:rPr lang="en-US" dirty="0"/>
              <a:t> se nude </a:t>
            </a:r>
            <a:r>
              <a:rPr lang="en-US" dirty="0" err="1"/>
              <a:t>dodatne</a:t>
            </a:r>
            <a:r>
              <a:rPr lang="en-US" dirty="0"/>
              <a:t> </a:t>
            </a:r>
            <a:r>
              <a:rPr lang="en-US" dirty="0" err="1"/>
              <a:t>pogodnosti</a:t>
            </a:r>
            <a:r>
              <a:rPr lang="en-US" dirty="0"/>
              <a:t> </a:t>
            </a:r>
            <a:r>
              <a:rPr lang="en-US" dirty="0" err="1"/>
              <a:t>poput</a:t>
            </a:r>
            <a:r>
              <a:rPr lang="en-US" dirty="0"/>
              <a:t> </a:t>
            </a:r>
            <a:r>
              <a:rPr lang="en-US" dirty="0" err="1"/>
              <a:t>garantovane</a:t>
            </a:r>
            <a:r>
              <a:rPr lang="en-US" dirty="0"/>
              <a:t> </a:t>
            </a:r>
            <a:r>
              <a:rPr lang="en-US" dirty="0" err="1"/>
              <a:t>rezervacije</a:t>
            </a:r>
            <a:r>
              <a:rPr lang="en-US" dirty="0"/>
              <a:t> </a:t>
            </a:r>
            <a:r>
              <a:rPr lang="en-US" dirty="0" err="1"/>
              <a:t>unaprijed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dugoročnog</a:t>
            </a:r>
            <a:r>
              <a:rPr lang="en-US" dirty="0"/>
              <a:t> </a:t>
            </a:r>
            <a:r>
              <a:rPr lang="en-US" dirty="0" err="1"/>
              <a:t>zakupa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Pogodnosti</a:t>
            </a:r>
            <a:r>
              <a:rPr lang="en-US" b="1" dirty="0"/>
              <a:t> za </a:t>
            </a:r>
            <a:r>
              <a:rPr lang="en-US" b="1" dirty="0" err="1"/>
              <a:t>vlasnike</a:t>
            </a:r>
            <a:endParaRPr lang="en-US" b="1" dirty="0"/>
          </a:p>
          <a:p>
            <a:pPr marL="0" lvl="1"/>
            <a:r>
              <a:rPr lang="en-US" dirty="0" err="1"/>
              <a:t>Vlasnici</a:t>
            </a:r>
            <a:r>
              <a:rPr lang="en-US" dirty="0"/>
              <a:t> </a:t>
            </a:r>
            <a:r>
              <a:rPr lang="en-US" dirty="0" err="1"/>
              <a:t>dobijaju</a:t>
            </a:r>
            <a:r>
              <a:rPr lang="en-US" dirty="0"/>
              <a:t> </a:t>
            </a:r>
            <a:r>
              <a:rPr lang="en-US" dirty="0" err="1"/>
              <a:t>beneficije</a:t>
            </a:r>
            <a:r>
              <a:rPr lang="en-US" dirty="0"/>
              <a:t> (</a:t>
            </a:r>
            <a:r>
              <a:rPr lang="en-US" dirty="0" err="1"/>
              <a:t>npr</a:t>
            </a:r>
            <a:r>
              <a:rPr lang="en-US" dirty="0"/>
              <a:t>. </a:t>
            </a:r>
            <a:r>
              <a:rPr lang="en-US" dirty="0" err="1"/>
              <a:t>sigurnosne</a:t>
            </a:r>
            <a:r>
              <a:rPr lang="en-US" dirty="0"/>
              <a:t> </a:t>
            </a:r>
            <a:r>
              <a:rPr lang="en-US" dirty="0" err="1"/>
              <a:t>provjere</a:t>
            </a:r>
            <a:r>
              <a:rPr lang="en-US" dirty="0"/>
              <a:t>),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podstiče</a:t>
            </a:r>
            <a:r>
              <a:rPr lang="en-US" dirty="0"/>
              <a:t> </a:t>
            </a:r>
            <a:r>
              <a:rPr lang="en-US" dirty="0" err="1"/>
              <a:t>dugoročnu</a:t>
            </a:r>
            <a:r>
              <a:rPr lang="en-US" dirty="0"/>
              <a:t> </a:t>
            </a:r>
            <a:r>
              <a:rPr lang="en-US" dirty="0" err="1"/>
              <a:t>saradnju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7068059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9A4C6463-70D6-9179-9306-998904A48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rmAutofit/>
          </a:bodyPr>
          <a:lstStyle/>
          <a:p>
            <a:r>
              <a:rPr lang="en-US"/>
              <a:t>Tim </a:t>
            </a:r>
            <a:r>
              <a:rPr lang="en-US" err="1"/>
              <a:t>i</a:t>
            </a:r>
            <a:r>
              <a:rPr lang="en-US"/>
              <a:t> </a:t>
            </a:r>
            <a:r>
              <a:rPr lang="en-US" err="1"/>
              <a:t>resursi</a:t>
            </a:r>
            <a:endParaRPr lang="en-US"/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BF8D31FC-B87C-1C1C-230F-840EF13DEADE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773" y="2742645"/>
            <a:ext cx="6391247" cy="3429551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CEO / Founder</a:t>
            </a:r>
            <a:r>
              <a:rPr lang="en-US" dirty="0"/>
              <a:t> – </a:t>
            </a:r>
            <a:r>
              <a:rPr lang="en-US" dirty="0" err="1"/>
              <a:t>vizija</a:t>
            </a:r>
            <a:r>
              <a:rPr lang="en-US" dirty="0"/>
              <a:t>, </a:t>
            </a:r>
            <a:r>
              <a:rPr lang="en-US" dirty="0" err="1"/>
              <a:t>strategija</a:t>
            </a:r>
            <a:r>
              <a:rPr lang="en-US" dirty="0"/>
              <a:t>, </a:t>
            </a:r>
            <a:r>
              <a:rPr lang="en-US" dirty="0" err="1"/>
              <a:t>partnerstva</a:t>
            </a:r>
            <a:r>
              <a:rPr lang="en-US" dirty="0"/>
              <a:t>, </a:t>
            </a:r>
            <a:r>
              <a:rPr lang="en-US" dirty="0" err="1"/>
              <a:t>investitori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CTO</a:t>
            </a:r>
            <a:r>
              <a:rPr lang="en-US" dirty="0"/>
              <a:t> – </a:t>
            </a:r>
            <a:r>
              <a:rPr lang="en-US" dirty="0" err="1"/>
              <a:t>vodi</a:t>
            </a:r>
            <a:r>
              <a:rPr lang="en-US" dirty="0"/>
              <a:t> </a:t>
            </a:r>
            <a:r>
              <a:rPr lang="en-US" dirty="0" err="1"/>
              <a:t>razvoj</a:t>
            </a:r>
            <a:r>
              <a:rPr lang="en-US" dirty="0"/>
              <a:t> </a:t>
            </a:r>
            <a:r>
              <a:rPr lang="en-US" dirty="0" err="1"/>
              <a:t>aplikacije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koordinira</a:t>
            </a:r>
            <a:r>
              <a:rPr lang="en-US" dirty="0"/>
              <a:t> rad </a:t>
            </a:r>
            <a:r>
              <a:rPr lang="en-US" dirty="0" err="1"/>
              <a:t>developera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Backend developer</a:t>
            </a:r>
            <a:r>
              <a:rPr lang="en-US" dirty="0"/>
              <a:t> – server-side </a:t>
            </a:r>
            <a:r>
              <a:rPr lang="en-US" dirty="0" err="1"/>
              <a:t>logika</a:t>
            </a:r>
            <a:r>
              <a:rPr lang="en-US" dirty="0"/>
              <a:t>,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, </a:t>
            </a:r>
            <a:r>
              <a:rPr lang="en-US" dirty="0" err="1"/>
              <a:t>integracija</a:t>
            </a:r>
            <a:r>
              <a:rPr lang="en-US" dirty="0"/>
              <a:t> </a:t>
            </a:r>
            <a:r>
              <a:rPr lang="en-US" dirty="0" err="1"/>
              <a:t>plaćanja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Frontend / Mobile developer</a:t>
            </a:r>
            <a:r>
              <a:rPr lang="en-US" dirty="0"/>
              <a:t> – </a:t>
            </a:r>
            <a:r>
              <a:rPr lang="en-US" dirty="0" err="1"/>
              <a:t>korisnički</a:t>
            </a:r>
            <a:r>
              <a:rPr lang="en-US" dirty="0"/>
              <a:t> </a:t>
            </a:r>
            <a:r>
              <a:rPr lang="en-US" dirty="0" err="1"/>
              <a:t>interfejs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responsive </a:t>
            </a:r>
            <a:r>
              <a:rPr lang="en-US" dirty="0" err="1"/>
              <a:t>dizajn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Marketing manager</a:t>
            </a:r>
            <a:r>
              <a:rPr lang="en-US" dirty="0"/>
              <a:t> – </a:t>
            </a:r>
            <a:r>
              <a:rPr lang="en-US" dirty="0" err="1"/>
              <a:t>digitalne</a:t>
            </a:r>
            <a:r>
              <a:rPr lang="en-US" dirty="0"/>
              <a:t> </a:t>
            </a:r>
            <a:r>
              <a:rPr lang="en-US" dirty="0" err="1"/>
              <a:t>kampanje</a:t>
            </a:r>
            <a:r>
              <a:rPr lang="en-US" dirty="0"/>
              <a:t>, </a:t>
            </a:r>
            <a:r>
              <a:rPr lang="en-US" dirty="0" err="1"/>
              <a:t>odnosi</a:t>
            </a:r>
            <a:r>
              <a:rPr lang="en-US" dirty="0"/>
              <a:t> s </a:t>
            </a:r>
            <a:r>
              <a:rPr lang="en-US" dirty="0" err="1"/>
              <a:t>javnošću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Customer support</a:t>
            </a:r>
            <a:r>
              <a:rPr lang="en-US" dirty="0"/>
              <a:t> – </a:t>
            </a:r>
            <a:r>
              <a:rPr lang="en-US" dirty="0" err="1"/>
              <a:t>komunikacija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pomoć</a:t>
            </a:r>
            <a:r>
              <a:rPr lang="en-US" dirty="0"/>
              <a:t> </a:t>
            </a:r>
            <a:r>
              <a:rPr lang="en-US" dirty="0" err="1"/>
              <a:t>korisnicima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dirty="0"/>
              <a:t>👉 </a:t>
            </a:r>
            <a:r>
              <a:rPr lang="en-US" b="1" dirty="0"/>
              <a:t>Pilot </a:t>
            </a:r>
            <a:r>
              <a:rPr lang="en-US" b="1" dirty="0" err="1"/>
              <a:t>faza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tim</a:t>
            </a:r>
            <a:r>
              <a:rPr lang="en-US" dirty="0"/>
              <a:t> </a:t>
            </a:r>
            <a:r>
              <a:rPr lang="en-US" dirty="0" err="1"/>
              <a:t>čini</a:t>
            </a:r>
            <a:r>
              <a:rPr lang="en-US" dirty="0"/>
              <a:t> 5–6 </a:t>
            </a:r>
            <a:r>
              <a:rPr lang="en-US" dirty="0" err="1"/>
              <a:t>članova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👉 </a:t>
            </a:r>
            <a:r>
              <a:rPr lang="en-US" b="1" dirty="0" err="1"/>
              <a:t>Širenje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dodavanje</a:t>
            </a:r>
            <a:r>
              <a:rPr lang="en-US" dirty="0"/>
              <a:t> </a:t>
            </a:r>
            <a:r>
              <a:rPr lang="en-US" dirty="0" err="1"/>
              <a:t>pravnih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administrativnih</a:t>
            </a:r>
            <a:r>
              <a:rPr lang="en-US" dirty="0"/>
              <a:t> </a:t>
            </a:r>
            <a:r>
              <a:rPr lang="en-US" dirty="0" err="1"/>
              <a:t>stručnjaka</a:t>
            </a:r>
            <a:r>
              <a:rPr lang="en-US" dirty="0"/>
              <a:t> u </a:t>
            </a:r>
            <a:r>
              <a:rPr lang="en-US" dirty="0" err="1"/>
              <a:t>kasnijim</a:t>
            </a:r>
            <a:r>
              <a:rPr lang="en-US" dirty="0"/>
              <a:t> </a:t>
            </a:r>
            <a:r>
              <a:rPr lang="en-US" dirty="0" err="1"/>
              <a:t>fazama</a:t>
            </a:r>
            <a:endParaRPr lang="en-US" dirty="0"/>
          </a:p>
        </p:txBody>
      </p:sp>
      <p:pic>
        <p:nvPicPr>
          <p:cNvPr id="5" name="Čuvar mesta za sadržaj 4" descr="Zaposlenici rade u kontakt centru. Za posao koriste računalo. Zanimanje asistenta i pozivnog centra.">
            <a:extLst>
              <a:ext uri="{FF2B5EF4-FFF2-40B4-BE49-F238E27FC236}">
                <a16:creationId xmlns:a16="http://schemas.microsoft.com/office/drawing/2014/main" id="{53A78303-9FEC-4D87-9FD0-27514B486D5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7111" r="38501" b="-2"/>
          <a:stretch>
            <a:fillRect/>
          </a:stretch>
        </p:blipFill>
        <p:spPr>
          <a:xfrm>
            <a:off x="7631546" y="1"/>
            <a:ext cx="4560454" cy="6858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7832882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07D31F1C-5BBC-8DC6-2FC6-58AC19012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rmAutofit/>
          </a:bodyPr>
          <a:lstStyle/>
          <a:p>
            <a:r>
              <a:rPr lang="en-US" dirty="0" err="1"/>
              <a:t>Vizija</a:t>
            </a:r>
            <a:r>
              <a:rPr lang="en-US" dirty="0"/>
              <a:t>:</a:t>
            </a:r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2D01DF1D-A57E-BC2B-D0BE-0A96B55A453D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773" y="2742645"/>
            <a:ext cx="6391247" cy="3429551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Regionalni</a:t>
            </a:r>
            <a:r>
              <a:rPr lang="en-US" b="1" dirty="0"/>
              <a:t> </a:t>
            </a:r>
            <a:r>
              <a:rPr lang="en-US" b="1" dirty="0" err="1"/>
              <a:t>lider</a:t>
            </a:r>
            <a:endParaRPr lang="en-US" b="1" dirty="0"/>
          </a:p>
          <a:p>
            <a:pPr marL="0" lvl="1" indent="0">
              <a:buNone/>
            </a:pPr>
            <a:r>
              <a:rPr lang="en-US" dirty="0" err="1"/>
              <a:t>ParkSmart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vodeća</a:t>
            </a:r>
            <a:r>
              <a:rPr lang="en-US" dirty="0"/>
              <a:t> </a:t>
            </a:r>
            <a:r>
              <a:rPr lang="en-US" dirty="0" err="1"/>
              <a:t>platforma</a:t>
            </a:r>
            <a:r>
              <a:rPr lang="en-US" dirty="0"/>
              <a:t> za </a:t>
            </a:r>
            <a:r>
              <a:rPr lang="en-US" dirty="0" err="1"/>
              <a:t>dijeljenje</a:t>
            </a:r>
            <a:r>
              <a:rPr lang="en-US" dirty="0"/>
              <a:t> </a:t>
            </a:r>
            <a:r>
              <a:rPr lang="en-US" dirty="0" err="1"/>
              <a:t>privatnih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.</a:t>
            </a:r>
          </a:p>
          <a:p>
            <a:pPr marL="0" lvl="1" indent="0">
              <a:buNone/>
            </a:pPr>
            <a:endParaRPr lang="en-US" dirty="0"/>
          </a:p>
          <a:p>
            <a:pPr marL="0" lvl="1" indent="0">
              <a:buNone/>
            </a:pPr>
            <a:r>
              <a:rPr lang="en-US" b="1" dirty="0"/>
              <a:t>Manje </a:t>
            </a:r>
            <a:r>
              <a:rPr lang="en-US" b="1" dirty="0" err="1"/>
              <a:t>gužvi</a:t>
            </a:r>
            <a:endParaRPr lang="en-US" b="1" dirty="0"/>
          </a:p>
          <a:p>
            <a:pPr marL="0" lvl="1" indent="0">
              <a:buNone/>
            </a:pPr>
            <a:r>
              <a:rPr lang="en-US" dirty="0" err="1"/>
              <a:t>Smanjenje</a:t>
            </a:r>
            <a:r>
              <a:rPr lang="en-US" dirty="0"/>
              <a:t> </a:t>
            </a:r>
            <a:r>
              <a:rPr lang="en-US" dirty="0" err="1"/>
              <a:t>saobraćajnih</a:t>
            </a:r>
            <a:r>
              <a:rPr lang="en-US" dirty="0"/>
              <a:t> </a:t>
            </a:r>
            <a:r>
              <a:rPr lang="en-US" dirty="0" err="1"/>
              <a:t>zastoja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</a:t>
            </a:r>
            <a:r>
              <a:rPr lang="en-US" dirty="0" err="1"/>
              <a:t>efikasnije</a:t>
            </a:r>
            <a:r>
              <a:rPr lang="en-US" dirty="0"/>
              <a:t> </a:t>
            </a:r>
            <a:r>
              <a:rPr lang="en-US" dirty="0" err="1"/>
              <a:t>korišćenje</a:t>
            </a:r>
            <a:r>
              <a:rPr lang="en-US" dirty="0"/>
              <a:t> </a:t>
            </a:r>
            <a:r>
              <a:rPr lang="en-US" dirty="0" err="1"/>
              <a:t>prostora</a:t>
            </a:r>
            <a:r>
              <a:rPr lang="en-US" dirty="0"/>
              <a:t>.</a:t>
            </a:r>
          </a:p>
          <a:p>
            <a:pPr marL="0" lvl="1" indent="0">
              <a:buNone/>
            </a:pPr>
            <a:endParaRPr lang="en-US" dirty="0"/>
          </a:p>
          <a:p>
            <a:pPr marL="0" lvl="1" indent="0">
              <a:buNone/>
            </a:pPr>
            <a:r>
              <a:rPr lang="en-US" b="1" dirty="0" err="1"/>
              <a:t>Čistiji</a:t>
            </a:r>
            <a:r>
              <a:rPr lang="en-US" b="1" dirty="0"/>
              <a:t> </a:t>
            </a:r>
            <a:r>
              <a:rPr lang="en-US" b="1" dirty="0" err="1"/>
              <a:t>gradovi</a:t>
            </a:r>
            <a:endParaRPr lang="en-US" b="1" dirty="0"/>
          </a:p>
          <a:p>
            <a:pPr marL="0" lvl="1" indent="0">
              <a:buNone/>
            </a:pPr>
            <a:r>
              <a:rPr lang="en-US" dirty="0" err="1"/>
              <a:t>Smanjenje</a:t>
            </a:r>
            <a:r>
              <a:rPr lang="en-US" dirty="0"/>
              <a:t> </a:t>
            </a:r>
            <a:r>
              <a:rPr lang="en-US" dirty="0" err="1"/>
              <a:t>emisije</a:t>
            </a:r>
            <a:r>
              <a:rPr lang="en-US" dirty="0"/>
              <a:t> CO₂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zagađenja</a:t>
            </a:r>
            <a:r>
              <a:rPr lang="en-US" dirty="0"/>
              <a:t> </a:t>
            </a:r>
            <a:r>
              <a:rPr lang="en-US" dirty="0" err="1"/>
              <a:t>vazduha</a:t>
            </a:r>
            <a:r>
              <a:rPr lang="en-US" dirty="0"/>
              <a:t>.</a:t>
            </a:r>
          </a:p>
          <a:p>
            <a:pPr marL="0" lvl="1" indent="0">
              <a:buNone/>
            </a:pPr>
            <a:endParaRPr lang="en-US" dirty="0"/>
          </a:p>
          <a:p>
            <a:pPr marL="0" lvl="1" indent="0">
              <a:buNone/>
            </a:pPr>
            <a:r>
              <a:rPr lang="en-US" b="1" dirty="0" err="1"/>
              <a:t>Održivi</a:t>
            </a:r>
            <a:r>
              <a:rPr lang="en-US" b="1" dirty="0"/>
              <a:t> </a:t>
            </a:r>
            <a:r>
              <a:rPr lang="en-US" b="1" dirty="0" err="1"/>
              <a:t>urbani</a:t>
            </a:r>
            <a:r>
              <a:rPr lang="en-US" b="1" dirty="0"/>
              <a:t> </a:t>
            </a:r>
            <a:r>
              <a:rPr lang="en-US" b="1" dirty="0" err="1"/>
              <a:t>život</a:t>
            </a:r>
            <a:endParaRPr lang="en-US" b="1" dirty="0"/>
          </a:p>
          <a:p>
            <a:pPr marL="0" lvl="1" indent="0">
              <a:buNone/>
            </a:pPr>
            <a:r>
              <a:rPr lang="en-US" dirty="0" err="1"/>
              <a:t>Pametniji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efikasniji</a:t>
            </a:r>
            <a:r>
              <a:rPr lang="en-US" dirty="0"/>
              <a:t> </a:t>
            </a:r>
            <a:r>
              <a:rPr lang="en-US" dirty="0" err="1"/>
              <a:t>gradovi</a:t>
            </a:r>
            <a:r>
              <a:rPr lang="en-US" dirty="0"/>
              <a:t> </a:t>
            </a:r>
            <a:r>
              <a:rPr lang="en-US" dirty="0" err="1"/>
              <a:t>budućnosti</a:t>
            </a:r>
            <a:r>
              <a:rPr lang="en-US" dirty="0"/>
              <a:t>.</a:t>
            </a:r>
          </a:p>
        </p:txBody>
      </p:sp>
      <p:pic>
        <p:nvPicPr>
          <p:cNvPr id="5" name="Čuvar mesta za sadržaj 4" descr="Pogled iz zraka na redove novih automobila">
            <a:extLst>
              <a:ext uri="{FF2B5EF4-FFF2-40B4-BE49-F238E27FC236}">
                <a16:creationId xmlns:a16="http://schemas.microsoft.com/office/drawing/2014/main" id="{5E73A072-C5FA-4A74-9463-11933329117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30736" r="25874" b="1"/>
          <a:stretch>
            <a:fillRect/>
          </a:stretch>
        </p:blipFill>
        <p:spPr>
          <a:xfrm>
            <a:off x="7631546" y="1"/>
            <a:ext cx="4560454" cy="6858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486120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4837AD3-9F16-CB6D-9805-DFF5DE954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72800" cy="1828800"/>
          </a:xfrm>
        </p:spPr>
        <p:txBody>
          <a:bodyPr anchor="b">
            <a:normAutofit/>
          </a:bodyPr>
          <a:lstStyle/>
          <a:p>
            <a:r>
              <a:rPr lang="en-US" dirty="0" err="1"/>
              <a:t>Zaključak</a:t>
            </a:r>
            <a:endParaRPr lang="en-US" dirty="0"/>
          </a:p>
        </p:txBody>
      </p:sp>
      <p:graphicFrame>
        <p:nvGraphicFramePr>
          <p:cNvPr id="7" name="Čuvar mesta za sadržaj 2">
            <a:extLst>
              <a:ext uri="{FF2B5EF4-FFF2-40B4-BE49-F238E27FC236}">
                <a16:creationId xmlns:a16="http://schemas.microsoft.com/office/drawing/2014/main" id="{D67EFCF8-00F3-4F36-E82B-319C4B04930E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012615973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612775" y="3429000"/>
          <a:ext cx="10972800" cy="2743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8709315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Blockwork elegance">
  <a:themeElements>
    <a:clrScheme name="Blockwork Elegance- Copilot 1">
      <a:dk1>
        <a:srgbClr val="000000"/>
      </a:dk1>
      <a:lt1>
        <a:srgbClr val="FFFFFF"/>
      </a:lt1>
      <a:dk2>
        <a:srgbClr val="000102"/>
      </a:dk2>
      <a:lt2>
        <a:srgbClr val="F6F2E6"/>
      </a:lt2>
      <a:accent1>
        <a:srgbClr val="28436C"/>
      </a:accent1>
      <a:accent2>
        <a:srgbClr val="F3BC24"/>
      </a:accent2>
      <a:accent3>
        <a:srgbClr val="8E7B63"/>
      </a:accent3>
      <a:accent4>
        <a:srgbClr val="CC563B"/>
      </a:accent4>
      <a:accent5>
        <a:srgbClr val="A3452F"/>
      </a:accent5>
      <a:accent6>
        <a:srgbClr val="BB9D83"/>
      </a:accent6>
      <a:hlink>
        <a:srgbClr val="4E60DA"/>
      </a:hlink>
      <a:folHlink>
        <a:srgbClr val="4E6094"/>
      </a:folHlink>
    </a:clrScheme>
    <a:fontScheme name="Blockwork Elegance">
      <a:majorFont>
        <a:latin typeface="Bahnschrift SemiLight"/>
        <a:ea typeface=""/>
        <a:cs typeface=""/>
      </a:majorFont>
      <a:minorFont>
        <a:latin typeface="Bahnschrift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ckwork Elegance_Copilot Layouts_win32_KO_V11" id="{190D3195-6803-4DBD-A5E5-D3BB0A934856}" vid="{D3DF0ADA-3EA0-49DE-8FCB-DFEAAB5B3A90}"/>
    </a:ext>
  </a:extLst>
</a:theme>
</file>

<file path=ppt/theme/theme2.xml><?xml version="1.0" encoding="utf-8"?>
<a:theme xmlns:a="http://schemas.openxmlformats.org/drawingml/2006/main" name="Tem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821</Words>
  <Application>Microsoft Office PowerPoint</Application>
  <PresentationFormat>Široki ekran</PresentationFormat>
  <Paragraphs>79</Paragraphs>
  <Slides>8</Slides>
  <Notes>8</Notes>
  <HiddenSlides>0</HiddenSlides>
  <MMClips>0</MMClips>
  <ScaleCrop>false</ScaleCrop>
  <HeadingPairs>
    <vt:vector size="6" baseType="variant">
      <vt:variant>
        <vt:lpstr>Korišćeni fontovi</vt:lpstr>
      </vt:variant>
      <vt:variant>
        <vt:i4>3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8</vt:i4>
      </vt:variant>
    </vt:vector>
  </HeadingPairs>
  <TitlesOfParts>
    <vt:vector size="12" baseType="lpstr">
      <vt:lpstr>Aptos</vt:lpstr>
      <vt:lpstr>Arial</vt:lpstr>
      <vt:lpstr>Bahnschrift SemiLight</vt:lpstr>
      <vt:lpstr>Blockwork elegance</vt:lpstr>
      <vt:lpstr>PowerPoint prezentacija</vt:lpstr>
      <vt:lpstr>Problem: Nedostatak parkinga u urbanim sredinama</vt:lpstr>
      <vt:lpstr>Rješenje: Web platforma za dijeljenje privatnih parking mjesta</vt:lpstr>
      <vt:lpstr>Tržište i potencijal:</vt:lpstr>
      <vt:lpstr>Biznis model</vt:lpstr>
      <vt:lpstr>Tim i resursi</vt:lpstr>
      <vt:lpstr>Vizija: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Student</dc:creator>
  <cp:lastModifiedBy>Student</cp:lastModifiedBy>
  <cp:revision>15</cp:revision>
  <dcterms:created xsi:type="dcterms:W3CDTF">2025-09-16T14:45:39Z</dcterms:created>
  <dcterms:modified xsi:type="dcterms:W3CDTF">2025-10-03T16:21:00Z</dcterms:modified>
</cp:coreProperties>
</file>