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1" r:id="rId2"/>
    <p:sldId id="2563" r:id="rId3"/>
    <p:sldId id="2564" r:id="rId4"/>
    <p:sldId id="2565" r:id="rId5"/>
    <p:sldId id="2566" r:id="rId6"/>
    <p:sldId id="2567" r:id="rId7"/>
    <p:sldId id="2568" r:id="rId8"/>
    <p:sldId id="25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kSmart: Pametno rješenje za privatni parking u urbanim sredinama" id="{95963474-14E3-48AD-9A49-3F1DBFBA2EE9}">
          <p14:sldIdLst>
            <p14:sldId id="2561"/>
            <p14:sldId id="2563"/>
            <p14:sldId id="2564"/>
            <p14:sldId id="2565"/>
            <p14:sldId id="2566"/>
            <p14:sldId id="2567"/>
            <p14:sldId id="2568"/>
          </p14:sldIdLst>
        </p14:section>
        <p14:section name="Zaključak" id="{6B6734CF-6559-49DF-8E51-5BB17DCF1BB6}">
          <p14:sldIdLst>
            <p14:sldId id="25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9D393D-FA1A-434B-B85D-034C4FB09D9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888FB1-3954-43AC-8E83-DC76E839C1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Pametno rješenje za parkiranje</a:t>
          </a:r>
          <a:endParaRPr lang="en-US"/>
        </a:p>
      </dgm:t>
    </dgm:pt>
    <dgm:pt modelId="{967B62F3-60D9-436A-8521-805DD37088C5}" type="parTrans" cxnId="{25F4360D-5831-4417-A11E-8CD5B1051F36}">
      <dgm:prSet/>
      <dgm:spPr/>
      <dgm:t>
        <a:bodyPr/>
        <a:lstStyle/>
        <a:p>
          <a:endParaRPr lang="en-US"/>
        </a:p>
      </dgm:t>
    </dgm:pt>
    <dgm:pt modelId="{D79F1DFB-08D6-43DB-87F8-E9DB24CDA9D4}" type="sibTrans" cxnId="{25F4360D-5831-4417-A11E-8CD5B1051F3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2C143AD-C4A3-42EF-BA99-C9E7D89F1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ParkSmart koristi inovativne tehnologije kako bi olakšao pronalaženje parkirnog mjesta u gradu.</a:t>
          </a:r>
          <a:endParaRPr lang="en-US"/>
        </a:p>
      </dgm:t>
    </dgm:pt>
    <dgm:pt modelId="{1270D4FA-C14A-4766-9C25-95CAB89B4B30}" type="parTrans" cxnId="{917BD594-061E-40C6-859B-8936231B87D2}">
      <dgm:prSet/>
      <dgm:spPr/>
      <dgm:t>
        <a:bodyPr/>
        <a:lstStyle/>
        <a:p>
          <a:endParaRPr lang="en-US"/>
        </a:p>
      </dgm:t>
    </dgm:pt>
    <dgm:pt modelId="{5A64B28F-5E5D-4CF8-91FC-DF906E2F3E68}" type="sibTrans" cxnId="{917BD594-061E-40C6-859B-8936231B87D2}">
      <dgm:prSet/>
      <dgm:spPr/>
      <dgm:t>
        <a:bodyPr/>
        <a:lstStyle/>
        <a:p>
          <a:endParaRPr lang="en-US"/>
        </a:p>
      </dgm:t>
    </dgm:pt>
    <dgm:pt modelId="{927C8564-9057-4413-9240-BE7E1D263F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Održivi pristup</a:t>
          </a:r>
          <a:endParaRPr lang="en-US"/>
        </a:p>
      </dgm:t>
    </dgm:pt>
    <dgm:pt modelId="{81FCC07E-9E2E-41EB-9FCE-817310F89CE7}" type="parTrans" cxnId="{F4BDBC7D-6157-4E4F-ACE1-1F240DC0C66C}">
      <dgm:prSet/>
      <dgm:spPr/>
      <dgm:t>
        <a:bodyPr/>
        <a:lstStyle/>
        <a:p>
          <a:endParaRPr lang="en-US"/>
        </a:p>
      </dgm:t>
    </dgm:pt>
    <dgm:pt modelId="{5B81B10F-0A94-4718-8D29-8003D26D4A07}" type="sibTrans" cxnId="{F4BDBC7D-6157-4E4F-ACE1-1F240DC0C66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4DD72293-7000-4B3A-A0BF-F814409EA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Projekat doprinosi zdravijem gradskom okruženju smanjenjem vremena traženja parkinga i zagađenja.</a:t>
          </a:r>
          <a:endParaRPr lang="en-US"/>
        </a:p>
      </dgm:t>
    </dgm:pt>
    <dgm:pt modelId="{AC1CE5C2-B69E-42ED-9230-765F971903AD}" type="parTrans" cxnId="{89A6DC36-144B-412F-9328-8FEFDB8D421F}">
      <dgm:prSet/>
      <dgm:spPr/>
      <dgm:t>
        <a:bodyPr/>
        <a:lstStyle/>
        <a:p>
          <a:endParaRPr lang="en-US"/>
        </a:p>
      </dgm:t>
    </dgm:pt>
    <dgm:pt modelId="{2CCF137A-25BF-4F7D-8035-2186BBA06A66}" type="sibTrans" cxnId="{89A6DC36-144B-412F-9328-8FEFDB8D421F}">
      <dgm:prSet/>
      <dgm:spPr/>
      <dgm:t>
        <a:bodyPr/>
        <a:lstStyle/>
        <a:p>
          <a:endParaRPr lang="en-US"/>
        </a:p>
      </dgm:t>
    </dgm:pt>
    <dgm:pt modelId="{6E6CAD17-2199-4C58-851E-E3A98C7F264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Svijetla budućnost</a:t>
          </a:r>
          <a:endParaRPr lang="en-US"/>
        </a:p>
      </dgm:t>
    </dgm:pt>
    <dgm:pt modelId="{53543DC7-0056-4CC7-9AC7-2836EB81AB33}" type="parTrans" cxnId="{12C49368-8E89-47C9-A6E9-9489B40712A6}">
      <dgm:prSet/>
      <dgm:spPr/>
      <dgm:t>
        <a:bodyPr/>
        <a:lstStyle/>
        <a:p>
          <a:endParaRPr lang="en-US"/>
        </a:p>
      </dgm:t>
    </dgm:pt>
    <dgm:pt modelId="{E804F8C6-1D95-4BBF-B2E5-A02CB4053F52}" type="sibTrans" cxnId="{12C49368-8E89-47C9-A6E9-9489B40712A6}">
      <dgm:prSet/>
      <dgm:spPr/>
      <dgm:t>
        <a:bodyPr/>
        <a:lstStyle/>
        <a:p>
          <a:endParaRPr lang="en-US"/>
        </a:p>
      </dgm:t>
    </dgm:pt>
    <dgm:pt modelId="{FB759329-E79D-44D4-8374-188B16BFB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Predani tim i inovacije vode ka jednostavnijem i efikasnijem parkiranju za sve korisnike.</a:t>
          </a:r>
          <a:endParaRPr lang="en-US"/>
        </a:p>
      </dgm:t>
    </dgm:pt>
    <dgm:pt modelId="{89C2715F-521C-4817-BE08-967C5E5AC7E7}" type="parTrans" cxnId="{8E6A4BEE-4986-4E9A-8BDE-02310006A3C1}">
      <dgm:prSet/>
      <dgm:spPr/>
      <dgm:t>
        <a:bodyPr/>
        <a:lstStyle/>
        <a:p>
          <a:endParaRPr lang="en-US"/>
        </a:p>
      </dgm:t>
    </dgm:pt>
    <dgm:pt modelId="{AD9178ED-F0B6-4A68-AC45-3A0038BA60F9}" type="sibTrans" cxnId="{8E6A4BEE-4986-4E9A-8BDE-02310006A3C1}">
      <dgm:prSet/>
      <dgm:spPr/>
      <dgm:t>
        <a:bodyPr/>
        <a:lstStyle/>
        <a:p>
          <a:endParaRPr lang="en-US"/>
        </a:p>
      </dgm:t>
    </dgm:pt>
    <dgm:pt modelId="{CEBF336A-4591-4848-AF2C-B27335F77F0C}" type="pres">
      <dgm:prSet presAssocID="{FD9D393D-FA1A-434B-B85D-034C4FB09D93}" presName="Name0" presStyleCnt="0">
        <dgm:presLayoutVars>
          <dgm:dir/>
          <dgm:resizeHandles val="exact"/>
        </dgm:presLayoutVars>
      </dgm:prSet>
      <dgm:spPr/>
    </dgm:pt>
    <dgm:pt modelId="{153902A5-CDEA-4444-9D4B-56DA80E520FE}" type="pres">
      <dgm:prSet presAssocID="{71888FB1-3954-43AC-8E83-DC76E839C140}" presName="compNode" presStyleCnt="0"/>
      <dgm:spPr/>
    </dgm:pt>
    <dgm:pt modelId="{3EF11070-F2B4-4641-9F8F-C64E48651C2B}" type="pres">
      <dgm:prSet presAssocID="{71888FB1-3954-43AC-8E83-DC76E839C140}" presName="pictRect" presStyleLbl="revTx" presStyleIdx="0" presStyleCnt="6">
        <dgm:presLayoutVars>
          <dgm:chMax val="0"/>
          <dgm:bulletEnabled/>
        </dgm:presLayoutVars>
      </dgm:prSet>
      <dgm:spPr/>
    </dgm:pt>
    <dgm:pt modelId="{83055AEC-6C6D-44B0-9DD0-20B3BE85D913}" type="pres">
      <dgm:prSet presAssocID="{71888FB1-3954-43AC-8E83-DC76E839C140}" presName="textRect" presStyleLbl="revTx" presStyleIdx="1" presStyleCnt="6">
        <dgm:presLayoutVars>
          <dgm:bulletEnabled/>
        </dgm:presLayoutVars>
      </dgm:prSet>
      <dgm:spPr/>
    </dgm:pt>
    <dgm:pt modelId="{34A40FB2-4F85-4CFA-B2F1-797758BAD0B3}" type="pres">
      <dgm:prSet presAssocID="{D79F1DFB-08D6-43DB-87F8-E9DB24CDA9D4}" presName="sibTrans" presStyleLbl="sibTrans2D1" presStyleIdx="0" presStyleCnt="0"/>
      <dgm:spPr/>
    </dgm:pt>
    <dgm:pt modelId="{A9429F67-CD45-4795-A2C3-FDAAAC0114B2}" type="pres">
      <dgm:prSet presAssocID="{927C8564-9057-4413-9240-BE7E1D263F5C}" presName="compNode" presStyleCnt="0"/>
      <dgm:spPr/>
    </dgm:pt>
    <dgm:pt modelId="{587B47C9-1B35-43EC-BEF8-A3C61EC588DC}" type="pres">
      <dgm:prSet presAssocID="{927C8564-9057-4413-9240-BE7E1D263F5C}" presName="pictRect" presStyleLbl="revTx" presStyleIdx="2" presStyleCnt="6">
        <dgm:presLayoutVars>
          <dgm:chMax val="0"/>
          <dgm:bulletEnabled/>
        </dgm:presLayoutVars>
      </dgm:prSet>
      <dgm:spPr/>
    </dgm:pt>
    <dgm:pt modelId="{9FADAB1D-5BB9-43D7-AD38-86A95952D59E}" type="pres">
      <dgm:prSet presAssocID="{927C8564-9057-4413-9240-BE7E1D263F5C}" presName="textRect" presStyleLbl="revTx" presStyleIdx="3" presStyleCnt="6">
        <dgm:presLayoutVars>
          <dgm:bulletEnabled/>
        </dgm:presLayoutVars>
      </dgm:prSet>
      <dgm:spPr/>
    </dgm:pt>
    <dgm:pt modelId="{175B0805-9C18-4857-BAC7-1338E233FDA9}" type="pres">
      <dgm:prSet presAssocID="{5B81B10F-0A94-4718-8D29-8003D26D4A07}" presName="sibTrans" presStyleLbl="sibTrans2D1" presStyleIdx="0" presStyleCnt="0"/>
      <dgm:spPr/>
    </dgm:pt>
    <dgm:pt modelId="{C16BCD27-0033-4E0F-9762-8A8C8B5B33F5}" type="pres">
      <dgm:prSet presAssocID="{6E6CAD17-2199-4C58-851E-E3A98C7F264B}" presName="compNode" presStyleCnt="0"/>
      <dgm:spPr/>
    </dgm:pt>
    <dgm:pt modelId="{E477B459-2874-4DD8-985C-5A85E271EA8F}" type="pres">
      <dgm:prSet presAssocID="{6E6CAD17-2199-4C58-851E-E3A98C7F264B}" presName="pictRect" presStyleLbl="revTx" presStyleIdx="4" presStyleCnt="6">
        <dgm:presLayoutVars>
          <dgm:chMax val="0"/>
          <dgm:bulletEnabled/>
        </dgm:presLayoutVars>
      </dgm:prSet>
      <dgm:spPr/>
    </dgm:pt>
    <dgm:pt modelId="{9400846F-070B-4C71-AAE6-8590EBDE9258}" type="pres">
      <dgm:prSet presAssocID="{6E6CAD17-2199-4C58-851E-E3A98C7F264B}" presName="textRect" presStyleLbl="revTx" presStyleIdx="5" presStyleCnt="6">
        <dgm:presLayoutVars>
          <dgm:bulletEnabled/>
        </dgm:presLayoutVars>
      </dgm:prSet>
      <dgm:spPr/>
    </dgm:pt>
  </dgm:ptLst>
  <dgm:cxnLst>
    <dgm:cxn modelId="{25F4360D-5831-4417-A11E-8CD5B1051F36}" srcId="{FD9D393D-FA1A-434B-B85D-034C4FB09D93}" destId="{71888FB1-3954-43AC-8E83-DC76E839C140}" srcOrd="0" destOrd="0" parTransId="{967B62F3-60D9-436A-8521-805DD37088C5}" sibTransId="{D79F1DFB-08D6-43DB-87F8-E9DB24CDA9D4}"/>
    <dgm:cxn modelId="{5E2B6417-6942-4764-8686-BE5EF826BDD0}" type="presOf" srcId="{4DD72293-7000-4B3A-A0BF-F814409EAA47}" destId="{9FADAB1D-5BB9-43D7-AD38-86A95952D59E}" srcOrd="0" destOrd="0" presId="urn:microsoft.com/office/officeart/2024/3/layout/hArchList1"/>
    <dgm:cxn modelId="{86D02B36-450B-42C2-B665-8FA5763C18F8}" type="presOf" srcId="{FB759329-E79D-44D4-8374-188B16BFBD39}" destId="{9400846F-070B-4C71-AAE6-8590EBDE9258}" srcOrd="0" destOrd="0" presId="urn:microsoft.com/office/officeart/2024/3/layout/hArchList1"/>
    <dgm:cxn modelId="{89A6DC36-144B-412F-9328-8FEFDB8D421F}" srcId="{927C8564-9057-4413-9240-BE7E1D263F5C}" destId="{4DD72293-7000-4B3A-A0BF-F814409EAA47}" srcOrd="0" destOrd="0" parTransId="{AC1CE5C2-B69E-42ED-9230-765F971903AD}" sibTransId="{2CCF137A-25BF-4F7D-8035-2186BBA06A66}"/>
    <dgm:cxn modelId="{609D473D-4B9B-4122-A45D-8CB0E2260BDD}" type="presOf" srcId="{5B81B10F-0A94-4718-8D29-8003D26D4A07}" destId="{175B0805-9C18-4857-BAC7-1338E233FDA9}" srcOrd="0" destOrd="0" presId="urn:microsoft.com/office/officeart/2024/3/layout/hArchList1"/>
    <dgm:cxn modelId="{12C49368-8E89-47C9-A6E9-9489B40712A6}" srcId="{FD9D393D-FA1A-434B-B85D-034C4FB09D93}" destId="{6E6CAD17-2199-4C58-851E-E3A98C7F264B}" srcOrd="2" destOrd="0" parTransId="{53543DC7-0056-4CC7-9AC7-2836EB81AB33}" sibTransId="{E804F8C6-1D95-4BBF-B2E5-A02CB4053F52}"/>
    <dgm:cxn modelId="{F4BDBC7D-6157-4E4F-ACE1-1F240DC0C66C}" srcId="{FD9D393D-FA1A-434B-B85D-034C4FB09D93}" destId="{927C8564-9057-4413-9240-BE7E1D263F5C}" srcOrd="1" destOrd="0" parTransId="{81FCC07E-9E2E-41EB-9FCE-817310F89CE7}" sibTransId="{5B81B10F-0A94-4718-8D29-8003D26D4A07}"/>
    <dgm:cxn modelId="{49350C80-6E3F-4D3B-BC0A-692F066AD778}" type="presOf" srcId="{B2C143AD-C4A3-42EF-BA99-C9E7D89F18A7}" destId="{83055AEC-6C6D-44B0-9DD0-20B3BE85D913}" srcOrd="0" destOrd="0" presId="urn:microsoft.com/office/officeart/2024/3/layout/hArchList1"/>
    <dgm:cxn modelId="{917BD594-061E-40C6-859B-8936231B87D2}" srcId="{71888FB1-3954-43AC-8E83-DC76E839C140}" destId="{B2C143AD-C4A3-42EF-BA99-C9E7D89F18A7}" srcOrd="0" destOrd="0" parTransId="{1270D4FA-C14A-4766-9C25-95CAB89B4B30}" sibTransId="{5A64B28F-5E5D-4CF8-91FC-DF906E2F3E68}"/>
    <dgm:cxn modelId="{DF19BECC-99B0-4085-A195-27F5A71FCFC9}" type="presOf" srcId="{D79F1DFB-08D6-43DB-87F8-E9DB24CDA9D4}" destId="{34A40FB2-4F85-4CFA-B2F1-797758BAD0B3}" srcOrd="0" destOrd="0" presId="urn:microsoft.com/office/officeart/2024/3/layout/hArchList1"/>
    <dgm:cxn modelId="{62E8A1D9-135A-424F-AEB0-0282DE8A716D}" type="presOf" srcId="{71888FB1-3954-43AC-8E83-DC76E839C140}" destId="{3EF11070-F2B4-4641-9F8F-C64E48651C2B}" srcOrd="0" destOrd="0" presId="urn:microsoft.com/office/officeart/2024/3/layout/hArchList1"/>
    <dgm:cxn modelId="{32FF04DA-F8D9-45E6-A948-56B90C502E24}" type="presOf" srcId="{6E6CAD17-2199-4C58-851E-E3A98C7F264B}" destId="{E477B459-2874-4DD8-985C-5A85E271EA8F}" srcOrd="0" destOrd="0" presId="urn:microsoft.com/office/officeart/2024/3/layout/hArchList1"/>
    <dgm:cxn modelId="{B2FFECDE-EDA2-4991-B6A7-ED3F1AE3C036}" type="presOf" srcId="{FD9D393D-FA1A-434B-B85D-034C4FB09D93}" destId="{CEBF336A-4591-4848-AF2C-B27335F77F0C}" srcOrd="0" destOrd="0" presId="urn:microsoft.com/office/officeart/2024/3/layout/hArchList1"/>
    <dgm:cxn modelId="{8E6A4BEE-4986-4E9A-8BDE-02310006A3C1}" srcId="{6E6CAD17-2199-4C58-851E-E3A98C7F264B}" destId="{FB759329-E79D-44D4-8374-188B16BFBD39}" srcOrd="0" destOrd="0" parTransId="{89C2715F-521C-4817-BE08-967C5E5AC7E7}" sibTransId="{AD9178ED-F0B6-4A68-AC45-3A0038BA60F9}"/>
    <dgm:cxn modelId="{AA2A78F1-5063-4FE8-8D60-5667C58B7527}" type="presOf" srcId="{927C8564-9057-4413-9240-BE7E1D263F5C}" destId="{587B47C9-1B35-43EC-BEF8-A3C61EC588DC}" srcOrd="0" destOrd="0" presId="urn:microsoft.com/office/officeart/2024/3/layout/hArchList1"/>
    <dgm:cxn modelId="{858A5C3D-165D-47E2-A589-B053B322FCA8}" type="presParOf" srcId="{CEBF336A-4591-4848-AF2C-B27335F77F0C}" destId="{153902A5-CDEA-4444-9D4B-56DA80E520FE}" srcOrd="0" destOrd="0" presId="urn:microsoft.com/office/officeart/2024/3/layout/hArchList1"/>
    <dgm:cxn modelId="{4FEB315A-B9B9-463D-A790-A303771354A4}" type="presParOf" srcId="{153902A5-CDEA-4444-9D4B-56DA80E520FE}" destId="{3EF11070-F2B4-4641-9F8F-C64E48651C2B}" srcOrd="0" destOrd="0" presId="urn:microsoft.com/office/officeart/2024/3/layout/hArchList1"/>
    <dgm:cxn modelId="{DBE0C41A-D7A8-4A3A-9C7C-79255AF9EDEB}" type="presParOf" srcId="{153902A5-CDEA-4444-9D4B-56DA80E520FE}" destId="{83055AEC-6C6D-44B0-9DD0-20B3BE85D913}" srcOrd="1" destOrd="0" presId="urn:microsoft.com/office/officeart/2024/3/layout/hArchList1"/>
    <dgm:cxn modelId="{DA27BFA5-7A6C-463B-AD27-77DAB00C69C7}" type="presParOf" srcId="{CEBF336A-4591-4848-AF2C-B27335F77F0C}" destId="{34A40FB2-4F85-4CFA-B2F1-797758BAD0B3}" srcOrd="1" destOrd="0" presId="urn:microsoft.com/office/officeart/2024/3/layout/hArchList1"/>
    <dgm:cxn modelId="{24EB6DC1-387F-4415-BD68-401B79F9D9AE}" type="presParOf" srcId="{CEBF336A-4591-4848-AF2C-B27335F77F0C}" destId="{A9429F67-CD45-4795-A2C3-FDAAAC0114B2}" srcOrd="2" destOrd="0" presId="urn:microsoft.com/office/officeart/2024/3/layout/hArchList1"/>
    <dgm:cxn modelId="{07F6C597-8A7B-4E89-97D6-A03C72239D4B}" type="presParOf" srcId="{A9429F67-CD45-4795-A2C3-FDAAAC0114B2}" destId="{587B47C9-1B35-43EC-BEF8-A3C61EC588DC}" srcOrd="0" destOrd="0" presId="urn:microsoft.com/office/officeart/2024/3/layout/hArchList1"/>
    <dgm:cxn modelId="{35CC4AEC-8A81-418F-804A-116C71136945}" type="presParOf" srcId="{A9429F67-CD45-4795-A2C3-FDAAAC0114B2}" destId="{9FADAB1D-5BB9-43D7-AD38-86A95952D59E}" srcOrd="1" destOrd="0" presId="urn:microsoft.com/office/officeart/2024/3/layout/hArchList1"/>
    <dgm:cxn modelId="{AC426498-5A52-4E5C-A95B-A03E0C7DE439}" type="presParOf" srcId="{CEBF336A-4591-4848-AF2C-B27335F77F0C}" destId="{175B0805-9C18-4857-BAC7-1338E233FDA9}" srcOrd="3" destOrd="0" presId="urn:microsoft.com/office/officeart/2024/3/layout/hArchList1"/>
    <dgm:cxn modelId="{A350D000-D4EA-437A-8941-AF85C64751CD}" type="presParOf" srcId="{CEBF336A-4591-4848-AF2C-B27335F77F0C}" destId="{C16BCD27-0033-4E0F-9762-8A8C8B5B33F5}" srcOrd="4" destOrd="0" presId="urn:microsoft.com/office/officeart/2024/3/layout/hArchList1"/>
    <dgm:cxn modelId="{9E7D8A7D-A141-451E-BB1A-69E98D598502}" type="presParOf" srcId="{C16BCD27-0033-4E0F-9762-8A8C8B5B33F5}" destId="{E477B459-2874-4DD8-985C-5A85E271EA8F}" srcOrd="0" destOrd="0" presId="urn:microsoft.com/office/officeart/2024/3/layout/hArchList1"/>
    <dgm:cxn modelId="{090AA306-686E-4E7F-BD8E-001E231794E3}" type="presParOf" srcId="{C16BCD27-0033-4E0F-9762-8A8C8B5B33F5}" destId="{9400846F-070B-4C71-AAE6-8590EBDE925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11070-F2B4-4641-9F8F-C64E48651C2B}">
      <dsp:nvSpPr>
        <dsp:cNvPr id="0" name=""/>
        <dsp:cNvSpPr/>
      </dsp:nvSpPr>
      <dsp:spPr>
        <a:xfrm>
          <a:off x="0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Pametno rješenje za parkiranje</a:t>
          </a:r>
          <a:endParaRPr lang="en-US" sz="1800" kern="1200"/>
        </a:p>
      </dsp:txBody>
      <dsp:txXfrm>
        <a:off x="0" y="0"/>
        <a:ext cx="3428999" cy="342899"/>
      </dsp:txXfrm>
    </dsp:sp>
    <dsp:sp modelId="{83055AEC-6C6D-44B0-9DD0-20B3BE85D913}">
      <dsp:nvSpPr>
        <dsp:cNvPr id="0" name=""/>
        <dsp:cNvSpPr/>
      </dsp:nvSpPr>
      <dsp:spPr>
        <a:xfrm>
          <a:off x="0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ParkSmart koristi inovativne tehnologije kako bi olakšao pronalaženje parkirnog mjesta u gradu.</a:t>
          </a:r>
          <a:endParaRPr lang="en-US" sz="1400" kern="1200"/>
        </a:p>
      </dsp:txBody>
      <dsp:txXfrm>
        <a:off x="0" y="342899"/>
        <a:ext cx="3428999" cy="2340290"/>
      </dsp:txXfrm>
    </dsp:sp>
    <dsp:sp modelId="{587B47C9-1B35-43EC-BEF8-A3C61EC588DC}">
      <dsp:nvSpPr>
        <dsp:cNvPr id="0" name=""/>
        <dsp:cNvSpPr/>
      </dsp:nvSpPr>
      <dsp:spPr>
        <a:xfrm>
          <a:off x="3771899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Održivi pristup</a:t>
          </a:r>
          <a:endParaRPr lang="en-US" sz="1800" kern="1200"/>
        </a:p>
      </dsp:txBody>
      <dsp:txXfrm>
        <a:off x="3771899" y="0"/>
        <a:ext cx="3428999" cy="342899"/>
      </dsp:txXfrm>
    </dsp:sp>
    <dsp:sp modelId="{9FADAB1D-5BB9-43D7-AD38-86A95952D59E}">
      <dsp:nvSpPr>
        <dsp:cNvPr id="0" name=""/>
        <dsp:cNvSpPr/>
      </dsp:nvSpPr>
      <dsp:spPr>
        <a:xfrm>
          <a:off x="3771899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Projekat doprinosi zdravijem gradskom okruženju smanjenjem vremena traženja parkinga i zagađenja.</a:t>
          </a:r>
          <a:endParaRPr lang="en-US" sz="1400" kern="1200"/>
        </a:p>
      </dsp:txBody>
      <dsp:txXfrm>
        <a:off x="3771899" y="342899"/>
        <a:ext cx="3428999" cy="2340290"/>
      </dsp:txXfrm>
    </dsp:sp>
    <dsp:sp modelId="{E477B459-2874-4DD8-985C-5A85E271EA8F}">
      <dsp:nvSpPr>
        <dsp:cNvPr id="0" name=""/>
        <dsp:cNvSpPr/>
      </dsp:nvSpPr>
      <dsp:spPr>
        <a:xfrm>
          <a:off x="7543800" y="0"/>
          <a:ext cx="3428999" cy="342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Svijetla budućnost</a:t>
          </a:r>
          <a:endParaRPr lang="en-US" sz="1800" kern="1200"/>
        </a:p>
      </dsp:txBody>
      <dsp:txXfrm>
        <a:off x="7543800" y="0"/>
        <a:ext cx="3428999" cy="342899"/>
      </dsp:txXfrm>
    </dsp:sp>
    <dsp:sp modelId="{9400846F-070B-4C71-AAE6-8590EBDE9258}">
      <dsp:nvSpPr>
        <dsp:cNvPr id="0" name=""/>
        <dsp:cNvSpPr/>
      </dsp:nvSpPr>
      <dsp:spPr>
        <a:xfrm>
          <a:off x="7543800" y="342899"/>
          <a:ext cx="3428999" cy="234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Predani tim i inovacije vode ka jednostavnijem i efikasnijem parkiranju za sve korisnike.</a:t>
          </a:r>
          <a:endParaRPr lang="en-US" sz="1400" kern="1200"/>
        </a:p>
      </dsp:txBody>
      <dsp:txXfrm>
        <a:off x="7543800" y="342899"/>
        <a:ext cx="3428999" cy="2340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Čuvar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A4610-F80F-4F40-A07E-783D7321767C}" type="datetimeFigureOut">
              <a:rPr lang="en-US" smtClean="0"/>
              <a:t>16-Sep-25</a:t>
            </a:fld>
            <a:endParaRPr lang="en-US"/>
          </a:p>
        </p:txBody>
      </p:sp>
      <p:sp>
        <p:nvSpPr>
          <p:cNvPr id="4" name="Čuvar mesta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Čuvar mesta za napomen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r-Latn-RS"/>
              <a:t>Kliknite da biste uredili stilove teksta mastera</a:t>
            </a:r>
          </a:p>
          <a:p>
            <a:pPr lvl="1"/>
            <a:r>
              <a:rPr lang="sr-Latn-RS"/>
              <a:t>Drugi nivo</a:t>
            </a:r>
          </a:p>
          <a:p>
            <a:pPr lvl="2"/>
            <a:r>
              <a:rPr lang="sr-Latn-RS"/>
              <a:t>Treći nivo</a:t>
            </a:r>
          </a:p>
          <a:p>
            <a:pPr lvl="3"/>
            <a:r>
              <a:rPr lang="sr-Latn-RS"/>
              <a:t>Četvrti nivo</a:t>
            </a:r>
          </a:p>
          <a:p>
            <a:pPr lvl="4"/>
            <a:r>
              <a:rPr lang="sr-Latn-RS"/>
              <a:t>Peti nivo</a:t>
            </a:r>
            <a:endParaRPr lang="en-US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6ABB3-D4D2-4271-9197-B68AB5D3E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0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  <a:r>
              <a:rPr lang="en-US" dirty="0" err="1"/>
              <a:t>Predstavljamo</a:t>
            </a:r>
            <a:r>
              <a:rPr lang="en-US" dirty="0"/>
              <a:t> </a:t>
            </a:r>
            <a:r>
              <a:rPr lang="en-US" dirty="0" err="1"/>
              <a:t>ParkSmart</a:t>
            </a:r>
            <a:r>
              <a:rPr lang="en-US" dirty="0"/>
              <a:t> – </a:t>
            </a:r>
            <a:r>
              <a:rPr lang="en-US" dirty="0" err="1"/>
              <a:t>inovativnu</a:t>
            </a:r>
            <a:r>
              <a:rPr lang="en-US" dirty="0"/>
              <a:t> web </a:t>
            </a:r>
            <a:r>
              <a:rPr lang="en-US" dirty="0" err="1"/>
              <a:t>platformu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rješava</a:t>
            </a:r>
            <a:r>
              <a:rPr lang="en-US" dirty="0"/>
              <a:t> problem </a:t>
            </a:r>
            <a:r>
              <a:rPr lang="en-US" dirty="0" err="1"/>
              <a:t>nedostatka</a:t>
            </a:r>
            <a:r>
              <a:rPr lang="en-US" dirty="0"/>
              <a:t> parking </a:t>
            </a:r>
            <a:r>
              <a:rPr lang="en-US" dirty="0" err="1"/>
              <a:t>mjesta</a:t>
            </a:r>
            <a:r>
              <a:rPr lang="en-US" dirty="0"/>
              <a:t> u </a:t>
            </a:r>
            <a:r>
              <a:rPr lang="en-US" dirty="0" err="1"/>
              <a:t>urbanim</a:t>
            </a:r>
            <a:r>
              <a:rPr lang="en-US" dirty="0"/>
              <a:t> </a:t>
            </a:r>
            <a:r>
              <a:rPr lang="en-US" dirty="0" err="1"/>
              <a:t>sredinama</a:t>
            </a:r>
            <a:r>
              <a:rPr lang="en-US" dirty="0"/>
              <a:t>, </a:t>
            </a:r>
            <a:r>
              <a:rPr lang="en-US" dirty="0" err="1"/>
              <a:t>počevši</a:t>
            </a:r>
            <a:r>
              <a:rPr lang="en-US" dirty="0"/>
              <a:t> s pilot </a:t>
            </a:r>
            <a:r>
              <a:rPr lang="en-US" dirty="0" err="1"/>
              <a:t>projektom</a:t>
            </a:r>
            <a:r>
              <a:rPr lang="en-US" dirty="0"/>
              <a:t> u </a:t>
            </a:r>
            <a:r>
              <a:rPr lang="en-US" dirty="0" err="1"/>
              <a:t>Novom</a:t>
            </a:r>
            <a:r>
              <a:rPr lang="en-US" dirty="0"/>
              <a:t> Sadu. Ova </a:t>
            </a:r>
            <a:r>
              <a:rPr lang="en-US" dirty="0" err="1"/>
              <a:t>prezentacija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našu</a:t>
            </a:r>
            <a:r>
              <a:rPr lang="en-US" dirty="0"/>
              <a:t> </a:t>
            </a:r>
            <a:r>
              <a:rPr lang="en-US" dirty="0" err="1"/>
              <a:t>viziju</a:t>
            </a:r>
            <a:r>
              <a:rPr lang="en-US" dirty="0"/>
              <a:t>, </a:t>
            </a:r>
            <a:r>
              <a:rPr lang="en-US" dirty="0" err="1"/>
              <a:t>poslovni</a:t>
            </a:r>
            <a:r>
              <a:rPr lang="en-US" dirty="0"/>
              <a:t> model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strategiju</a:t>
            </a:r>
            <a:r>
              <a:rPr lang="en-US" dirty="0"/>
              <a:t> rasta.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27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U urbanim sredinama vozači često gube vrijeme tražeći slobodno parking mjesto, što povećava troškove, frustraciju i emisiju štetnih plinova. Parking prostori su često neefikasno iskorišteni, posebno privatni.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04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Naša platforma omogućuje vlasnicima da unajme svoja slobodna parking mjesta vozačima putem jednostavne web aplikacije, s opcijom rezervacije u realnom vremenu ili unaprijed, čime se maksimizira iskorištenost prostora i olakšava promet.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09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Početni fokus je Novi Sad s ciljnim skupinama kao što su studenti, zaposleni i turisti. Planiramo širiti platformu na druge urbane sredine u regiji, prilagođavajući ponudu lokalnim potrebama i trendovima.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32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Platforma će ostvarivati prihode kroz proviziju od svake transakcije, nuditi premium usluge poput rezervacije na zahtjev i dodatne pogodnosti za vlasnike parking mjesta, potičući dugoročnu suradnju i kvalitetu usluge.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6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Naš tim čine iskusni programeri, stručnjaci za marketing i korisničku podršku. Planiramo kontinuirano širiti tim kako bismo pratili rast platforme i osigurali izvrsnu uslugu korisnicima.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3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Cilj nam je postati vodeća platforma za dijeljenje privatnih parking mjesta u regiji, doprinoseći smanjenju prometnih gužvi i zagađenja, te promovirati održiv i pametan urbani život.
Izvor slike: biblioteka sadržaja okruženja Microsoft 365
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68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Čuvar mesta za 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ParkSmart predstavlja pametno, održivo i praktično rješenje za probleme urbane parkiranja. S našim inovativnim pristupom i predanim timom, pred nama je svijetla budućnost u kojoj će svatko lako pronaći parking i doprinijeti zdravijem gradskom okruženju.</a:t>
            </a:r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DF2CA-0ECB-4BB4-9024-99358464E5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0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EA5D59-5512-467D-834D-D04827A6AF83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2362D5-E350-46C5-8BB1-F9E806A91933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5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276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BFE899EF-3666-4EAB-A626-E7AA02E66CC1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47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020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9EEDB3-BC19-4021-830F-B822E1DE9789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4DD65C-314F-4399-90A8-B6DFCAF21BE4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29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8874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76FC08D9-20DE-421C-BE4E-310427BB699B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7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FC08D9-20DE-421C-BE4E-310427BB699B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72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F1AC263-88EE-42CC-B640-B12BA856CF71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22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68A32F6A-E7E2-4607-B207-B787B539B854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73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467FC12-63BB-4A63-9424-BFBF8E1D71D9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3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9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80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892AD61-D199-4B74-B80B-2001400510FA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54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00D9374-B0AF-43C5-90A8-C409C7D54B55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BB6888-43ED-4D3A-B8DA-89EF29644561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14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27C7479B-2077-4468-85E0-F9294B46DEAE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32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28E9021D-675F-4984-8FE0-04DA4F4E22F1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6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A7F72289-EB8A-47CA-A283-A769C9E761BF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730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435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16-Sep-25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090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5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8117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1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25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86C921-50A5-4289-8B96-30101E64A548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830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948B66-4D7B-4FF2-9F42-B85226272225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67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D1D18D0-7308-42C5-B784-8892F327ABD3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3554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78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6C46EC71-0129-40A3-85CE-244216EACC39}" type="datetime1">
              <a:rPr lang="en-US" smtClean="0"/>
              <a:t>16-Sep-25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28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700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CC8FB4D-92F2-4C28-8BFC-2AE0229C3E9A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55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B708C30-1428-4C16-AD49-DE42CFEA37BF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027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50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DF09C0-6535-4055-81CC-988E059C8EEC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80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85187EE-7BBC-405E-B3F5-9C3E88970356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01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7A35BA-41D5-4E87-94C2-E365E2A3656B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9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A4345C7-9F39-4767-92C9-EBF29396D0A9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4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891D2-C712-4357-A4F9-7362E459A272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8257922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525586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2BF1DD-1BF4-406D-9906-B4846BCC8D55}" type="datetime1">
              <a:rPr lang="en-US" smtClean="0"/>
              <a:pPr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3400921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0A52C9-A7D6-4EB8-8F3D-1519181DDC1D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605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E9CE581-A048-42A8-B14C-488A3338D2F0}" type="datetime1">
              <a:rPr lang="en-US" smtClean="0"/>
              <a:t>16-Sep-25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8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37B15FB-E45F-4977-9C40-BB6531CE6EA6}" type="datetime1">
              <a:rPr lang="en-US" smtClean="0"/>
              <a:t>16-Sep-25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574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8922BC5-E711-4A36-A80E-0A418F83672D}" type="datetime1">
              <a:rPr lang="en-US" smtClean="0"/>
              <a:t>16-Sep-25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306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1D94988-488B-40CC-9623-27A54F95F7B4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122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A3C7011-18F0-49E4-85C9-3E22BE44E3EB}" type="datetime1">
              <a:rPr lang="en-US" smtClean="0"/>
              <a:t>16-Sep-25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264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B1E6060-C53E-4F28-8D83-0C4FB26C4A3F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20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D3D1E3E-5DD4-4BAD-A138-1254BF94C224}" type="datetime1">
              <a:rPr lang="en-US" smtClean="0"/>
              <a:t>16-Sep-25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75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DF4F7BB-A1DF-4BD2-8D5B-CA9EB40127CE}" type="datetime1">
              <a:rPr lang="en-US" smtClean="0"/>
              <a:pPr/>
              <a:t>16-Sep-25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0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slov 2">
            <a:extLst>
              <a:ext uri="{FF2B5EF4-FFF2-40B4-BE49-F238E27FC236}">
                <a16:creationId xmlns:a16="http://schemas.microsoft.com/office/drawing/2014/main" id="{A4AFDCCE-E2C2-4C92-74E9-54CA1F1A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4821936"/>
            <a:ext cx="10483927" cy="816864"/>
          </a:xfrm>
        </p:spPr>
        <p:txBody>
          <a:bodyPr>
            <a:normAutofit/>
          </a:bodyPr>
          <a:lstStyle/>
          <a:p>
            <a:r>
              <a:rPr lang="en-US" dirty="0" err="1"/>
              <a:t>Inovativna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parkiranjem</a:t>
            </a:r>
            <a:r>
              <a:rPr lang="en-US" dirty="0"/>
              <a:t> u </a:t>
            </a:r>
            <a:r>
              <a:rPr lang="en-US" dirty="0" err="1"/>
              <a:t>gradovima</a:t>
            </a:r>
            <a:endParaRPr lang="en-US" dirty="0"/>
          </a:p>
          <a:p>
            <a:endParaRPr lang="en-US" dirty="0"/>
          </a:p>
        </p:txBody>
      </p:sp>
      <p:sp>
        <p:nvSpPr>
          <p:cNvPr id="4" name="Podnaslov 2">
            <a:extLst>
              <a:ext uri="{FF2B5EF4-FFF2-40B4-BE49-F238E27FC236}">
                <a16:creationId xmlns:a16="http://schemas.microsoft.com/office/drawing/2014/main" id="{0A99CC13-2D58-9E26-E947-8293661B2D0E}"/>
              </a:ext>
            </a:extLst>
          </p:cNvPr>
          <p:cNvSpPr txBox="1">
            <a:spLocks/>
          </p:cNvSpPr>
          <p:nvPr/>
        </p:nvSpPr>
        <p:spPr>
          <a:xfrm>
            <a:off x="612644" y="5748661"/>
            <a:ext cx="10483927" cy="81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Pilot grad: Novi Sad | Radoslav Mastilović – Tim </a:t>
            </a:r>
            <a:r>
              <a:rPr lang="en-US" dirty="0" err="1"/>
              <a:t>ParkSmart</a:t>
            </a:r>
            <a:endParaRPr lang="en-US" dirty="0"/>
          </a:p>
          <a:p>
            <a:endParaRPr lang="en-US" dirty="0"/>
          </a:p>
        </p:txBody>
      </p:sp>
      <p:sp>
        <p:nvSpPr>
          <p:cNvPr id="6" name="Okvir za tekst 5">
            <a:extLst>
              <a:ext uri="{FF2B5EF4-FFF2-40B4-BE49-F238E27FC236}">
                <a16:creationId xmlns:a16="http://schemas.microsoft.com/office/drawing/2014/main" id="{4DA99F29-04BE-1299-BDFA-9C1877DDD66F}"/>
              </a:ext>
            </a:extLst>
          </p:cNvPr>
          <p:cNvSpPr txBox="1"/>
          <p:nvPr/>
        </p:nvSpPr>
        <p:spPr>
          <a:xfrm>
            <a:off x="612644" y="1349829"/>
            <a:ext cx="109588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PARKSMART: PAMETNO RJEŠENJE ZA PRIVATNI PARKING U URBANIM SREDINAMA</a:t>
            </a:r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8141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  <p:bldP spid="4" grpId="0" build="p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75A7D03-D06B-22E5-A50E-BADCD954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rmAutofit fontScale="90000"/>
          </a:bodyPr>
          <a:lstStyle/>
          <a:p>
            <a:r>
              <a:rPr lang="en-US" sz="2400" dirty="0"/>
              <a:t>Problem: </a:t>
            </a:r>
            <a:r>
              <a:rPr lang="en-US" sz="2400" dirty="0" err="1"/>
              <a:t>Nedostatak</a:t>
            </a:r>
            <a:r>
              <a:rPr lang="en-US" sz="2400" dirty="0"/>
              <a:t> parking </a:t>
            </a:r>
            <a:r>
              <a:rPr lang="en-US" sz="2400" dirty="0" err="1"/>
              <a:t>mjesta</a:t>
            </a:r>
            <a:r>
              <a:rPr lang="en-US" sz="2400" dirty="0"/>
              <a:t>, </a:t>
            </a:r>
            <a:r>
              <a:rPr lang="en-US" sz="2400" dirty="0" err="1"/>
              <a:t>gubitak</a:t>
            </a:r>
            <a:r>
              <a:rPr lang="en-US" sz="2400" dirty="0"/>
              <a:t> </a:t>
            </a:r>
            <a:r>
              <a:rPr lang="en-US" sz="2400" dirty="0" err="1"/>
              <a:t>vremena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novca</a:t>
            </a:r>
            <a:r>
              <a:rPr lang="en-US" sz="2400" dirty="0"/>
              <a:t>, </a:t>
            </a:r>
            <a:r>
              <a:rPr lang="en-US" sz="2400" dirty="0" err="1"/>
              <a:t>preopterećeni</a:t>
            </a:r>
            <a:r>
              <a:rPr lang="en-US" sz="2400" dirty="0"/>
              <a:t> </a:t>
            </a:r>
            <a:r>
              <a:rPr lang="en-US" sz="2400" dirty="0" err="1"/>
              <a:t>prostori</a:t>
            </a:r>
            <a:r>
              <a:rPr lang="en-US" sz="2400" dirty="0"/>
              <a:t>, </a:t>
            </a:r>
            <a:r>
              <a:rPr lang="en-US" sz="2400" dirty="0" err="1"/>
              <a:t>emisija</a:t>
            </a:r>
            <a:r>
              <a:rPr lang="en-US" sz="2400" dirty="0"/>
              <a:t> CO2</a:t>
            </a:r>
            <a:endParaRPr lang="en-US" sz="2200" dirty="0"/>
          </a:p>
        </p:txBody>
      </p:sp>
      <p:pic>
        <p:nvPicPr>
          <p:cNvPr id="5" name="Čuvar mesta za sadržaj 4" descr="Zračna linija automobila na parkiralištu">
            <a:extLst>
              <a:ext uri="{FF2B5EF4-FFF2-40B4-BE49-F238E27FC236}">
                <a16:creationId xmlns:a16="http://schemas.microsoft.com/office/drawing/2014/main" id="{52286454-C443-4F29-8D5C-502EFE3C86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7602" r="9457"/>
          <a:stretch>
            <a:fillRect/>
          </a:stretch>
        </p:blipFill>
        <p:spPr>
          <a:xfrm>
            <a:off x="20" y="10"/>
            <a:ext cx="7584124" cy="685799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56C80A11-801E-73D2-C3DC-EE6582FCD988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212791" y="2880360"/>
            <a:ext cx="3363259" cy="327461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300" b="1" dirty="0" err="1"/>
              <a:t>Gubitak</a:t>
            </a:r>
            <a:r>
              <a:rPr lang="en-US" sz="1300" b="1" dirty="0"/>
              <a:t> </a:t>
            </a:r>
            <a:r>
              <a:rPr lang="en-US" sz="1300" b="1" dirty="0" err="1"/>
              <a:t>vremena</a:t>
            </a:r>
            <a:r>
              <a:rPr lang="en-US" sz="1300" b="1" dirty="0"/>
              <a:t> </a:t>
            </a:r>
            <a:r>
              <a:rPr lang="en-US" sz="1300" b="1" dirty="0" err="1"/>
              <a:t>i</a:t>
            </a:r>
            <a:r>
              <a:rPr lang="en-US" sz="1300" b="1" dirty="0"/>
              <a:t> </a:t>
            </a:r>
            <a:r>
              <a:rPr lang="en-US" sz="1300" b="1" dirty="0" err="1"/>
              <a:t>novca</a:t>
            </a:r>
            <a:endParaRPr lang="en-US" sz="1300" b="1" dirty="0"/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300" dirty="0" err="1"/>
              <a:t>Vozači</a:t>
            </a:r>
            <a:r>
              <a:rPr lang="en-US" sz="1300" dirty="0"/>
              <a:t> u </a:t>
            </a:r>
            <a:r>
              <a:rPr lang="en-US" sz="1300" dirty="0" err="1"/>
              <a:t>gradovima</a:t>
            </a:r>
            <a:r>
              <a:rPr lang="en-US" sz="1300" dirty="0"/>
              <a:t> </a:t>
            </a:r>
            <a:r>
              <a:rPr lang="en-US" sz="1300" dirty="0" err="1"/>
              <a:t>troše</a:t>
            </a:r>
            <a:r>
              <a:rPr lang="en-US" sz="1300" dirty="0"/>
              <a:t> </a:t>
            </a:r>
            <a:r>
              <a:rPr lang="en-US" sz="1300" dirty="0" err="1"/>
              <a:t>puno</a:t>
            </a:r>
            <a:r>
              <a:rPr lang="en-US" sz="1300" dirty="0"/>
              <a:t> </a:t>
            </a:r>
            <a:r>
              <a:rPr lang="en-US" sz="1300" dirty="0" err="1"/>
              <a:t>vremena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novca</a:t>
            </a:r>
            <a:r>
              <a:rPr lang="en-US" sz="1300" dirty="0"/>
              <a:t> </a:t>
            </a:r>
            <a:r>
              <a:rPr lang="en-US" sz="1300" dirty="0" err="1"/>
              <a:t>tražeći</a:t>
            </a:r>
            <a:r>
              <a:rPr lang="en-US" sz="1300" dirty="0"/>
              <a:t> </a:t>
            </a:r>
            <a:r>
              <a:rPr lang="en-US" sz="1300" dirty="0" err="1"/>
              <a:t>slobodno</a:t>
            </a:r>
            <a:r>
              <a:rPr lang="en-US" sz="1300" dirty="0"/>
              <a:t> parking </a:t>
            </a:r>
            <a:r>
              <a:rPr lang="en-US" sz="1300" dirty="0" err="1"/>
              <a:t>mjesto</a:t>
            </a:r>
            <a:r>
              <a:rPr lang="en-US" sz="1300" dirty="0"/>
              <a:t>, </a:t>
            </a:r>
            <a:r>
              <a:rPr lang="en-US" sz="1300" dirty="0" err="1"/>
              <a:t>što</a:t>
            </a:r>
            <a:r>
              <a:rPr lang="en-US" sz="1300" dirty="0"/>
              <a:t> </a:t>
            </a:r>
            <a:r>
              <a:rPr lang="en-US" sz="1300" dirty="0" err="1"/>
              <a:t>povećava</a:t>
            </a:r>
            <a:r>
              <a:rPr lang="en-US" sz="1300" dirty="0"/>
              <a:t> </a:t>
            </a:r>
            <a:r>
              <a:rPr lang="en-US" sz="1300" dirty="0" err="1"/>
              <a:t>stres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troškove</a:t>
            </a:r>
            <a:endParaRPr lang="en-US" sz="1300" dirty="0"/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300" b="1" dirty="0" err="1"/>
              <a:t>Neefikasna</a:t>
            </a:r>
            <a:r>
              <a:rPr lang="en-US" sz="1300" b="1" dirty="0"/>
              <a:t> </a:t>
            </a:r>
            <a:r>
              <a:rPr lang="en-US" sz="1300" b="1" dirty="0" err="1"/>
              <a:t>iskorištenost</a:t>
            </a:r>
            <a:r>
              <a:rPr lang="en-US" sz="1300" b="1" dirty="0"/>
              <a:t> </a:t>
            </a:r>
            <a:r>
              <a:rPr lang="en-US" sz="1300" b="1" dirty="0" err="1"/>
              <a:t>prostora</a:t>
            </a:r>
            <a:endParaRPr lang="en-US" sz="1300" b="1" dirty="0"/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300" dirty="0" err="1"/>
              <a:t>Mnogi</a:t>
            </a:r>
            <a:r>
              <a:rPr lang="en-US" sz="1300" dirty="0"/>
              <a:t> parking </a:t>
            </a:r>
            <a:r>
              <a:rPr lang="en-US" sz="1300" dirty="0" err="1"/>
              <a:t>prostori</a:t>
            </a:r>
            <a:r>
              <a:rPr lang="en-US" sz="1300" dirty="0"/>
              <a:t>, </a:t>
            </a:r>
            <a:r>
              <a:rPr lang="en-US" sz="1300" dirty="0" err="1"/>
              <a:t>naročito</a:t>
            </a:r>
            <a:r>
              <a:rPr lang="en-US" sz="1300" dirty="0"/>
              <a:t> </a:t>
            </a:r>
            <a:r>
              <a:rPr lang="en-US" sz="1300" dirty="0" err="1"/>
              <a:t>privatni</a:t>
            </a:r>
            <a:r>
              <a:rPr lang="en-US" sz="1300" dirty="0"/>
              <a:t>, </a:t>
            </a:r>
            <a:r>
              <a:rPr lang="en-US" sz="1300" dirty="0" err="1"/>
              <a:t>nisu</a:t>
            </a:r>
            <a:r>
              <a:rPr lang="en-US" sz="1300" dirty="0"/>
              <a:t> </a:t>
            </a:r>
            <a:r>
              <a:rPr lang="en-US" sz="1300" dirty="0" err="1"/>
              <a:t>optimalno</a:t>
            </a:r>
            <a:r>
              <a:rPr lang="en-US" sz="1300" dirty="0"/>
              <a:t> </a:t>
            </a:r>
            <a:r>
              <a:rPr lang="en-US" sz="1300" dirty="0" err="1"/>
              <a:t>iskorišteni</a:t>
            </a:r>
            <a:r>
              <a:rPr lang="en-US" sz="1300" dirty="0"/>
              <a:t>, </a:t>
            </a:r>
            <a:r>
              <a:rPr lang="en-US" sz="1300" dirty="0" err="1"/>
              <a:t>što</a:t>
            </a:r>
            <a:r>
              <a:rPr lang="en-US" sz="1300" dirty="0"/>
              <a:t> </a:t>
            </a:r>
            <a:r>
              <a:rPr lang="en-US" sz="1300" dirty="0" err="1"/>
              <a:t>dovodi</a:t>
            </a:r>
            <a:r>
              <a:rPr lang="en-US" sz="1300" dirty="0"/>
              <a:t> do </a:t>
            </a:r>
            <a:r>
              <a:rPr lang="en-US" sz="1300" dirty="0" err="1"/>
              <a:t>preopterećenosti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manjka</a:t>
            </a:r>
            <a:r>
              <a:rPr lang="en-US" sz="1300" dirty="0"/>
              <a:t> </a:t>
            </a:r>
            <a:r>
              <a:rPr lang="en-US" sz="1300" dirty="0" err="1"/>
              <a:t>mjesta</a:t>
            </a:r>
            <a:r>
              <a:rPr lang="en-US" sz="1300" dirty="0"/>
              <a:t>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300" b="1" dirty="0" err="1"/>
              <a:t>Povećane</a:t>
            </a:r>
            <a:r>
              <a:rPr lang="en-US" sz="1300" b="1" dirty="0"/>
              <a:t> </a:t>
            </a:r>
            <a:r>
              <a:rPr lang="en-US" sz="1300" b="1" dirty="0" err="1"/>
              <a:t>emisije</a:t>
            </a:r>
            <a:r>
              <a:rPr lang="en-US" sz="1300" b="1" dirty="0"/>
              <a:t> CO2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1300" dirty="0" err="1"/>
              <a:t>Traženje</a:t>
            </a:r>
            <a:r>
              <a:rPr lang="en-US" sz="1300" dirty="0"/>
              <a:t> parking </a:t>
            </a:r>
            <a:r>
              <a:rPr lang="en-US" sz="1300" dirty="0" err="1"/>
              <a:t>mjesta</a:t>
            </a:r>
            <a:r>
              <a:rPr lang="en-US" sz="1300" dirty="0"/>
              <a:t> </a:t>
            </a:r>
            <a:r>
              <a:rPr lang="en-US" sz="1300" dirty="0" err="1"/>
              <a:t>povećava</a:t>
            </a:r>
            <a:r>
              <a:rPr lang="en-US" sz="1300" dirty="0"/>
              <a:t> </a:t>
            </a:r>
            <a:r>
              <a:rPr lang="en-US" sz="1300" dirty="0" err="1"/>
              <a:t>emisiju</a:t>
            </a:r>
            <a:r>
              <a:rPr lang="en-US" sz="1300" dirty="0"/>
              <a:t> CO2, </a:t>
            </a:r>
            <a:r>
              <a:rPr lang="en-US" sz="1300" dirty="0" err="1"/>
              <a:t>što</a:t>
            </a:r>
            <a:r>
              <a:rPr lang="en-US" sz="1300" dirty="0"/>
              <a:t> </a:t>
            </a:r>
            <a:r>
              <a:rPr lang="en-US" sz="1300" dirty="0" err="1"/>
              <a:t>negativno</a:t>
            </a:r>
            <a:r>
              <a:rPr lang="en-US" sz="1300" dirty="0"/>
              <a:t> </a:t>
            </a:r>
            <a:r>
              <a:rPr lang="en-US" sz="1300" dirty="0" err="1"/>
              <a:t>utječe</a:t>
            </a:r>
            <a:r>
              <a:rPr lang="en-US" sz="1300" dirty="0"/>
              <a:t> </a:t>
            </a:r>
            <a:r>
              <a:rPr lang="en-US" sz="1300" dirty="0" err="1"/>
              <a:t>na</a:t>
            </a:r>
            <a:r>
              <a:rPr lang="en-US" sz="1300" dirty="0"/>
              <a:t> </a:t>
            </a:r>
            <a:r>
              <a:rPr lang="en-US" sz="1300" dirty="0" err="1"/>
              <a:t>okoliš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kvalitetu</a:t>
            </a:r>
            <a:r>
              <a:rPr lang="en-US" sz="1300" dirty="0"/>
              <a:t> </a:t>
            </a:r>
            <a:r>
              <a:rPr lang="en-US" sz="1300" dirty="0" err="1"/>
              <a:t>zraka</a:t>
            </a:r>
            <a:r>
              <a:rPr lang="en-US" sz="1300" dirty="0"/>
              <a:t> u </a:t>
            </a:r>
            <a:r>
              <a:rPr lang="en-US" sz="1300" dirty="0" err="1"/>
              <a:t>gradovima</a:t>
            </a:r>
            <a:r>
              <a:rPr lang="en-US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489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EB4EA4-DF4E-2192-335D-1D53FD28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1800" dirty="0" err="1"/>
              <a:t>Rješenje</a:t>
            </a:r>
            <a:r>
              <a:rPr lang="en-US" sz="1800" dirty="0"/>
              <a:t>: Web </a:t>
            </a:r>
            <a:r>
              <a:rPr lang="en-US" sz="1800" dirty="0" err="1"/>
              <a:t>platforma</a:t>
            </a:r>
            <a:r>
              <a:rPr lang="en-US" sz="1800" dirty="0"/>
              <a:t> za </a:t>
            </a:r>
            <a:r>
              <a:rPr lang="en-US" sz="1800" dirty="0" err="1"/>
              <a:t>dijeljenje</a:t>
            </a:r>
            <a:r>
              <a:rPr lang="en-US" sz="1800" dirty="0"/>
              <a:t> </a:t>
            </a:r>
            <a:r>
              <a:rPr lang="en-US" sz="1800" dirty="0" err="1"/>
              <a:t>privatnih</a:t>
            </a:r>
            <a:r>
              <a:rPr lang="en-US" sz="1800" dirty="0"/>
              <a:t> parking </a:t>
            </a:r>
            <a:r>
              <a:rPr lang="en-US" sz="1800" dirty="0" err="1"/>
              <a:t>mjesta</a:t>
            </a:r>
            <a:r>
              <a:rPr lang="en-US" sz="1800" dirty="0"/>
              <a:t>, </a:t>
            </a:r>
            <a:r>
              <a:rPr lang="en-US" sz="1800" dirty="0" err="1"/>
              <a:t>povezivanje</a:t>
            </a:r>
            <a:r>
              <a:rPr lang="en-US" sz="1800" dirty="0"/>
              <a:t> </a:t>
            </a:r>
            <a:r>
              <a:rPr lang="en-US" sz="1800" dirty="0" err="1"/>
              <a:t>vlasnika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vozača</a:t>
            </a:r>
            <a:r>
              <a:rPr lang="en-US" sz="1800" dirty="0"/>
              <a:t>, </a:t>
            </a:r>
            <a:r>
              <a:rPr lang="en-US" sz="1800" dirty="0" err="1"/>
              <a:t>rezervacija</a:t>
            </a:r>
            <a:r>
              <a:rPr lang="en-US" sz="1800" dirty="0"/>
              <a:t> </a:t>
            </a:r>
            <a:r>
              <a:rPr lang="en-US" sz="1800" dirty="0" err="1"/>
              <a:t>unaprijed</a:t>
            </a:r>
            <a:r>
              <a:rPr lang="en-US" sz="1800" dirty="0"/>
              <a:t> </a:t>
            </a:r>
            <a:r>
              <a:rPr lang="en-US" sz="1800" dirty="0" err="1"/>
              <a:t>ili</a:t>
            </a:r>
            <a:r>
              <a:rPr lang="en-US" sz="1800" dirty="0"/>
              <a:t> u </a:t>
            </a:r>
            <a:r>
              <a:rPr lang="en-US" sz="1800" dirty="0" err="1"/>
              <a:t>realnom</a:t>
            </a:r>
            <a:r>
              <a:rPr lang="en-US" sz="1800" dirty="0"/>
              <a:t> </a:t>
            </a:r>
            <a:r>
              <a:rPr lang="en-US" sz="1800" dirty="0" err="1"/>
              <a:t>vremenu</a:t>
            </a:r>
            <a:endParaRPr lang="en-US" sz="1800" dirty="0"/>
          </a:p>
        </p:txBody>
      </p:sp>
      <p:pic>
        <p:nvPicPr>
          <p:cNvPr id="5" name="Čuvar mesta za sadržaj 4" descr="Pametni telefon s ikonom automobila">
            <a:extLst>
              <a:ext uri="{FF2B5EF4-FFF2-40B4-BE49-F238E27FC236}">
                <a16:creationId xmlns:a16="http://schemas.microsoft.com/office/drawing/2014/main" id="{F98DAE6F-85BF-4594-B3C8-DF9CBE34C5F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807" r="11793" b="-2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9253C647-EB32-101A-BD4B-0DD0895447E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38862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Povezivanje</a:t>
            </a:r>
            <a:r>
              <a:rPr lang="en-US" b="1" dirty="0"/>
              <a:t> </a:t>
            </a:r>
            <a:r>
              <a:rPr lang="en-US" b="1" dirty="0" err="1"/>
              <a:t>vlasnika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vozača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Platforma</a:t>
            </a:r>
            <a:r>
              <a:rPr dirty="0"/>
              <a:t> </a:t>
            </a:r>
            <a:r>
              <a:rPr dirty="0" err="1"/>
              <a:t>olakšava</a:t>
            </a:r>
            <a:r>
              <a:rPr dirty="0"/>
              <a:t> </a:t>
            </a:r>
            <a:r>
              <a:rPr dirty="0" err="1"/>
              <a:t>povezivanje</a:t>
            </a:r>
            <a:r>
              <a:rPr dirty="0"/>
              <a:t> </a:t>
            </a:r>
            <a:r>
              <a:rPr dirty="0" err="1"/>
              <a:t>vlasnika</a:t>
            </a:r>
            <a:r>
              <a:rPr dirty="0"/>
              <a:t> </a:t>
            </a:r>
            <a:r>
              <a:rPr dirty="0" err="1"/>
              <a:t>slobodnih</a:t>
            </a:r>
            <a:r>
              <a:rPr dirty="0"/>
              <a:t> parking </a:t>
            </a:r>
            <a:r>
              <a:rPr dirty="0" err="1"/>
              <a:t>mjesta</a:t>
            </a:r>
            <a:r>
              <a:rPr dirty="0"/>
              <a:t> s </a:t>
            </a:r>
            <a:r>
              <a:rPr dirty="0" err="1"/>
              <a:t>vozačima</a:t>
            </a:r>
            <a:r>
              <a:rPr dirty="0"/>
              <a:t> </a:t>
            </a:r>
            <a:r>
              <a:rPr dirty="0" err="1"/>
              <a:t>kojima</a:t>
            </a:r>
            <a:r>
              <a:rPr dirty="0"/>
              <a:t> je </a:t>
            </a:r>
            <a:r>
              <a:rPr dirty="0" err="1"/>
              <a:t>potreban</a:t>
            </a:r>
            <a:r>
              <a:rPr dirty="0"/>
              <a:t> parking </a:t>
            </a:r>
            <a:r>
              <a:rPr dirty="0" err="1"/>
              <a:t>prostor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Rezervacija</a:t>
            </a:r>
            <a:r>
              <a:rPr lang="en-US" b="1" dirty="0"/>
              <a:t> </a:t>
            </a:r>
            <a:r>
              <a:rPr lang="en-US" b="1" dirty="0" err="1"/>
              <a:t>parkiranja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Omogućena</a:t>
            </a:r>
            <a:r>
              <a:rPr dirty="0"/>
              <a:t> je </a:t>
            </a:r>
            <a:r>
              <a:rPr dirty="0" err="1"/>
              <a:t>rezervacija</a:t>
            </a:r>
            <a:r>
              <a:rPr dirty="0"/>
              <a:t> parking </a:t>
            </a:r>
            <a:r>
              <a:rPr dirty="0" err="1"/>
              <a:t>mjesta</a:t>
            </a:r>
            <a:r>
              <a:rPr dirty="0"/>
              <a:t> </a:t>
            </a:r>
            <a:r>
              <a:rPr dirty="0" err="1"/>
              <a:t>unaprijed</a:t>
            </a:r>
            <a:r>
              <a:rPr dirty="0"/>
              <a:t> </a:t>
            </a:r>
            <a:r>
              <a:rPr dirty="0" err="1"/>
              <a:t>ili</a:t>
            </a:r>
            <a:r>
              <a:rPr dirty="0"/>
              <a:t> u </a:t>
            </a:r>
            <a:r>
              <a:rPr dirty="0" err="1"/>
              <a:t>realnom</a:t>
            </a:r>
            <a:r>
              <a:rPr dirty="0"/>
              <a:t> </a:t>
            </a:r>
            <a:r>
              <a:rPr dirty="0" err="1"/>
              <a:t>vremenu</a:t>
            </a:r>
            <a:r>
              <a:rPr dirty="0"/>
              <a:t> </a:t>
            </a:r>
            <a:r>
              <a:rPr dirty="0" err="1"/>
              <a:t>putem</a:t>
            </a:r>
            <a:r>
              <a:rPr dirty="0"/>
              <a:t> </a:t>
            </a:r>
            <a:r>
              <a:rPr dirty="0" err="1"/>
              <a:t>jednostavnog</a:t>
            </a:r>
            <a:r>
              <a:rPr dirty="0"/>
              <a:t> </a:t>
            </a:r>
            <a:r>
              <a:rPr dirty="0" err="1"/>
              <a:t>sučelja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Maksimalna</a:t>
            </a:r>
            <a:r>
              <a:rPr lang="en-US" b="1" dirty="0"/>
              <a:t> </a:t>
            </a:r>
            <a:r>
              <a:rPr lang="en-US" b="1" dirty="0" err="1"/>
              <a:t>iskorištenost</a:t>
            </a:r>
            <a:r>
              <a:rPr lang="en-US" b="1" dirty="0"/>
              <a:t> </a:t>
            </a:r>
            <a:r>
              <a:rPr lang="en-US" b="1" dirty="0" err="1"/>
              <a:t>prostora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Platforma</a:t>
            </a:r>
            <a:r>
              <a:rPr dirty="0"/>
              <a:t> </a:t>
            </a:r>
            <a:r>
              <a:rPr dirty="0" err="1"/>
              <a:t>pomaže</a:t>
            </a:r>
            <a:r>
              <a:rPr dirty="0"/>
              <a:t> u </a:t>
            </a:r>
            <a:r>
              <a:rPr dirty="0" err="1"/>
              <a:t>maksimalnom</a:t>
            </a:r>
            <a:r>
              <a:rPr dirty="0"/>
              <a:t> </a:t>
            </a:r>
            <a:r>
              <a:rPr dirty="0" err="1"/>
              <a:t>iskorištenju</a:t>
            </a:r>
            <a:r>
              <a:rPr dirty="0"/>
              <a:t> </a:t>
            </a:r>
            <a:r>
              <a:rPr dirty="0" err="1"/>
              <a:t>slobodnih</a:t>
            </a:r>
            <a:r>
              <a:rPr dirty="0"/>
              <a:t> parking </a:t>
            </a:r>
            <a:r>
              <a:rPr dirty="0" err="1"/>
              <a:t>mjesta</a:t>
            </a:r>
            <a:r>
              <a:rPr dirty="0"/>
              <a:t>, </a:t>
            </a:r>
            <a:r>
              <a:rPr dirty="0" err="1"/>
              <a:t>smanjujući</a:t>
            </a:r>
            <a:r>
              <a:rPr dirty="0"/>
              <a:t> </a:t>
            </a:r>
            <a:r>
              <a:rPr dirty="0" err="1"/>
              <a:t>prometne</a:t>
            </a:r>
            <a:r>
              <a:rPr dirty="0"/>
              <a:t> </a:t>
            </a:r>
            <a:r>
              <a:rPr dirty="0" err="1"/>
              <a:t>gužve</a:t>
            </a:r>
            <a:r>
              <a:rPr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090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B4C0F1-A5DD-3EA5-323A-7E63A884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rmAutofit/>
          </a:bodyPr>
          <a:lstStyle/>
          <a:p>
            <a:r>
              <a:rPr lang="en-US" sz="2200"/>
              <a:t>Tržište i potencijal: Fokus na Novi Sad, ciljni korisnici (studenti, zaposleni, turisti), planovi za širenje</a:t>
            </a:r>
          </a:p>
        </p:txBody>
      </p:sp>
      <p:pic>
        <p:nvPicPr>
          <p:cNvPr id="5" name="Čuvar mesta za sadržaj 4" descr="Pogled iz visokog kuta na prometni pješački prijelaz u središtu Edinburgha u Škotskoj.">
            <a:extLst>
              <a:ext uri="{FF2B5EF4-FFF2-40B4-BE49-F238E27FC236}">
                <a16:creationId xmlns:a16="http://schemas.microsoft.com/office/drawing/2014/main" id="{80B7B1DD-64D2-4B07-8B11-D7A9EBF192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867" r="11969" b="1"/>
          <a:stretch>
            <a:fillRect/>
          </a:stretch>
        </p:blipFill>
        <p:spPr>
          <a:xfrm>
            <a:off x="20" y="10"/>
            <a:ext cx="7584124" cy="685799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30956A60-D771-7479-C588-ADCDA8ABD1B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212791" y="2880360"/>
            <a:ext cx="3363259" cy="327461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Fokus na Novi Sad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t>Novi Sad je početna ciljna lokacija zbog svoje urbane dinamike i raznolikih korisničkih skupina.</a:t>
            </a:r>
            <a:endParaRPr lang="en-US"/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Ciljne skupine korisnika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t>Studenti, zaposleni i turisti predstavljaju glavne korisničke skupine za prilagođene usluge i ponude.</a:t>
            </a:r>
            <a:endParaRPr lang="en-US"/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Planovi za širenje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t>Platforma će se proširiti na druge urbane sredine, prilagođavajući se lokalnim potrebama i trendovima.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32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C7405F-BB29-B70E-59F9-4CE6E7DE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rmAutofit/>
          </a:bodyPr>
          <a:lstStyle/>
          <a:p>
            <a:r>
              <a:rPr lang="en-US" sz="2600" dirty="0" err="1"/>
              <a:t>Biznis</a:t>
            </a:r>
            <a:r>
              <a:rPr lang="en-US" sz="2600" dirty="0"/>
              <a:t> model: </a:t>
            </a:r>
            <a:r>
              <a:rPr lang="en-US" sz="2600" dirty="0" err="1"/>
              <a:t>Prihodi</a:t>
            </a:r>
            <a:r>
              <a:rPr lang="en-US" sz="2600" dirty="0"/>
              <a:t> od </a:t>
            </a:r>
            <a:r>
              <a:rPr lang="en-US" sz="2600" dirty="0" err="1"/>
              <a:t>provizije</a:t>
            </a:r>
            <a:r>
              <a:rPr lang="en-US" sz="2600" dirty="0"/>
              <a:t>, premium </a:t>
            </a:r>
            <a:r>
              <a:rPr lang="en-US" sz="2600" dirty="0" err="1"/>
              <a:t>opcije</a:t>
            </a:r>
            <a:r>
              <a:rPr lang="en-US" sz="2600" dirty="0"/>
              <a:t>, </a:t>
            </a:r>
            <a:r>
              <a:rPr lang="en-US" sz="2600" dirty="0" err="1"/>
              <a:t>dodatne</a:t>
            </a:r>
            <a:r>
              <a:rPr lang="en-US" sz="2600" dirty="0"/>
              <a:t> </a:t>
            </a:r>
            <a:r>
              <a:rPr lang="en-US" sz="2600" dirty="0" err="1"/>
              <a:t>pogodnosti</a:t>
            </a:r>
            <a:r>
              <a:rPr lang="en-US" sz="2600" dirty="0"/>
              <a:t> za </a:t>
            </a:r>
            <a:r>
              <a:rPr lang="en-US" sz="2600" dirty="0" err="1"/>
              <a:t>vlasnike</a:t>
            </a:r>
            <a:endParaRPr lang="en-US" sz="2600" dirty="0"/>
          </a:p>
        </p:txBody>
      </p:sp>
      <p:pic>
        <p:nvPicPr>
          <p:cNvPr id="5" name="Čuvar mesta za sadržaj 4" descr="Digitalni rad pametnog mobilnog telefona s vezama s društvenim mrežama">
            <a:extLst>
              <a:ext uri="{FF2B5EF4-FFF2-40B4-BE49-F238E27FC236}">
                <a16:creationId xmlns:a16="http://schemas.microsoft.com/office/drawing/2014/main" id="{F9127E40-4139-444F-8903-53627295BB6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8016" r="19784" b="-1"/>
          <a:stretch>
            <a:fillRect/>
          </a:stretch>
        </p:blipFill>
        <p:spPr>
          <a:xfrm>
            <a:off x="1" y="10"/>
            <a:ext cx="6390464" cy="6857990"/>
          </a:xfrm>
          <a:prstGeom prst="rect">
            <a:avLst/>
          </a:prstGeom>
          <a:noFill/>
        </p:spPr>
      </p:pic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5C180251-D8C8-5542-7C25-F49FF511DDD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20736" y="2286000"/>
            <a:ext cx="4561665" cy="38862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Prihodi</a:t>
            </a:r>
            <a:r>
              <a:rPr lang="en-US" b="1" dirty="0"/>
              <a:t> od </a:t>
            </a:r>
            <a:r>
              <a:rPr lang="en-US" b="1" dirty="0" err="1"/>
              <a:t>provizije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Platforma</a:t>
            </a:r>
            <a:r>
              <a:rPr dirty="0"/>
              <a:t> </a:t>
            </a:r>
            <a:r>
              <a:rPr dirty="0" err="1"/>
              <a:t>zarađuje</a:t>
            </a:r>
            <a:r>
              <a:rPr dirty="0"/>
              <a:t> </a:t>
            </a:r>
            <a:r>
              <a:rPr dirty="0" err="1"/>
              <a:t>proviziju</a:t>
            </a:r>
            <a:r>
              <a:rPr dirty="0"/>
              <a:t> od </a:t>
            </a:r>
            <a:r>
              <a:rPr dirty="0" err="1"/>
              <a:t>svake</a:t>
            </a:r>
            <a:r>
              <a:rPr dirty="0"/>
              <a:t> </a:t>
            </a:r>
            <a:r>
              <a:rPr dirty="0" err="1"/>
              <a:t>transakcije</a:t>
            </a:r>
            <a:r>
              <a:rPr dirty="0"/>
              <a:t>, </a:t>
            </a:r>
            <a:r>
              <a:rPr dirty="0" err="1"/>
              <a:t>osiguravajući</a:t>
            </a:r>
            <a:r>
              <a:rPr dirty="0"/>
              <a:t> </a:t>
            </a:r>
            <a:r>
              <a:rPr dirty="0" err="1"/>
              <a:t>stalan</a:t>
            </a:r>
            <a:r>
              <a:rPr dirty="0"/>
              <a:t> </a:t>
            </a:r>
            <a:r>
              <a:rPr dirty="0" err="1"/>
              <a:t>prihod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održivost</a:t>
            </a:r>
            <a:r>
              <a:rPr dirty="0"/>
              <a:t> </a:t>
            </a:r>
            <a:r>
              <a:rPr dirty="0" err="1"/>
              <a:t>poslovanja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Premium </a:t>
            </a:r>
            <a:r>
              <a:rPr lang="en-US" b="1" dirty="0" err="1"/>
              <a:t>opcije</a:t>
            </a:r>
            <a:r>
              <a:rPr lang="en-US" b="1" dirty="0"/>
              <a:t> </a:t>
            </a:r>
            <a:r>
              <a:rPr lang="en-US" b="1" dirty="0" err="1"/>
              <a:t>usluge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Nude se premium </a:t>
            </a:r>
            <a:r>
              <a:rPr dirty="0" err="1"/>
              <a:t>usluge</a:t>
            </a:r>
            <a:r>
              <a:rPr dirty="0"/>
              <a:t> </a:t>
            </a:r>
            <a:r>
              <a:rPr dirty="0" err="1"/>
              <a:t>poput</a:t>
            </a:r>
            <a:r>
              <a:rPr dirty="0"/>
              <a:t> </a:t>
            </a:r>
            <a:r>
              <a:rPr dirty="0" err="1"/>
              <a:t>rezervacije</a:t>
            </a:r>
            <a:r>
              <a:rPr lang="en-US" dirty="0"/>
              <a:t> </a:t>
            </a:r>
            <a:r>
              <a:rPr lang="en-US" dirty="0" err="1"/>
              <a:t>unaprijed</a:t>
            </a:r>
            <a:r>
              <a:rPr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zahtjev</a:t>
            </a:r>
            <a:r>
              <a:rPr dirty="0"/>
              <a:t> za </a:t>
            </a:r>
            <a:r>
              <a:rPr dirty="0" err="1"/>
              <a:t>dodatnu</a:t>
            </a:r>
            <a:r>
              <a:rPr dirty="0"/>
              <a:t> </a:t>
            </a:r>
            <a:r>
              <a:rPr dirty="0" err="1"/>
              <a:t>pogodnost</a:t>
            </a:r>
            <a:r>
              <a:rPr dirty="0"/>
              <a:t> </a:t>
            </a:r>
            <a:r>
              <a:rPr dirty="0" err="1"/>
              <a:t>korisnicima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Pogodnosti</a:t>
            </a:r>
            <a:r>
              <a:rPr lang="en-US" b="1" dirty="0"/>
              <a:t> za </a:t>
            </a:r>
            <a:r>
              <a:rPr lang="en-US" b="1" dirty="0" err="1"/>
              <a:t>vlasnike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Dodatne</a:t>
            </a:r>
            <a:r>
              <a:rPr dirty="0"/>
              <a:t> </a:t>
            </a:r>
            <a:r>
              <a:rPr lang="en-US" dirty="0" err="1"/>
              <a:t>beneficije</a:t>
            </a:r>
            <a:r>
              <a:rPr dirty="0"/>
              <a:t> za </a:t>
            </a:r>
            <a:r>
              <a:rPr dirty="0" err="1"/>
              <a:t>vlasnike</a:t>
            </a:r>
            <a:r>
              <a:rPr dirty="0"/>
              <a:t> </a:t>
            </a:r>
            <a:r>
              <a:rPr dirty="0" err="1"/>
              <a:t>parkirnih</a:t>
            </a:r>
            <a:r>
              <a:rPr dirty="0"/>
              <a:t> </a:t>
            </a:r>
            <a:r>
              <a:rPr dirty="0" err="1"/>
              <a:t>mjesta</a:t>
            </a:r>
            <a:r>
              <a:rPr dirty="0"/>
              <a:t> </a:t>
            </a:r>
            <a:r>
              <a:rPr dirty="0" err="1"/>
              <a:t>potiču</a:t>
            </a:r>
            <a:r>
              <a:rPr dirty="0"/>
              <a:t> </a:t>
            </a:r>
            <a:r>
              <a:rPr dirty="0" err="1"/>
              <a:t>dugoročnu</a:t>
            </a:r>
            <a:r>
              <a:rPr dirty="0"/>
              <a:t> </a:t>
            </a:r>
            <a:r>
              <a:rPr dirty="0" err="1"/>
              <a:t>suradnju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kvalitetu</a:t>
            </a:r>
            <a:r>
              <a:rPr dirty="0"/>
              <a:t> </a:t>
            </a:r>
            <a:r>
              <a:rPr dirty="0" err="1"/>
              <a:t>usluge</a:t>
            </a:r>
            <a:r>
              <a:rPr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805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A4C6463-70D6-9179-9306-998904A4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rmAutofit/>
          </a:bodyPr>
          <a:lstStyle/>
          <a:p>
            <a:r>
              <a:rPr lang="en-US" sz="2600"/>
              <a:t>Tim i resursi: Programeri, marketing, korisnička podrška, širenje tima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BF8D31FC-B87C-1C1C-230F-840EF13DEADE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1965960"/>
            <a:ext cx="6858000" cy="420019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Iskusni</a:t>
            </a:r>
            <a:r>
              <a:rPr lang="en-US" b="1" dirty="0"/>
              <a:t> </a:t>
            </a:r>
            <a:r>
              <a:rPr lang="en-US" b="1" dirty="0" err="1"/>
              <a:t>programeri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Tim </a:t>
            </a:r>
            <a:r>
              <a:rPr dirty="0" err="1"/>
              <a:t>uključuje</a:t>
            </a:r>
            <a:r>
              <a:rPr dirty="0"/>
              <a:t> </a:t>
            </a:r>
            <a:r>
              <a:rPr dirty="0" err="1"/>
              <a:t>stručne</a:t>
            </a:r>
            <a:r>
              <a:rPr dirty="0"/>
              <a:t> </a:t>
            </a:r>
            <a:r>
              <a:rPr dirty="0" err="1"/>
              <a:t>programere</a:t>
            </a:r>
            <a:r>
              <a:rPr dirty="0"/>
              <a:t> koji </a:t>
            </a:r>
            <a:r>
              <a:rPr dirty="0" err="1"/>
              <a:t>razvijaju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održavaju</a:t>
            </a:r>
            <a:r>
              <a:rPr dirty="0"/>
              <a:t> </a:t>
            </a:r>
            <a:r>
              <a:rPr dirty="0" err="1"/>
              <a:t>tehnološku</a:t>
            </a:r>
            <a:r>
              <a:rPr dirty="0"/>
              <a:t> </a:t>
            </a:r>
            <a:r>
              <a:rPr dirty="0" err="1"/>
              <a:t>platformu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Stručnjaci</a:t>
            </a:r>
            <a:r>
              <a:rPr lang="en-US" b="1" dirty="0"/>
              <a:t> za marketing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/>
              <a:t>Marketing </a:t>
            </a:r>
            <a:r>
              <a:rPr dirty="0" err="1"/>
              <a:t>stručnjaci</a:t>
            </a:r>
            <a:r>
              <a:rPr dirty="0"/>
              <a:t> </a:t>
            </a:r>
            <a:r>
              <a:rPr dirty="0" err="1"/>
              <a:t>promoviraju</a:t>
            </a:r>
            <a:r>
              <a:rPr dirty="0"/>
              <a:t> </a:t>
            </a:r>
            <a:r>
              <a:rPr dirty="0" err="1"/>
              <a:t>platformu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povećavaju</a:t>
            </a:r>
            <a:r>
              <a:rPr dirty="0"/>
              <a:t> </a:t>
            </a:r>
            <a:r>
              <a:rPr dirty="0" err="1"/>
              <a:t>vidljivost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tržištu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Korisnička</a:t>
            </a:r>
            <a:r>
              <a:rPr lang="en-US" b="1" dirty="0"/>
              <a:t> </a:t>
            </a:r>
            <a:r>
              <a:rPr lang="en-US" b="1" dirty="0" err="1"/>
              <a:t>podrška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Korisnička</a:t>
            </a:r>
            <a:r>
              <a:rPr dirty="0"/>
              <a:t> </a:t>
            </a:r>
            <a:r>
              <a:rPr dirty="0" err="1"/>
              <a:t>služba</a:t>
            </a:r>
            <a:r>
              <a:rPr dirty="0"/>
              <a:t> </a:t>
            </a:r>
            <a:r>
              <a:rPr dirty="0" err="1"/>
              <a:t>osigurava</a:t>
            </a:r>
            <a:r>
              <a:rPr dirty="0"/>
              <a:t> </a:t>
            </a:r>
            <a:r>
              <a:rPr dirty="0" err="1"/>
              <a:t>pravovremenu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kvalitetnu</a:t>
            </a:r>
            <a:r>
              <a:rPr dirty="0"/>
              <a:t> </a:t>
            </a:r>
            <a:r>
              <a:rPr dirty="0" err="1"/>
              <a:t>pomoć</a:t>
            </a:r>
            <a:r>
              <a:rPr dirty="0"/>
              <a:t> </a:t>
            </a:r>
            <a:r>
              <a:rPr dirty="0" err="1"/>
              <a:t>korisnicima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/>
              <a:t>Širenje</a:t>
            </a:r>
            <a:r>
              <a:rPr lang="en-US" b="1" dirty="0"/>
              <a:t> </a:t>
            </a:r>
            <a:r>
              <a:rPr lang="en-US" b="1" dirty="0" err="1"/>
              <a:t>tima</a:t>
            </a:r>
            <a:endParaRPr lang="en-US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dirty="0" err="1"/>
              <a:t>Planirano</a:t>
            </a:r>
            <a:r>
              <a:rPr dirty="0"/>
              <a:t> je </a:t>
            </a:r>
            <a:r>
              <a:rPr dirty="0" err="1"/>
              <a:t>kontinuirano</a:t>
            </a:r>
            <a:r>
              <a:rPr dirty="0"/>
              <a:t> </a:t>
            </a:r>
            <a:r>
              <a:rPr dirty="0" err="1"/>
              <a:t>proširenje</a:t>
            </a:r>
            <a:r>
              <a:rPr dirty="0"/>
              <a:t> </a:t>
            </a:r>
            <a:r>
              <a:rPr dirty="0" err="1"/>
              <a:t>tima</a:t>
            </a:r>
            <a:r>
              <a:rPr dirty="0"/>
              <a:t> za </a:t>
            </a:r>
            <a:r>
              <a:rPr dirty="0" err="1"/>
              <a:t>podršku</a:t>
            </a:r>
            <a:r>
              <a:rPr dirty="0"/>
              <a:t> </a:t>
            </a:r>
            <a:r>
              <a:rPr dirty="0" err="1"/>
              <a:t>rastu</a:t>
            </a:r>
            <a:r>
              <a:rPr dirty="0"/>
              <a:t> </a:t>
            </a:r>
            <a:r>
              <a:rPr dirty="0" err="1"/>
              <a:t>platforme</a:t>
            </a:r>
            <a:r>
              <a:rPr dirty="0"/>
              <a:t>.</a:t>
            </a:r>
            <a:endParaRPr lang="en-US" dirty="0"/>
          </a:p>
        </p:txBody>
      </p:sp>
      <p:pic>
        <p:nvPicPr>
          <p:cNvPr id="5" name="Čuvar mesta za sadržaj 4" descr="Zaposlenici rade u kontakt centru. Za posao koriste računalo. Zanimanje asistenta i pozivnog centra.">
            <a:extLst>
              <a:ext uri="{FF2B5EF4-FFF2-40B4-BE49-F238E27FC236}">
                <a16:creationId xmlns:a16="http://schemas.microsoft.com/office/drawing/2014/main" id="{53A78303-9FEC-4D87-9FD0-27514B486D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9351" r="40740" b="-1"/>
          <a:stretch>
            <a:fillRect/>
          </a:stretch>
        </p:blipFill>
        <p:spPr>
          <a:xfrm>
            <a:off x="8091732" y="10"/>
            <a:ext cx="4100267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8328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D31F1C-5BBC-8DC6-2FC6-58AC1901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rmAutofit/>
          </a:bodyPr>
          <a:lstStyle/>
          <a:p>
            <a:r>
              <a:rPr lang="en-US" sz="2600"/>
              <a:t>Vizija: Vodeća regionalna platforma, smanjenje gužvi i emisije CO2, održiv urbani život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2D01DF1D-A57E-BC2B-D0BE-0A96B55A453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1965960"/>
            <a:ext cx="6858000" cy="420019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Vodeća platforma za dijeljenje parkinga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Cilj je razviti inovativnu platformu za dijeljenje privatnih parking mjesta unutar regije, olakšavajući pristup parkiranju.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Smanjenje prometnih gužvi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Dijeljenjem parkinga doprinosi se smanjenju prometnih gužvi i učinkovitijem prometnom prometu u urbanim područjima.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Smanjenje emisije CO2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Promicanjem dijeljenja parkinga smanjuje se emisija ugljičnog dioksida i zagađenje zraka u gradovima.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Održivi urbani život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Platforma podržava održiv i pametan urbani život smanjenjem zagađenja i povećanjem učinkovitosti korištenja prostora.</a:t>
            </a:r>
            <a:endParaRPr lang="en-US"/>
          </a:p>
        </p:txBody>
      </p:sp>
      <p:pic>
        <p:nvPicPr>
          <p:cNvPr id="5" name="Čuvar mesta za sadržaj 4" descr="Pogled iz zraka na redove novih automobila">
            <a:extLst>
              <a:ext uri="{FF2B5EF4-FFF2-40B4-BE49-F238E27FC236}">
                <a16:creationId xmlns:a16="http://schemas.microsoft.com/office/drawing/2014/main" id="{5E73A072-C5FA-4A74-9463-1193332911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2925" r="28063" b="1"/>
          <a:stretch>
            <a:fillRect/>
          </a:stretch>
        </p:blipFill>
        <p:spPr>
          <a:xfrm>
            <a:off x="8091732" y="10"/>
            <a:ext cx="4100267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8612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4837AD3-9F16-CB6D-9805-DFF5DE95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rmAutofit/>
          </a:bodyPr>
          <a:lstStyle/>
          <a:p>
            <a:r>
              <a:rPr lang="en-US"/>
              <a:t>Zaključak</a:t>
            </a:r>
          </a:p>
        </p:txBody>
      </p:sp>
      <p:graphicFrame>
        <p:nvGraphicFramePr>
          <p:cNvPr id="7" name="Čuvar mesta za sadržaj 2">
            <a:extLst>
              <a:ext uri="{FF2B5EF4-FFF2-40B4-BE49-F238E27FC236}">
                <a16:creationId xmlns:a16="http://schemas.microsoft.com/office/drawing/2014/main" id="{D67EFCF8-00F3-4F36-E82B-319C4B04930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2017376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12775" y="3429000"/>
          <a:ext cx="10972800" cy="2743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70931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892</Words>
  <Application>Microsoft Office PowerPoint</Application>
  <PresentationFormat>Široki ekran</PresentationFormat>
  <Paragraphs>72</Paragraphs>
  <Slides>8</Slides>
  <Notes>8</Notes>
  <HiddenSlides>0</HiddenSlides>
  <MMClips>0</MMClips>
  <ScaleCrop>false</ScaleCrop>
  <HeadingPairs>
    <vt:vector size="6" baseType="variant">
      <vt:variant>
        <vt:lpstr>Korišćeni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2" baseType="lpstr">
      <vt:lpstr>Aptos</vt:lpstr>
      <vt:lpstr>Arial</vt:lpstr>
      <vt:lpstr>Bahnschrift SemiLight</vt:lpstr>
      <vt:lpstr>Blockwork elegance</vt:lpstr>
      <vt:lpstr>PowerPoint prezentacija</vt:lpstr>
      <vt:lpstr>Problem: Nedostatak parking mjesta, gubitak vremena i novca, preopterećeni prostori, emisija CO2</vt:lpstr>
      <vt:lpstr>Rješenje: Web platforma za dijeljenje privatnih parking mjesta, povezivanje vlasnika i vozača, rezervacija unaprijed ili u realnom vremenu</vt:lpstr>
      <vt:lpstr>Tržište i potencijal: Fokus na Novi Sad, ciljni korisnici (studenti, zaposleni, turisti), planovi za širenje</vt:lpstr>
      <vt:lpstr>Biznis model: Prihodi od provizije, premium opcije, dodatne pogodnosti za vlasnike</vt:lpstr>
      <vt:lpstr>Tim i resursi: Programeri, marketing, korisnička podrška, širenje tima</vt:lpstr>
      <vt:lpstr>Vizija: Vodeća regionalna platforma, smanjenje gužvi i emisije CO2, održiv urbani život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4</cp:revision>
  <dcterms:created xsi:type="dcterms:W3CDTF">2025-09-16T14:45:39Z</dcterms:created>
  <dcterms:modified xsi:type="dcterms:W3CDTF">2025-09-16T16:01:49Z</dcterms:modified>
</cp:coreProperties>
</file>